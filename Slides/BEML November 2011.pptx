
<file path=[Content_Types].xml><?xml version="1.0" encoding="utf-8"?>
<Types xmlns="http://schemas.openxmlformats.org/package/2006/content-types">
  <Override PartName="/ppt/slides/slide30.xml" ContentType="application/vnd.openxmlformats-officedocument.presentationml.slide+xml"/>
  <Override PartName="/ppt/slides/slide88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24.xml" ContentType="application/vnd.openxmlformats-officedocument.presentationml.slide+xml"/>
  <Override PartName="/ppt/slides/slide72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66.xml" ContentType="application/vnd.openxmlformats-officedocument.presentationml.slide+xml"/>
  <Override PartName="/ppt/slides/slide50.xml" ContentType="application/vnd.openxmlformats-officedocument.presentationml.slide+xml"/>
  <Override PartName="/ppt/slides/slide112.xml" ContentType="application/vnd.openxmlformats-officedocument.presentationml.slide+xml"/>
  <Override PartName="/ppt/slideLayouts/slideLayout13.xml" ContentType="application/vnd.openxmlformats-officedocument.presentationml.slideLayout+xml"/>
  <Override PartName="/ppt/notesSlides/notesSlide89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86.xml" ContentType="application/vnd.openxmlformats-officedocument.presentationml.slide+xml"/>
  <Override PartName="/ppt/slides/slide22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64.xml" ContentType="application/vnd.openxmlformats-officedocument.presentationml.slide+xml"/>
  <Default Extension="xml" ContentType="application/xml"/>
  <Override PartName="/ppt/slides/slide11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7.xml" ContentType="application/vnd.openxmlformats-officedocument.presentationml.notesSlide+xml"/>
  <Override PartName="/ppt/notesSlides/notesSlide23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108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84.xml" ContentType="application/vnd.openxmlformats-officedocument.presentationml.slide+xml"/>
  <Override PartName="/ppt/slides/slide20.xml" ContentType="application/vnd.openxmlformats-officedocument.presentationml.slide+xml"/>
  <Override PartName="/ppt/notesSlides/notesSlide59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85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40.xml" ContentType="application/vnd.openxmlformats-officedocument.presentationml.slide+xml"/>
  <Override PartName="/ppt/slides/slide102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Default Extension="jpeg" ContentType="image/jpeg"/>
  <Override PartName="/ppt/notesSlides/notesSlide106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57.xml" ContentType="application/vnd.openxmlformats-officedocument.presentationml.notesSlide+xml"/>
  <Override PartName="/docProps/app.xml" ContentType="application/vnd.openxmlformats-officedocument.extended-properties+xml"/>
  <Override PartName="/ppt/slides/slide109.xml" ContentType="application/vnd.openxmlformats-officedocument.presentationml.slide+xml"/>
  <Override PartName="/ppt/slides/slide60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99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35.xml" ContentType="application/vnd.openxmlformats-officedocument.presentationml.notesSlide+xml"/>
  <Override PartName="/ppt/notesSlides/notesSlide83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77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notesSlides/notesSlide104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9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s/slide39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94.xml" ContentType="application/vnd.openxmlformats-officedocument.presentationml.slide+xml"/>
  <Override PartName="/ppt/slides/slide5.xml" ContentType="application/vnd.openxmlformats-officedocument.presentationml.slide+xml"/>
  <Override PartName="/ppt/slides/slide17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95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7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79.xml" ContentType="application/vnd.openxmlformats-officedocument.presentationml.slide+xml"/>
  <Override PartName="/ppt/slides/slide92.xml" ContentType="application/vnd.openxmlformats-officedocument.presentationml.slide+xml"/>
  <Override PartName="/ppt/notesSlides/notesSlide7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notesSlides/notesSlide100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57.xml" ContentType="application/vnd.openxmlformats-officedocument.presentationml.slide+xml"/>
  <Override PartName="/ppt/slides/slide70.xml" ContentType="application/vnd.openxmlformats-officedocument.presentationml.slide+xml"/>
  <Override PartName="/ppt/notesSlides/notesSlide5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3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77.xml" ContentType="application/vnd.openxmlformats-officedocument.presentationml.slide+xml"/>
  <Override PartName="/ppt/slides/slide90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117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55.xml" ContentType="application/vnd.openxmlformats-officedocument.presentationml.slide+xml"/>
  <Override PartName="/ppt/slides/slide49.xml" ContentType="application/vnd.openxmlformats-officedocument.presentationml.slide+xml"/>
  <Override PartName="/ppt/slides/slide97.xml" ContentType="application/vnd.openxmlformats-officedocument.presentationml.slide+xml"/>
  <Override PartName="/ppt/notesSlides/notesSlide9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33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75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s/slide69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15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47.xml" ContentType="application/vnd.openxmlformats-officedocument.presentationml.slide+xml"/>
  <Override PartName="/ppt/theme/theme1.xml" ContentType="application/vnd.openxmlformats-officedocument.theme+xml"/>
  <Override PartName="/ppt/notesSlides/notesSlide12.xml" ContentType="application/vnd.openxmlformats-officedocument.presentationml.notesSlide+xml"/>
  <Override PartName="/ppt/slides/slide31.xml" ContentType="application/vnd.openxmlformats-officedocument.presentationml.slide+xml"/>
  <Override PartName="/ppt/slides/slide89.xml" ContentType="application/vnd.openxmlformats-officedocument.presentationml.slide+xml"/>
  <Override PartName="/ppt/slides/slide25.xml" ContentType="application/vnd.openxmlformats-officedocument.presentationml.slide+xml"/>
  <Override PartName="/ppt/slides/slide73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67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51.xml" ContentType="application/vnd.openxmlformats-officedocument.presentationml.slide+xml"/>
  <Override PartName="/ppt/slides/slide113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87.xml" ContentType="application/vnd.openxmlformats-officedocument.presentationml.slide+xml"/>
  <Override PartName="/ppt/slides/slide23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65.xml" ContentType="application/vnd.openxmlformats-officedocument.presentationml.slide+xml"/>
  <Override PartName="/ppt/slides/slide1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88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85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86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41.xml" ContentType="application/vnd.openxmlformats-officedocument.presentationml.slide+xml"/>
  <Override PartName="/ppt/slides/slide103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07.xml" ContentType="application/vnd.openxmlformats-officedocument.presentationml.notesSlide+xml"/>
  <Override PartName="/ppt/notesSlides/notesSlide64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58.xml" ContentType="application/vnd.openxmlformats-officedocument.presentationml.notesSlide+xml"/>
  <Override PartName="/ppt/notesSlides/notesSlide42.xml" ContentType="application/vnd.openxmlformats-officedocument.presentationml.notesSlide+xml"/>
  <Override PartName="/ppt/slides/slide61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8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5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56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98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34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notesSlides/notesSlide10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9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8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80.xml" ContentType="application/vnd.openxmlformats-officedocument.presentationml.notesSlide+xml"/>
  <Default Extension="bin" ContentType="application/vnd.openxmlformats-officedocument.presentationml.printerSettings"/>
  <Override PartName="/ppt/notesSlides/notesSlide7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3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58.xml" ContentType="application/vnd.openxmlformats-officedocument.presentationml.slide+xml"/>
  <Override PartName="/ppt/slides/slide71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36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78.xml" ContentType="application/vnd.openxmlformats-officedocument.presentationml.slide+xml"/>
  <Override PartName="/ppt/slides/slide91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56.xml" ContentType="application/vnd.openxmlformats-officedocument.presentationml.slide+xml"/>
  <Override PartName="/ppt/slides/slide118.xml" ContentType="application/vnd.openxmlformats-officedocument.presentationml.slide+xml"/>
  <Override PartName="/ppt/notesSlides/notesSlide50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s/slide98.xml" ContentType="application/vnd.openxmlformats-officedocument.presentationml.slide+xml"/>
  <Override PartName="/ppt/notesSlides/notesSlide92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34.xml" ContentType="application/vnd.openxmlformats-officedocument.presentationml.slide+xml"/>
  <Override PartName="/ppt/slides/slide28.xml" ContentType="application/vnd.openxmlformats-officedocument.presentationml.slide+xml"/>
  <Override PartName="/ppt/slides/slide76.xml" ContentType="application/vnd.openxmlformats-officedocument.presentationml.slide+xml"/>
  <Override PartName="/ppt/notesSlides/notesSlide70.xml" ContentType="application/vnd.openxmlformats-officedocument.presentationml.notesSlide+xml"/>
  <Default Extension="png" ContentType="image/png"/>
  <Override PartName="/ppt/slides/slide12.xml" ContentType="application/vnd.openxmlformats-officedocument.presentationml.slide+xml"/>
  <Override PartName="/ppt/slides/slide54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16.xml" ContentType="application/vnd.openxmlformats-officedocument.presentationml.slide+xml"/>
  <Default Extension="rels" ContentType="application/vnd.openxmlformats-package.relationships+xml"/>
  <Override PartName="/ppt/notesSlides/notesSlide29.xml" ContentType="application/vnd.openxmlformats-officedocument.presentationml.notesSlide+xml"/>
  <Override PartName="/ppt/slides/slide48.xml" ContentType="application/vnd.openxmlformats-officedocument.presentationml.slide+xml"/>
  <Override PartName="/ppt/slides/slide96.xml" ContentType="application/vnd.openxmlformats-officedocument.presentationml.slide+xml"/>
  <Override PartName="/ppt/theme/theme2.xml" ContentType="application/vnd.openxmlformats-officedocument.theme+xml"/>
  <Override PartName="/ppt/notesSlides/notesSlide90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32.xml" ContentType="application/vnd.openxmlformats-officedocument.presentationml.slide+xml"/>
  <Override PartName="/ppt/slides/slide26.xml" ContentType="application/vnd.openxmlformats-officedocument.presentationml.slide+xml"/>
  <Override PartName="/ppt/slides/slide74.xml" ContentType="application/vnd.openxmlformats-officedocument.presentationml.slide+xml"/>
  <Override PartName="/ppt/slides/slide10.xml" ContentType="application/vnd.openxmlformats-officedocument.presentationml.slide+xml"/>
  <Override PartName="/ppt/slides/slide68.xml" ContentType="application/vnd.openxmlformats-officedocument.presentationml.slide+xml"/>
  <Override PartName="/ppt/notesSlides/notesSlide49.xml" ContentType="application/vnd.openxmlformats-officedocument.presentationml.notesSlide+xml"/>
  <Override PartName="/ppt/slideLayouts/slideLayout21.xml" ContentType="application/vnd.openxmlformats-officedocument.presentationml.slideLayout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14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notesMasterIdLst>
    <p:notesMasterId r:id="rId1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9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32" r:id="rId63"/>
    <p:sldId id="333" r:id="rId64"/>
    <p:sldId id="334" r:id="rId65"/>
    <p:sldId id="335" r:id="rId66"/>
    <p:sldId id="336" r:id="rId67"/>
    <p:sldId id="338" r:id="rId68"/>
    <p:sldId id="339" r:id="rId69"/>
    <p:sldId id="340" r:id="rId70"/>
    <p:sldId id="341" r:id="rId71"/>
    <p:sldId id="342" r:id="rId72"/>
    <p:sldId id="343" r:id="rId73"/>
    <p:sldId id="394" r:id="rId74"/>
    <p:sldId id="396" r:id="rId75"/>
    <p:sldId id="395" r:id="rId76"/>
    <p:sldId id="344" r:id="rId77"/>
    <p:sldId id="345" r:id="rId78"/>
    <p:sldId id="346" r:id="rId79"/>
    <p:sldId id="347" r:id="rId80"/>
    <p:sldId id="350" r:id="rId81"/>
    <p:sldId id="351" r:id="rId82"/>
    <p:sldId id="354" r:id="rId83"/>
    <p:sldId id="355" r:id="rId84"/>
    <p:sldId id="356" r:id="rId85"/>
    <p:sldId id="357" r:id="rId86"/>
    <p:sldId id="358" r:id="rId87"/>
    <p:sldId id="359" r:id="rId88"/>
    <p:sldId id="360" r:id="rId89"/>
    <p:sldId id="361" r:id="rId90"/>
    <p:sldId id="362" r:id="rId91"/>
    <p:sldId id="363" r:id="rId92"/>
    <p:sldId id="364" r:id="rId93"/>
    <p:sldId id="365" r:id="rId94"/>
    <p:sldId id="366" r:id="rId95"/>
    <p:sldId id="367" r:id="rId96"/>
    <p:sldId id="368" r:id="rId97"/>
    <p:sldId id="369" r:id="rId98"/>
    <p:sldId id="372" r:id="rId99"/>
    <p:sldId id="374" r:id="rId100"/>
    <p:sldId id="375" r:id="rId101"/>
    <p:sldId id="376" r:id="rId102"/>
    <p:sldId id="377" r:id="rId103"/>
    <p:sldId id="378" r:id="rId104"/>
    <p:sldId id="379" r:id="rId105"/>
    <p:sldId id="380" r:id="rId106"/>
    <p:sldId id="381" r:id="rId107"/>
    <p:sldId id="382" r:id="rId108"/>
    <p:sldId id="383" r:id="rId109"/>
    <p:sldId id="384" r:id="rId110"/>
    <p:sldId id="385" r:id="rId111"/>
    <p:sldId id="386" r:id="rId112"/>
    <p:sldId id="387" r:id="rId113"/>
    <p:sldId id="388" r:id="rId114"/>
    <p:sldId id="389" r:id="rId115"/>
    <p:sldId id="390" r:id="rId116"/>
    <p:sldId id="391" r:id="rId117"/>
    <p:sldId id="392" r:id="rId118"/>
    <p:sldId id="393" r:id="rId1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>
          <a:srgbClr val="FF0000"/>
        </p14:laserClr>
      </p:ext>
      <p:ext uri="{2FDB2607-1784-4EEB-B798-7EB5836EED8A}">
        <p14:showMediaCtrls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"/>
      </p:ext>
    </p:extLst>
  </p:showPr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-180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20" Type="http://schemas.openxmlformats.org/officeDocument/2006/relationships/notesMaster" Target="notesMasters/notesMaster1.xml"/><Relationship Id="rId121" Type="http://schemas.openxmlformats.org/officeDocument/2006/relationships/printerSettings" Target="printerSettings/printerSettings1.bin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00" Type="http://schemas.openxmlformats.org/officeDocument/2006/relationships/slide" Target="slides/slide99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ED5C9-3524-2C4B-9B55-3050F23B1381}" type="datetimeFigureOut">
              <a:rPr lang="en-US" smtClean="0"/>
              <a:pPr/>
              <a:t>11/14/11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83D46-FC0D-AD4F-9B7A-D74FF8E329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64337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5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DD3BF17-3550-FC4F-A77C-B5E88EA44485}" type="slidenum">
              <a:rPr lang="en-US" sz="1200"/>
              <a:pPr algn="r" defTabSz="905475"/>
              <a:t>1</a:t>
            </a:fld>
            <a:endParaRPr lang="en-US" sz="1200" dirty="0"/>
          </a:p>
        </p:txBody>
      </p:sp>
      <p:sp>
        <p:nvSpPr>
          <p:cNvPr id="1230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30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94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269134D-93AE-A649-92D6-45D0929BD670}" type="slidenum">
              <a:rPr lang="en-US" sz="1200"/>
              <a:pPr algn="r" defTabSz="905475"/>
              <a:t>3</a:t>
            </a:fld>
            <a:endParaRPr lang="en-US" sz="1200" dirty="0"/>
          </a:p>
        </p:txBody>
      </p:sp>
      <p:sp>
        <p:nvSpPr>
          <p:cNvPr id="1234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34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8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1B0BCA0-D0AD-A24A-85B6-B7BCAE1E37C7}" type="slidenum">
              <a:rPr lang="en-US" sz="1200"/>
              <a:pPr algn="r" defTabSz="905475"/>
              <a:t>5</a:t>
            </a:fld>
            <a:endParaRPr lang="en-US" sz="1200" dirty="0"/>
          </a:p>
        </p:txBody>
      </p:sp>
      <p:sp>
        <p:nvSpPr>
          <p:cNvPr id="1249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492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43AD92-B61A-E34A-AF0A-7E504DFD939E}" type="slidenum">
              <a:rPr lang="en-US"/>
              <a:pPr/>
              <a:t>6</a:t>
            </a:fld>
            <a:endParaRPr lang="en-US"/>
          </a:p>
        </p:txBody>
      </p:sp>
      <p:sp>
        <p:nvSpPr>
          <p:cNvPr id="345091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0D7423D9-0ACA-CB44-8A7E-E738F5999900}" type="slidenum">
              <a:rPr lang="en-US" sz="1200">
                <a:ea typeface="ＭＳ Ｐゴシック" charset="-128"/>
                <a:cs typeface="ＭＳ Ｐゴシック" charset="-128"/>
              </a:rPr>
              <a:pPr algn="r" defTabSz="905475"/>
              <a:t>6</a:t>
            </a:fld>
            <a:endParaRPr lang="en-US" sz="1200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34509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EA6E726-571A-0F42-92EA-99A9003E40EA}" type="slidenum">
              <a:rPr lang="en-US" sz="1200">
                <a:ea typeface="ＭＳ Ｐゴシック" charset="-128"/>
                <a:cs typeface="ＭＳ Ｐゴシック" charset="-128"/>
              </a:rPr>
              <a:pPr algn="r" defTabSz="905475"/>
              <a:t>6</a:t>
            </a:fld>
            <a:endParaRPr lang="en-US" sz="1200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345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345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How abut we have a box that shows where BEML gets added in this…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57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333720C-14ED-7742-BC97-D0862B1B4C36}" type="slidenum">
              <a:rPr lang="en-US" sz="1200"/>
              <a:pPr algn="r" defTabSz="905475"/>
              <a:t>7</a:t>
            </a:fld>
            <a:endParaRPr lang="en-US" sz="1200" dirty="0"/>
          </a:p>
        </p:txBody>
      </p:sp>
      <p:sp>
        <p:nvSpPr>
          <p:cNvPr id="1261571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9724D065-9D6C-B541-B29F-788F5FC3E79D}" type="slidenum">
              <a:rPr lang="en-US" sz="1200"/>
              <a:pPr algn="r" defTabSz="905475"/>
              <a:t>7</a:t>
            </a:fld>
            <a:endParaRPr lang="en-US" sz="1200" dirty="0"/>
          </a:p>
        </p:txBody>
      </p:sp>
      <p:sp>
        <p:nvSpPr>
          <p:cNvPr id="12615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615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6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8095B758-DB72-7A46-8A2F-1AEFBF353ED4}" type="slidenum">
              <a:rPr lang="en-US" sz="1200"/>
              <a:pPr algn="r" defTabSz="905475"/>
              <a:t>8</a:t>
            </a:fld>
            <a:endParaRPr lang="en-US" sz="1200" dirty="0"/>
          </a:p>
        </p:txBody>
      </p:sp>
      <p:sp>
        <p:nvSpPr>
          <p:cNvPr id="1269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69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43AD92-B61A-E34A-AF0A-7E504DFD939E}" type="slidenum">
              <a:rPr lang="en-US"/>
              <a:pPr/>
              <a:t>9</a:t>
            </a:fld>
            <a:endParaRPr lang="en-US"/>
          </a:p>
        </p:txBody>
      </p:sp>
      <p:sp>
        <p:nvSpPr>
          <p:cNvPr id="345091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0D7423D9-0ACA-CB44-8A7E-E738F5999900}" type="slidenum">
              <a:rPr lang="en-US" sz="1200">
                <a:ea typeface="ＭＳ Ｐゴシック" charset="-128"/>
                <a:cs typeface="ＭＳ Ｐゴシック" charset="-128"/>
              </a:rPr>
              <a:pPr algn="r" defTabSz="905475"/>
              <a:t>9</a:t>
            </a:fld>
            <a:endParaRPr lang="en-US" sz="1200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34509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EA6E726-571A-0F42-92EA-99A9003E40EA}" type="slidenum">
              <a:rPr lang="en-US" sz="1200">
                <a:ea typeface="ＭＳ Ｐゴシック" charset="-128"/>
                <a:cs typeface="ＭＳ Ｐゴシック" charset="-128"/>
              </a:rPr>
              <a:pPr algn="r" defTabSz="905475"/>
              <a:t>9</a:t>
            </a:fld>
            <a:endParaRPr lang="en-US" sz="1200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345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345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How abut we have a box that shows where BEML gets added in this…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0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In case you get stuck…here are your help resources….</a:t>
            </a:r>
          </a:p>
          <a:p>
            <a:endParaRPr lang="en-US" dirty="0"/>
          </a:p>
          <a:p>
            <a:r>
              <a:rPr lang="en-US" dirty="0"/>
              <a:t>If you use any type of XML editor I highly recommend downloading the DTD to do validation.</a:t>
            </a:r>
          </a:p>
          <a:p>
            <a:r>
              <a:rPr lang="en-US" sz="1000" dirty="0"/>
              <a:t>The XML used in a player template is defined by the Document Type Definition (DTD)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3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4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way to get started is to start with an existing template. </a:t>
            </a:r>
          </a:p>
          <a:p>
            <a:r>
              <a:rPr lang="en-US"/>
              <a:t>The out of the box video player component, hit duplicate at the bottom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EF95149D-34FC-A140-B7D3-2529BE4D02C8}" type="slidenum">
              <a:rPr lang="en-US" sz="1200"/>
              <a:pPr algn="r" defTabSz="905475"/>
              <a:t>18</a:t>
            </a:fld>
            <a:endParaRPr lang="en-US" sz="1200" dirty="0"/>
          </a:p>
        </p:txBody>
      </p:sp>
      <p:sp>
        <p:nvSpPr>
          <p:cNvPr id="134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4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Break before this.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1C4DE366-D751-B248-813A-90A26212B22A}" type="slidenum">
              <a:rPr lang="en-US" sz="1200"/>
              <a:pPr algn="r" defTabSz="905475"/>
              <a:t>19</a:t>
            </a:fld>
            <a:endParaRPr lang="en-US" sz="1200" dirty="0"/>
          </a:p>
        </p:txBody>
      </p:sp>
      <p:sp>
        <p:nvSpPr>
          <p:cNvPr id="135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5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No need to drill down on all of these, the point is to let them know there are a bunch of components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A0C00672-128B-EB49-8B90-74EB405ED3FC}" type="slidenum">
              <a:rPr lang="en-US" sz="1200"/>
              <a:pPr algn="r" defTabSz="905475">
                <a:spcBef>
                  <a:spcPct val="0"/>
                </a:spcBef>
              </a:pPr>
              <a:t>20</a:t>
            </a:fld>
            <a:endParaRPr lang="en-US" sz="1200" dirty="0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AFBCF90B-595C-2C4F-8E1E-7DD613AFEA22}" type="slidenum">
              <a:rPr lang="en-US" sz="1200"/>
              <a:pPr algn="r" defTabSz="905475">
                <a:spcBef>
                  <a:spcPct val="0"/>
                </a:spcBef>
              </a:pPr>
              <a:t>21</a:t>
            </a:fld>
            <a:endParaRPr lang="en-US" sz="1200" dirty="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7A5440AE-7E69-2342-A898-009B5DA7251D}" type="slidenum">
              <a:rPr lang="en-US" sz="1200"/>
              <a:pPr algn="r" defTabSz="905475">
                <a:spcBef>
                  <a:spcPct val="0"/>
                </a:spcBef>
              </a:pPr>
              <a:t>22</a:t>
            </a:fld>
            <a:endParaRPr lang="en-US" sz="1200" dirty="0"/>
          </a:p>
        </p:txBody>
      </p:sp>
      <p:sp>
        <p:nvSpPr>
          <p:cNvPr id="215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840B0C75-41F0-4545-8EFA-6B10FAA90A73}" type="slidenum">
              <a:rPr lang="en-US" sz="1200"/>
              <a:pPr algn="r" defTabSz="905475">
                <a:spcBef>
                  <a:spcPct val="0"/>
                </a:spcBef>
              </a:pPr>
              <a:t>23</a:t>
            </a:fld>
            <a:endParaRPr lang="en-US" sz="1200" dirty="0"/>
          </a:p>
        </p:txBody>
      </p:sp>
      <p:sp>
        <p:nvSpPr>
          <p:cNvPr id="217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978F8621-D363-B24F-9C57-3D04FCCC24ED}" type="slidenum">
              <a:rPr lang="en-US" sz="1200"/>
              <a:pPr algn="r" defTabSz="905475">
                <a:spcBef>
                  <a:spcPct val="0"/>
                </a:spcBef>
              </a:pPr>
              <a:t>24</a:t>
            </a:fld>
            <a:endParaRPr lang="en-US" sz="1200" dirty="0"/>
          </a:p>
        </p:txBody>
      </p:sp>
      <p:sp>
        <p:nvSpPr>
          <p:cNvPr id="219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Clean up this slide…..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285A8CAF-F68D-5C4D-B603-39275A3F308C}" type="slidenum">
              <a:rPr lang="en-US" sz="1200"/>
              <a:pPr algn="r" defTabSz="905475">
                <a:spcBef>
                  <a:spcPct val="0"/>
                </a:spcBef>
              </a:pPr>
              <a:t>25</a:t>
            </a:fld>
            <a:endParaRPr lang="en-US" sz="1200" dirty="0"/>
          </a:p>
        </p:txBody>
      </p:sp>
      <p:sp>
        <p:nvSpPr>
          <p:cNvPr id="221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7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39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7BE0BC89-70DC-AA42-AA23-5D2044D0D4FD}" type="slidenum">
              <a:rPr lang="en-US" sz="1200"/>
              <a:pPr algn="r" defTabSz="905475">
                <a:spcBef>
                  <a:spcPct val="0"/>
                </a:spcBef>
              </a:pPr>
              <a:t>28</a:t>
            </a:fld>
            <a:endParaRPr lang="en-US" sz="1200" dirty="0"/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Note that he tabbar can hold up to 100 playlists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>
              <a:spcBef>
                <a:spcPct val="0"/>
              </a:spcBef>
            </a:pPr>
            <a:fld id="{3971F848-FA5D-C942-A892-41DB11F78A6D}" type="slidenum">
              <a:rPr lang="en-US" sz="1200"/>
              <a:pPr algn="r" defTabSz="905475">
                <a:spcBef>
                  <a:spcPct val="0"/>
                </a:spcBef>
              </a:pPr>
              <a:t>29</a:t>
            </a:fld>
            <a:endParaRPr lang="en-US" sz="1200" dirty="0"/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4194B10-21D2-8746-94C0-245E9DFD44EA}" type="slidenum">
              <a:rPr lang="en-US" sz="1200"/>
              <a:pPr algn="r" defTabSz="905475"/>
              <a:t>30</a:t>
            </a:fld>
            <a:endParaRPr lang="en-US" sz="1200" dirty="0"/>
          </a:p>
        </p:txBody>
      </p:sp>
      <p:sp>
        <p:nvSpPr>
          <p:cNvPr id="140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playlistTabs.selectedItem.videoDTOs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}"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selectOnClick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="true"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itemInsetV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="4"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itemLeading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="2"&gt;</a:t>
            </a: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Attributes here are not familiar outside of Brightcove –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itemInsetV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 and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itemLeading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This could be a slide that you call out the DTD 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cuz</a:t>
            </a: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 this describes every possible component</a:t>
            </a: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Good opportunity to point to DTD attributes and components….</a:t>
            </a: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endParaRPr lang="en-US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way to get started is to start with an existing template. </a:t>
            </a:r>
          </a:p>
          <a:p>
            <a:r>
              <a:rPr lang="en-US"/>
              <a:t>The out of the box video player component, hit duplicate at the bottom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02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78DD536-17B4-204B-820E-4AD34288F82D}" type="slidenum">
              <a:rPr lang="en-US" sz="1200"/>
              <a:pPr algn="r" defTabSz="905475"/>
              <a:t>33</a:t>
            </a:fld>
            <a:endParaRPr lang="en-US" sz="1200" dirty="0"/>
          </a:p>
        </p:txBody>
      </p:sp>
      <p:sp>
        <p:nvSpPr>
          <p:cNvPr id="140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09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17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B9CCFBC9-E9AF-CE45-8829-F8D2DDB7CC7A}" type="slidenum">
              <a:rPr lang="en-US" sz="1200"/>
              <a:pPr algn="r" defTabSz="905475"/>
              <a:t>34</a:t>
            </a:fld>
            <a:endParaRPr lang="en-US" sz="1200" dirty="0"/>
          </a:p>
        </p:txBody>
      </p:sp>
      <p:sp>
        <p:nvSpPr>
          <p:cNvPr id="141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415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21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7D85B69-4810-9143-861D-E909DBFFB077}" type="slidenum">
              <a:rPr lang="en-US" sz="1200"/>
              <a:pPr algn="r" defTabSz="905475"/>
              <a:t>35</a:t>
            </a:fld>
            <a:endParaRPr lang="en-US" sz="1200" dirty="0"/>
          </a:p>
        </p:txBody>
      </p:sp>
      <p:sp>
        <p:nvSpPr>
          <p:cNvPr id="141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41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201FECD3-5C64-ED4F-9094-3C02D3700781}" type="slidenum">
              <a:rPr lang="en-US" sz="1200"/>
              <a:pPr algn="r" defTabSz="905475"/>
              <a:t>36</a:t>
            </a:fld>
            <a:endParaRPr lang="en-US" sz="1200" dirty="0"/>
          </a:p>
        </p:txBody>
      </p:sp>
      <p:sp>
        <p:nvSpPr>
          <p:cNvPr id="141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1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31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43D89626-ECA2-904E-A28D-89BFC26C9415}" type="slidenum">
              <a:rPr lang="en-US" sz="1200"/>
              <a:pPr algn="r" defTabSz="905475"/>
              <a:t>37</a:t>
            </a:fld>
            <a:endParaRPr lang="en-US" sz="1200" dirty="0"/>
          </a:p>
        </p:txBody>
      </p:sp>
      <p:sp>
        <p:nvSpPr>
          <p:cNvPr id="142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2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8C6C1E2-8278-7E47-935A-1FAE78D1BD7A}" type="slidenum">
              <a:rPr lang="en-US" sz="1200"/>
              <a:pPr algn="r" defTabSz="905475"/>
              <a:t>38</a:t>
            </a:fld>
            <a:endParaRPr lang="en-US" sz="1200" dirty="0"/>
          </a:p>
        </p:txBody>
      </p:sp>
      <p:sp>
        <p:nvSpPr>
          <p:cNvPr id="142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2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3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3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way to get started is to start with an existing template. </a:t>
            </a:r>
          </a:p>
          <a:p>
            <a:r>
              <a:rPr lang="en-US"/>
              <a:t>The out of the box video player component, hit duplicate at the bottom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5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0762D86F-DA0A-8942-94BE-6360BBE97E86}" type="slidenum">
              <a:rPr lang="en-US" sz="1200"/>
              <a:pPr algn="r" defTabSz="905475"/>
              <a:t>41</a:t>
            </a:fld>
            <a:endParaRPr lang="en-US" sz="1200" dirty="0"/>
          </a:p>
        </p:txBody>
      </p:sp>
      <p:sp>
        <p:nvSpPr>
          <p:cNvPr id="143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43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3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way to get started is to start with an existing template. </a:t>
            </a:r>
          </a:p>
          <a:p>
            <a:r>
              <a:rPr lang="en-US"/>
              <a:t>The out of the box video player component, hit duplicate at the bottom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79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4412ED2-FDBA-3B4A-90AA-8472767A4B7F}" type="slidenum">
              <a:rPr lang="en-US" sz="1200"/>
              <a:pPr algn="r" defTabSz="905475"/>
              <a:t>44</a:t>
            </a:fld>
            <a:endParaRPr lang="en-US" sz="1200" dirty="0"/>
          </a:p>
        </p:txBody>
      </p:sp>
      <p:sp>
        <p:nvSpPr>
          <p:cNvPr id="144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41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86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01A5227-ADB9-2E43-9335-93D87408C276}" type="slidenum">
              <a:rPr lang="en-US" sz="1200"/>
              <a:pPr algn="r" defTabSz="905475"/>
              <a:t>45</a:t>
            </a:fld>
            <a:endParaRPr lang="en-US" sz="1200" dirty="0"/>
          </a:p>
        </p:txBody>
      </p:sp>
      <p:sp>
        <p:nvSpPr>
          <p:cNvPr id="144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44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91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62B8621C-75F0-4849-BCAF-CEDAF6E4984C}" type="slidenum">
              <a:rPr lang="en-US" sz="1200"/>
              <a:pPr algn="r" defTabSz="905475"/>
              <a:t>46</a:t>
            </a:fld>
            <a:endParaRPr lang="en-US" sz="1200" dirty="0"/>
          </a:p>
        </p:txBody>
      </p:sp>
      <p:sp>
        <p:nvSpPr>
          <p:cNvPr id="144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46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01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9B04D72C-AADA-F140-A6DB-FA5EE032B827}" type="slidenum">
              <a:rPr lang="en-US" sz="1200"/>
              <a:pPr algn="r" defTabSz="905475"/>
              <a:t>47</a:t>
            </a:fld>
            <a:endParaRPr lang="en-US" sz="1200" dirty="0"/>
          </a:p>
        </p:txBody>
      </p:sp>
      <p:sp>
        <p:nvSpPr>
          <p:cNvPr id="145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51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5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10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F28D943-86D2-D14A-A9D7-13BCD4A8F427}" type="slidenum">
              <a:rPr lang="en-US" sz="1200"/>
              <a:pPr algn="r" defTabSz="905475"/>
              <a:t>49</a:t>
            </a:fld>
            <a:endParaRPr lang="en-US" sz="1200" dirty="0"/>
          </a:p>
        </p:txBody>
      </p:sp>
      <p:sp>
        <p:nvSpPr>
          <p:cNvPr id="145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455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30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C5DFED58-89D4-3F48-8046-1B0B219130C2}" type="slidenum">
              <a:rPr lang="en-US" sz="1200"/>
              <a:pPr algn="r" defTabSz="905475"/>
              <a:t>50</a:t>
            </a:fld>
            <a:endParaRPr lang="en-US" sz="1200" dirty="0"/>
          </a:p>
        </p:txBody>
      </p:sp>
      <p:sp>
        <p:nvSpPr>
          <p:cNvPr id="150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06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59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8DDB49D9-D1F3-8549-ABA4-31D5DD8385FF}" type="slidenum">
              <a:rPr lang="en-US" sz="1200"/>
              <a:pPr algn="r" defTabSz="905475"/>
              <a:t>52</a:t>
            </a:fld>
            <a:endParaRPr lang="en-US" sz="1200" dirty="0"/>
          </a:p>
        </p:txBody>
      </p:sp>
      <p:sp>
        <p:nvSpPr>
          <p:cNvPr id="151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185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69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E5336594-77C1-D34A-88FB-DEBA2ABF7346}" type="slidenum">
              <a:rPr lang="en-US" sz="1200"/>
              <a:pPr algn="r" defTabSz="905475"/>
              <a:t>53</a:t>
            </a:fld>
            <a:endParaRPr lang="en-US" sz="1200" dirty="0"/>
          </a:p>
        </p:txBody>
      </p:sp>
      <p:sp>
        <p:nvSpPr>
          <p:cNvPr id="152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226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579EAC3-34B1-A34E-B481-D4580834B278}" type="slidenum">
              <a:rPr lang="en-US" sz="1200"/>
              <a:pPr algn="r" defTabSz="905475"/>
              <a:t>54</a:t>
            </a:fld>
            <a:endParaRPr lang="en-US" sz="1200" dirty="0"/>
          </a:p>
        </p:txBody>
      </p:sp>
      <p:sp>
        <p:nvSpPr>
          <p:cNvPr id="152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247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807644C-86A4-F646-9009-7A4E39D3D697}" type="slidenum">
              <a:rPr lang="en-US" sz="1200"/>
              <a:pPr algn="r" defTabSz="905475"/>
              <a:t>55</a:t>
            </a:fld>
            <a:endParaRPr lang="en-US" sz="1200" dirty="0"/>
          </a:p>
        </p:txBody>
      </p:sp>
      <p:sp>
        <p:nvSpPr>
          <p:cNvPr id="152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26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83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1478D141-5654-404B-8870-0B5C8E5FB5B9}" type="slidenum">
              <a:rPr lang="en-US" sz="1200"/>
              <a:pPr algn="r" defTabSz="905475"/>
              <a:t>56</a:t>
            </a:fld>
            <a:endParaRPr lang="en-US" sz="1200" dirty="0"/>
          </a:p>
        </p:txBody>
      </p:sp>
      <p:sp>
        <p:nvSpPr>
          <p:cNvPr id="152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28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Is this the code for the example they have just done?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89740EA4-C277-8B40-ABBB-52882BD11750}" type="slidenum">
              <a:rPr lang="en-US" sz="1200"/>
              <a:pPr algn="r" defTabSz="905475"/>
              <a:t>57</a:t>
            </a:fld>
            <a:endParaRPr lang="en-US" sz="1200" dirty="0"/>
          </a:p>
        </p:txBody>
      </p:sp>
      <p:sp>
        <p:nvSpPr>
          <p:cNvPr id="153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30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93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BD5A332C-EA18-874B-A2A0-C55F037E5277}" type="slidenum">
              <a:rPr lang="en-US" sz="1200"/>
              <a:pPr algn="r" defTabSz="905475"/>
              <a:t>58</a:t>
            </a:fld>
            <a:endParaRPr lang="en-US" sz="1200" dirty="0"/>
          </a:p>
        </p:txBody>
      </p:sp>
      <p:sp>
        <p:nvSpPr>
          <p:cNvPr id="153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32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Is this the code for the example they have just done?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7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C6CE355C-1706-1E40-97EF-0195A8DBA84D}" type="slidenum">
              <a:rPr lang="en-US" sz="1200"/>
              <a:pPr algn="r" defTabSz="905475"/>
              <a:t>59</a:t>
            </a:fld>
            <a:endParaRPr lang="en-US" sz="1200" dirty="0"/>
          </a:p>
        </p:txBody>
      </p:sp>
      <p:sp>
        <p:nvSpPr>
          <p:cNvPr id="153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349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2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D56CE95-ED5C-064C-8D6F-C648E3B3892E}" type="slidenum">
              <a:rPr lang="en-US" sz="1200"/>
              <a:pPr algn="r" defTabSz="905475"/>
              <a:t>60</a:t>
            </a:fld>
            <a:endParaRPr lang="en-US" sz="1200" dirty="0"/>
          </a:p>
        </p:txBody>
      </p:sp>
      <p:sp>
        <p:nvSpPr>
          <p:cNvPr id="153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537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Is this the code for the example they have just done?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54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5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way to get started is to start with an existing template. </a:t>
            </a:r>
          </a:p>
          <a:p>
            <a:r>
              <a:rPr lang="en-US"/>
              <a:t>The out of the box video player component, hit duplicate at the bottom</a:t>
            </a:r>
          </a:p>
          <a:p>
            <a:r>
              <a:rPr lang="en-US"/>
              <a:t>Get a player that is scrolling veritcally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A702268-E24E-2A4D-96C4-D6D20C3154A6}" type="slidenum">
              <a:rPr lang="en-US" sz="1200"/>
              <a:pPr algn="r" defTabSz="905475"/>
              <a:t>63</a:t>
            </a:fld>
            <a:endParaRPr lang="en-US" sz="1200" dirty="0"/>
          </a:p>
        </p:txBody>
      </p:sp>
      <p:sp>
        <p:nvSpPr>
          <p:cNvPr id="81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17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1728B207-4FE8-5E4A-93AF-38EAF9E50B3B}" type="slidenum">
              <a:rPr lang="en-US" sz="1200"/>
              <a:pPr algn="r" defTabSz="905475"/>
              <a:t>64</a:t>
            </a:fld>
            <a:endParaRPr lang="en-US" sz="1200" dirty="0"/>
          </a:p>
        </p:txBody>
      </p:sp>
      <p:sp>
        <p:nvSpPr>
          <p:cNvPr id="82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21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Rectangle 7"/>
          <p:cNvSpPr txBox="1">
            <a:spLocks noGrp="1" noChangeArrowheads="1"/>
          </p:cNvSpPr>
          <p:nvPr/>
        </p:nvSpPr>
        <p:spPr bwMode="auto">
          <a:xfrm>
            <a:off x="3885903" y="8685893"/>
            <a:ext cx="2972097" cy="458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1167484B-2757-8545-9427-B9193CD31396}" type="slidenum">
              <a:rPr lang="en-US" sz="1200"/>
              <a:pPr algn="r" defTabSz="905475"/>
              <a:t>66</a:t>
            </a:fld>
            <a:endParaRPr lang="en-US" sz="1200" dirty="0"/>
          </a:p>
        </p:txBody>
      </p:sp>
      <p:sp>
        <p:nvSpPr>
          <p:cNvPr id="1052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052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4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5" name="Rectangle 7"/>
          <p:cNvSpPr txBox="1">
            <a:spLocks noGrp="1" noChangeArrowheads="1"/>
          </p:cNvSpPr>
          <p:nvPr/>
        </p:nvSpPr>
        <p:spPr bwMode="auto">
          <a:xfrm>
            <a:off x="3885903" y="8685893"/>
            <a:ext cx="2972097" cy="458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919E301-8470-0442-A519-9C4924D6C59A}" type="slidenum">
              <a:rPr lang="en-US" sz="1200"/>
              <a:pPr algn="r" defTabSz="905475"/>
              <a:t>68</a:t>
            </a:fld>
            <a:endParaRPr lang="en-US" sz="1200" dirty="0"/>
          </a:p>
        </p:txBody>
      </p:sp>
      <p:sp>
        <p:nvSpPr>
          <p:cNvPr id="1143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143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1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5" name="Rectangle 7"/>
          <p:cNvSpPr txBox="1">
            <a:spLocks noGrp="1" noChangeArrowheads="1"/>
          </p:cNvSpPr>
          <p:nvPr/>
        </p:nvSpPr>
        <p:spPr bwMode="auto">
          <a:xfrm>
            <a:off x="3885903" y="8685893"/>
            <a:ext cx="2972097" cy="458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4A57C6E4-D100-D24F-9414-84755FDC5D92}" type="slidenum">
              <a:rPr lang="en-US" sz="1200"/>
              <a:pPr algn="r" defTabSz="905475"/>
              <a:t>71</a:t>
            </a:fld>
            <a:endParaRPr lang="en-US" sz="1200" dirty="0"/>
          </a:p>
        </p:txBody>
      </p:sp>
      <p:sp>
        <p:nvSpPr>
          <p:cNvPr id="1131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131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Rectangle 7"/>
          <p:cNvSpPr txBox="1">
            <a:spLocks noGrp="1" noChangeArrowheads="1"/>
          </p:cNvSpPr>
          <p:nvPr/>
        </p:nvSpPr>
        <p:spPr bwMode="auto">
          <a:xfrm>
            <a:off x="3885903" y="8685893"/>
            <a:ext cx="2972097" cy="458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87CA0DB7-E3DC-9F49-991B-04C4BF953722}" type="slidenum">
              <a:rPr lang="en-US" sz="1200"/>
              <a:pPr algn="r" defTabSz="905475"/>
              <a:t>72</a:t>
            </a:fld>
            <a:endParaRPr lang="en-US" sz="1200" dirty="0"/>
          </a:p>
        </p:txBody>
      </p:sp>
      <p:sp>
        <p:nvSpPr>
          <p:cNvPr id="1206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206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  <a:noFill/>
        </p:spPr>
        <p:txBody>
          <a:bodyPr/>
          <a:lstStyle/>
          <a:p>
            <a:pPr eaLnBrk="1" hangingPunct="1"/>
            <a:r>
              <a:rPr lang="en-US"/>
              <a:t>Go over each part of data binding expression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37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384E7FFF-1B5D-E34B-8CA9-DC260F75699E}" type="slidenum">
              <a:rPr lang="en-US" sz="1200"/>
              <a:pPr algn="r" defTabSz="905475"/>
              <a:t>76</a:t>
            </a:fld>
            <a:endParaRPr lang="en-US" sz="1200" dirty="0"/>
          </a:p>
        </p:txBody>
      </p:sp>
      <p:sp>
        <p:nvSpPr>
          <p:cNvPr id="1210371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9E2BF1F2-B531-4C47-9CEC-7F44D26B6123}" type="slidenum">
              <a:rPr lang="en-US" sz="1200"/>
              <a:pPr algn="r" defTabSz="905475"/>
              <a:t>76</a:t>
            </a:fld>
            <a:endParaRPr lang="en-US" sz="1200" dirty="0"/>
          </a:p>
        </p:txBody>
      </p:sp>
      <p:sp>
        <p:nvSpPr>
          <p:cNvPr id="1210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2103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Talk about this layout and start mentioning the word components.</a:t>
            </a:r>
          </a:p>
          <a:p>
            <a:pPr eaLnBrk="1" hangingPunct="1"/>
            <a:r>
              <a:rPr lang="en-US"/>
              <a:t>The grid component is what is used here. 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9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E719F286-D283-694B-9974-A57E4B0BA08F}" type="slidenum">
              <a:rPr lang="en-US" sz="1200"/>
              <a:pPr algn="r" defTabSz="905475"/>
              <a:t>81</a:t>
            </a:fld>
            <a:endParaRPr lang="en-US" sz="1200" dirty="0"/>
          </a:p>
        </p:txBody>
      </p:sp>
      <p:sp>
        <p:nvSpPr>
          <p:cNvPr id="1113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130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3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3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CE5E94C9-42CB-594E-B7DF-3CF14DE205EF}" type="slidenum">
              <a:rPr lang="en-US" sz="1200"/>
              <a:pPr algn="r" defTabSz="905475"/>
              <a:t>84</a:t>
            </a:fld>
            <a:endParaRPr lang="en-US" sz="1200" dirty="0"/>
          </a:p>
        </p:txBody>
      </p:sp>
      <p:sp>
        <p:nvSpPr>
          <p:cNvPr id="1115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1115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704C1B26-CD07-3740-BAB3-272900D9FE87}" type="slidenum">
              <a:rPr lang="en-US" sz="1200"/>
              <a:pPr algn="r" defTabSz="905475"/>
              <a:t>86</a:t>
            </a:fld>
            <a:endParaRPr lang="en-US" sz="1200" dirty="0"/>
          </a:p>
        </p:txBody>
      </p:sp>
      <p:sp>
        <p:nvSpPr>
          <p:cNvPr id="839683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E01748F0-11A3-F94E-9A67-40B80B9D9C16}" type="slidenum">
              <a:rPr lang="en-US" sz="1200"/>
              <a:pPr algn="r" defTabSz="905475"/>
              <a:t>86</a:t>
            </a:fld>
            <a:endParaRPr lang="en-US" sz="1200" dirty="0"/>
          </a:p>
        </p:txBody>
      </p:sp>
      <p:sp>
        <p:nvSpPr>
          <p:cNvPr id="839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396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8C209B16-401A-874D-834E-3349D964BDB6}" type="slidenum">
              <a:rPr lang="en-US" sz="1200"/>
              <a:pPr algn="r" defTabSz="905475"/>
              <a:t>87</a:t>
            </a:fld>
            <a:endParaRPr lang="en-US" sz="1200" dirty="0"/>
          </a:p>
        </p:txBody>
      </p:sp>
      <p:sp>
        <p:nvSpPr>
          <p:cNvPr id="84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45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CB2666E8-79EC-1B49-85F1-F16B9DF4326F}" type="slidenum">
              <a:rPr lang="en-US" sz="1200"/>
              <a:pPr algn="r" defTabSz="905475"/>
              <a:t>88</a:t>
            </a:fld>
            <a:endParaRPr lang="en-US" sz="1200" dirty="0"/>
          </a:p>
        </p:txBody>
      </p:sp>
      <p:sp>
        <p:nvSpPr>
          <p:cNvPr id="85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519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5BC6798-6424-2549-9D2D-801064730741}" type="slidenum">
              <a:rPr lang="en-US" sz="1200"/>
              <a:pPr algn="r" defTabSz="905475"/>
              <a:t>91</a:t>
            </a:fld>
            <a:endParaRPr lang="en-US" sz="1200" dirty="0"/>
          </a:p>
        </p:txBody>
      </p:sp>
      <p:sp>
        <p:nvSpPr>
          <p:cNvPr id="85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54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Call out that some of this stuff is specific CSS to Brightcove.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Where is the complete style reference can be found online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CD17EB36-3E25-4240-ACF0-26482359D23D}" type="slidenum">
              <a:rPr lang="en-US" sz="1200"/>
              <a:pPr algn="r" defTabSz="905475"/>
              <a:t>93</a:t>
            </a:fld>
            <a:endParaRPr lang="en-US" sz="1200" dirty="0"/>
          </a:p>
        </p:txBody>
      </p:sp>
      <p:sp>
        <p:nvSpPr>
          <p:cNvPr id="85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56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73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5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6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7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26B6A6BA-476F-2348-875E-1A2749506C78}" type="slidenum">
              <a:rPr lang="en-US" sz="1200"/>
              <a:pPr algn="r" defTabSz="905475"/>
              <a:t>101</a:t>
            </a:fld>
            <a:endParaRPr lang="en-US" sz="1200" dirty="0"/>
          </a:p>
        </p:txBody>
      </p:sp>
      <p:sp>
        <p:nvSpPr>
          <p:cNvPr id="866307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27906856-A24F-4C4F-8785-BBADDA9873BE}" type="slidenum">
              <a:rPr lang="en-US" sz="1200"/>
              <a:pPr algn="r" defTabSz="905475"/>
              <a:t>101</a:t>
            </a:fld>
            <a:endParaRPr lang="en-US" sz="1200" dirty="0"/>
          </a:p>
        </p:txBody>
      </p:sp>
      <p:sp>
        <p:nvSpPr>
          <p:cNvPr id="8663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663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5562333C-A788-A144-9D68-9C20D11ECD5E}" type="slidenum">
              <a:rPr lang="en-US" sz="1200"/>
              <a:pPr algn="r" defTabSz="905475"/>
              <a:t>103</a:t>
            </a:fld>
            <a:endParaRPr lang="en-US" sz="1200" dirty="0"/>
          </a:p>
        </p:txBody>
      </p:sp>
      <p:sp>
        <p:nvSpPr>
          <p:cNvPr id="86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</p:spPr>
      </p:sp>
      <p:sp>
        <p:nvSpPr>
          <p:cNvPr id="8683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2CBB7F4C-AE7C-CE45-96A5-F6579151C7A5}" type="slidenum">
              <a:rPr lang="en-US" sz="1200"/>
              <a:pPr algn="r" defTabSz="905475"/>
              <a:t>105</a:t>
            </a:fld>
            <a:endParaRPr lang="en-US" sz="1200" dirty="0"/>
          </a:p>
        </p:txBody>
      </p:sp>
      <p:sp>
        <p:nvSpPr>
          <p:cNvPr id="87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724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F8BBCFF-7097-824C-8F32-D2BA4A0607E7}" type="slidenum">
              <a:rPr lang="en-US" sz="1200"/>
              <a:pPr algn="r" defTabSz="905475"/>
              <a:t>106</a:t>
            </a:fld>
            <a:endParaRPr lang="en-US" sz="1200" dirty="0"/>
          </a:p>
        </p:txBody>
      </p:sp>
      <p:sp>
        <p:nvSpPr>
          <p:cNvPr id="87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74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58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7E8E389-226F-4240-A79A-6D16DD25EA03}" type="slidenum">
              <a:rPr lang="en-US" sz="1200"/>
              <a:pPr algn="r" defTabSz="905475"/>
              <a:t>109</a:t>
            </a:fld>
            <a:endParaRPr lang="en-US" sz="1200" dirty="0"/>
          </a:p>
        </p:txBody>
      </p:sp>
      <p:sp>
        <p:nvSpPr>
          <p:cNvPr id="87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765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4BBFC828-384E-0B45-8EE1-8C52CB023307}" type="slidenum">
              <a:rPr lang="en-US" sz="1200"/>
              <a:pPr algn="r" defTabSz="905475"/>
              <a:t>111</a:t>
            </a:fld>
            <a:endParaRPr lang="en-US" sz="1200" dirty="0"/>
          </a:p>
        </p:txBody>
      </p:sp>
      <p:sp>
        <p:nvSpPr>
          <p:cNvPr id="886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86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693FFE4-43D1-BF4A-97BD-3B8FCC67EF22}" type="slidenum">
              <a:rPr lang="en-US" sz="1200"/>
              <a:pPr algn="r" defTabSz="905475"/>
              <a:t>113</a:t>
            </a:fld>
            <a:endParaRPr lang="en-US" sz="1200" dirty="0"/>
          </a:p>
        </p:txBody>
      </p:sp>
      <p:sp>
        <p:nvSpPr>
          <p:cNvPr id="89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90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F7863B43-86F7-7046-BDE8-1A9D4C350751}" type="slidenum">
              <a:rPr lang="en-US" sz="1200"/>
              <a:pPr algn="r" defTabSz="905475"/>
              <a:t>114</a:t>
            </a:fld>
            <a:endParaRPr lang="en-US" sz="1200" dirty="0"/>
          </a:p>
        </p:txBody>
      </p:sp>
      <p:sp>
        <p:nvSpPr>
          <p:cNvPr id="89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92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9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9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7"/>
          <p:cNvSpPr txBox="1">
            <a:spLocks noGrp="1" noChangeArrowheads="1"/>
          </p:cNvSpPr>
          <p:nvPr/>
        </p:nvSpPr>
        <p:spPr bwMode="auto">
          <a:xfrm>
            <a:off x="3884414" y="8684381"/>
            <a:ext cx="2972098" cy="458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67" tIns="45283" rIns="90567" bIns="45283" anchor="b">
            <a:prstTxWarp prst="textNoShape">
              <a:avLst/>
            </a:prstTxWarp>
          </a:bodyPr>
          <a:lstStyle/>
          <a:p>
            <a:pPr algn="r" defTabSz="905475"/>
            <a:fld id="{AB613B06-9DE8-E844-B413-6C06639B01C5}" type="slidenum">
              <a:rPr lang="en-US" sz="1200"/>
              <a:pPr algn="r" defTabSz="905475"/>
              <a:t>118</a:t>
            </a:fld>
            <a:endParaRPr lang="en-US" sz="1200" dirty="0"/>
          </a:p>
        </p:txBody>
      </p:sp>
      <p:sp>
        <p:nvSpPr>
          <p:cNvPr id="89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8719" y="684893"/>
            <a:ext cx="4500563" cy="3429000"/>
          </a:xfrm>
          <a:ln/>
        </p:spPr>
      </p:sp>
      <p:sp>
        <p:nvSpPr>
          <p:cNvPr id="899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green-arrow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346" y="3186625"/>
            <a:ext cx="247973" cy="375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662" y="2951085"/>
            <a:ext cx="7772400" cy="807464"/>
          </a:xfrm>
        </p:spPr>
        <p:txBody>
          <a:bodyPr>
            <a:normAutofit/>
          </a:bodyPr>
          <a:lstStyle>
            <a:lvl1pPr>
              <a:defRPr sz="3500" cap="none">
                <a:solidFill>
                  <a:srgbClr val="60616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413" y="3758550"/>
            <a:ext cx="7848713" cy="379889"/>
          </a:xfrm>
        </p:spPr>
        <p:txBody>
          <a:bodyPr>
            <a:normAutofit/>
          </a:bodyPr>
          <a:lstStyle>
            <a:lvl1pPr marL="0" indent="0" algn="l">
              <a:buNone/>
              <a:defRPr sz="1200" cap="all">
                <a:solidFill>
                  <a:srgbClr val="959594"/>
                </a:solidFill>
              </a:defRPr>
            </a:lvl1pPr>
            <a:lvl2pPr marL="457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and Single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610925" y="6574298"/>
            <a:ext cx="1053885" cy="300791"/>
          </a:xfrm>
          <a:prstGeom prst="rect">
            <a:avLst/>
          </a:prstGeom>
          <a:noFill/>
          <a:ln>
            <a:noFill/>
          </a:ln>
          <a:extLst/>
        </p:spPr>
        <p:txBody>
          <a:bodyPr lIns="54041" tIns="27021" rIns="54041" bIns="27021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smtClean="0">
                <a:solidFill>
                  <a:srgbClr val="FBFCFF"/>
                </a:solidFill>
              </a:rPr>
              <a:t>© 2011 Brightcove Inc.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676" y="1344611"/>
            <a:ext cx="8378769" cy="43638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800">
                <a:solidFill>
                  <a:srgbClr val="FBFC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and Two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610925" y="6574298"/>
            <a:ext cx="1053885" cy="300791"/>
          </a:xfrm>
          <a:prstGeom prst="rect">
            <a:avLst/>
          </a:prstGeom>
          <a:noFill/>
          <a:ln>
            <a:noFill/>
          </a:ln>
          <a:extLst/>
        </p:spPr>
        <p:txBody>
          <a:bodyPr lIns="54041" tIns="27021" rIns="54041" bIns="27021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smtClean="0">
                <a:solidFill>
                  <a:srgbClr val="FBFCFF"/>
                </a:solidFill>
              </a:rPr>
              <a:t>© 2011 Brightcove Inc.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676" y="1344611"/>
            <a:ext cx="4136054" cy="436387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4528755" y="1344611"/>
            <a:ext cx="4136054" cy="436387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800">
                <a:solidFill>
                  <a:srgbClr val="FBFC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Only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610925" y="6574298"/>
            <a:ext cx="1053885" cy="300791"/>
          </a:xfrm>
          <a:prstGeom prst="rect">
            <a:avLst/>
          </a:prstGeom>
          <a:noFill/>
          <a:ln>
            <a:noFill/>
          </a:ln>
          <a:extLst/>
        </p:spPr>
        <p:txBody>
          <a:bodyPr lIns="54041" tIns="27021" rIns="54041" bIns="27021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smtClean="0">
                <a:solidFill>
                  <a:srgbClr val="FBFCFF"/>
                </a:solidFill>
              </a:rPr>
              <a:t>© 2011 Brightcove Inc.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800">
                <a:solidFill>
                  <a:srgbClr val="FBFC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 name="Left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10925" y="6574298"/>
            <a:ext cx="1053885" cy="300791"/>
          </a:xfrm>
          <a:prstGeom prst="rect">
            <a:avLst/>
          </a:prstGeom>
          <a:noFill/>
          <a:ln>
            <a:noFill/>
          </a:ln>
          <a:extLst/>
        </p:spPr>
        <p:txBody>
          <a:bodyPr lIns="54041" tIns="27021" rIns="54041" bIns="27021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smtClean="0">
                <a:solidFill>
                  <a:srgbClr val="FBFCFF"/>
                </a:solidFill>
              </a:rPr>
              <a:t>© 2011 Brightcove Inc.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236" y="1344885"/>
            <a:ext cx="4459720" cy="43630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848534" y="1353729"/>
            <a:ext cx="3815912" cy="4363878"/>
          </a:xfr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 sz="800">
                <a:solidFill>
                  <a:srgbClr val="FBFC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Left Image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10925" y="6574298"/>
            <a:ext cx="1053885" cy="300791"/>
          </a:xfrm>
          <a:prstGeom prst="rect">
            <a:avLst/>
          </a:prstGeom>
          <a:noFill/>
          <a:ln>
            <a:noFill/>
          </a:ln>
          <a:extLst/>
        </p:spPr>
        <p:txBody>
          <a:bodyPr lIns="54041" tIns="27021" rIns="54041" bIns="27021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7731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smtClean="0">
                <a:solidFill>
                  <a:srgbClr val="FBFCFF"/>
                </a:solidFill>
              </a:rPr>
              <a:t>© 2011 Brightcove Inc.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0520" y="1344885"/>
            <a:ext cx="4459720" cy="43630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09658" y="1353729"/>
            <a:ext cx="3815912" cy="4363878"/>
          </a:xfr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 sz="800">
                <a:solidFill>
                  <a:srgbClr val="FBFC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Impact Slide - Teal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6147860" cy="866225"/>
          </a:xfrm>
        </p:spPr>
        <p:txBody>
          <a:bodyPr>
            <a:noAutofit/>
          </a:bodyPr>
          <a:lstStyle>
            <a:lvl1pPr algn="l">
              <a:buFontTx/>
              <a:buNone/>
              <a:defRPr sz="35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Impact Slide - Green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6147860" cy="866225"/>
          </a:xfrm>
        </p:spPr>
        <p:txBody>
          <a:bodyPr>
            <a:noAutofit/>
          </a:bodyPr>
          <a:lstStyle>
            <a:lvl1pPr algn="l">
              <a:buFontTx/>
              <a:buNone/>
              <a:defRPr sz="35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Impact Slide - Orang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6147860" cy="866225"/>
          </a:xfrm>
        </p:spPr>
        <p:txBody>
          <a:bodyPr>
            <a:noAutofit/>
          </a:bodyPr>
          <a:lstStyle>
            <a:lvl1pPr algn="l">
              <a:buFontTx/>
              <a:buNone/>
              <a:defRPr sz="35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Impact Slide - Pink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715" y="2951085"/>
            <a:ext cx="7772400" cy="807464"/>
          </a:xfrm>
        </p:spPr>
        <p:txBody>
          <a:bodyPr>
            <a:normAutofit/>
          </a:bodyPr>
          <a:lstStyle>
            <a:lvl1pPr>
              <a:defRPr sz="35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Quote Slide - Neutral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524996" y="2599232"/>
            <a:ext cx="6147860" cy="1668069"/>
          </a:xfrm>
        </p:spPr>
        <p:txBody>
          <a:bodyPr>
            <a:noAutofit/>
          </a:bodyPr>
          <a:lstStyle>
            <a:lvl1pPr algn="l">
              <a:buFontTx/>
              <a:buNone/>
              <a:defRPr lang="en-US" sz="2100" b="0" kern="1200" dirty="0" smtClean="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894537" y="4769143"/>
            <a:ext cx="1778319" cy="765103"/>
          </a:xfrm>
        </p:spPr>
        <p:txBody>
          <a:bodyPr/>
          <a:lstStyle>
            <a:lvl1pPr>
              <a:buFontTx/>
              <a:buNone/>
              <a:defRPr lang="en-US" sz="1200" b="0" kern="1200" dirty="0" smtClean="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Quote Slide - Teal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24996" y="2599232"/>
            <a:ext cx="6147860" cy="1668069"/>
          </a:xfrm>
        </p:spPr>
        <p:txBody>
          <a:bodyPr>
            <a:noAutofit/>
          </a:bodyPr>
          <a:lstStyle>
            <a:lvl1pPr algn="l">
              <a:buFontTx/>
              <a:buNone/>
              <a:defRPr sz="21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894537" y="4769143"/>
            <a:ext cx="1778319" cy="765103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Quote Slide - Green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24996" y="2599232"/>
            <a:ext cx="6147860" cy="1668069"/>
          </a:xfrm>
        </p:spPr>
        <p:txBody>
          <a:bodyPr>
            <a:noAutofit/>
          </a:bodyPr>
          <a:lstStyle>
            <a:lvl1pPr algn="l">
              <a:buFontTx/>
              <a:buNone/>
              <a:defRPr sz="21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894537" y="4769143"/>
            <a:ext cx="1778319" cy="765103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Orange Quote Slid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24996" y="2599232"/>
            <a:ext cx="6147860" cy="1668069"/>
          </a:xfrm>
        </p:spPr>
        <p:txBody>
          <a:bodyPr>
            <a:noAutofit/>
          </a:bodyPr>
          <a:lstStyle>
            <a:lvl1pPr algn="l">
              <a:buFontTx/>
              <a:buNone/>
              <a:defRPr sz="21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894537" y="4769143"/>
            <a:ext cx="1778319" cy="765103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Quote Slide - Pink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24996" y="2599232"/>
            <a:ext cx="6147860" cy="1668069"/>
          </a:xfrm>
        </p:spPr>
        <p:txBody>
          <a:bodyPr>
            <a:noAutofit/>
          </a:bodyPr>
          <a:lstStyle>
            <a:lvl1pPr algn="l">
              <a:buFontTx/>
              <a:buNone/>
              <a:defRPr sz="2100" b="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894537" y="4769143"/>
            <a:ext cx="1778319" cy="765103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hank You - Teal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446715" y="2951085"/>
            <a:ext cx="7772400" cy="807464"/>
          </a:xfrm>
        </p:spPr>
        <p:txBody>
          <a:bodyPr>
            <a:normAutofit/>
          </a:bodyPr>
          <a:lstStyle>
            <a:lvl1pPr>
              <a:defRPr sz="35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46506" y="3694609"/>
            <a:ext cx="7772609" cy="417681"/>
          </a:xfrm>
        </p:spPr>
        <p:txBody>
          <a:bodyPr/>
          <a:lstStyle>
            <a:lvl1pPr>
              <a:buFontTx/>
              <a:buNone/>
              <a:defRPr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hank You - Green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446715" y="2951085"/>
            <a:ext cx="7772400" cy="807464"/>
          </a:xfrm>
        </p:spPr>
        <p:txBody>
          <a:bodyPr>
            <a:normAutofit/>
          </a:bodyPr>
          <a:lstStyle>
            <a:lvl1pPr>
              <a:defRPr sz="35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46506" y="3694609"/>
            <a:ext cx="7772609" cy="417681"/>
          </a:xfrm>
        </p:spPr>
        <p:txBody>
          <a:bodyPr/>
          <a:lstStyle>
            <a:lvl1pPr>
              <a:buFontTx/>
              <a:buNone/>
              <a:defRPr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 name="Thank You - Orang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446715" y="2951085"/>
            <a:ext cx="7772400" cy="807464"/>
          </a:xfrm>
        </p:spPr>
        <p:txBody>
          <a:bodyPr>
            <a:normAutofit/>
          </a:bodyPr>
          <a:lstStyle>
            <a:lvl1pPr>
              <a:defRPr sz="35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46506" y="3694609"/>
            <a:ext cx="7772609" cy="417681"/>
          </a:xfrm>
        </p:spPr>
        <p:txBody>
          <a:bodyPr/>
          <a:lstStyle>
            <a:lvl1pPr>
              <a:buFontTx/>
              <a:buNone/>
              <a:defRPr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 name="Thank You - Pink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715" y="2951085"/>
            <a:ext cx="7772400" cy="807464"/>
          </a:xfrm>
        </p:spPr>
        <p:txBody>
          <a:bodyPr>
            <a:normAutofit/>
          </a:bodyPr>
          <a:lstStyle>
            <a:lvl1pPr>
              <a:defRPr sz="35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46506" y="3694609"/>
            <a:ext cx="7772609" cy="417681"/>
          </a:xfrm>
        </p:spPr>
        <p:txBody>
          <a:bodyPr/>
          <a:lstStyle>
            <a:lvl1pPr>
              <a:buFontTx/>
              <a:buNone/>
              <a:defRPr>
                <a:solidFill>
                  <a:srgbClr val="FFFFFF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© 2010 Brightcove</a:t>
            </a:r>
            <a:r>
              <a:rPr lang="en-US" dirty="0"/>
              <a:t>, Inc. All rights reserved.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586429-2A24-5D40-93E4-85D748C8F5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© 2010 Brightcove</a:t>
            </a:r>
            <a:r>
              <a:rPr lang="en-US" dirty="0"/>
              <a:t>, Inc. All rights reserved.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FD0310-DB9D-1A46-9A66-C00B71C56A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838" y="1169988"/>
            <a:ext cx="3951287" cy="4926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1526" y="1169988"/>
            <a:ext cx="3952875" cy="4926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© 2010 Brightcove</a:t>
            </a:r>
            <a:r>
              <a:rPr lang="en-US" dirty="0"/>
              <a:t>, Inc. All rights reserved.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78D354-9EA8-0D4D-9846-A9E443D507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Relationship Id="rId25" Type="http://schemas.openxmlformats.org/officeDocument/2006/relationships/image" Target="../media/image2.png"/><Relationship Id="rId26" Type="http://schemas.openxmlformats.org/officeDocument/2006/relationships/image" Target="../media/image3.png"/><Relationship Id="rId27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2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09658" y="211102"/>
            <a:ext cx="7646109" cy="1019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5672" y="1344794"/>
            <a:ext cx="7790202" cy="436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13317" y="6502814"/>
            <a:ext cx="356880" cy="365239"/>
          </a:xfrm>
          <a:prstGeom prst="rect">
            <a:avLst/>
          </a:prstGeom>
        </p:spPr>
        <p:txBody>
          <a:bodyPr vert="horz" wrap="square" lIns="54041" tIns="27021" rIns="54041" bIns="27021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FBFCFF"/>
                </a:solidFill>
                <a:ea typeface="ＭＳ Ｐゴシック" charset="0"/>
                <a:cs typeface="ＭＳ Ｐゴシック" charset="0"/>
              </a:defRPr>
            </a:lvl1pPr>
          </a:lstStyle>
          <a:p>
            <a:fld id="{02AB0A5D-3808-4243-BEAE-B77F86CB66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608204" y="6502814"/>
            <a:ext cx="2896089" cy="365239"/>
          </a:xfrm>
          <a:prstGeom prst="rect">
            <a:avLst/>
          </a:prstGeom>
        </p:spPr>
        <p:txBody>
          <a:bodyPr vert="horz" lIns="54041" tIns="27021" rIns="54041" bIns="27021" rtlCol="0" anchor="ctr"/>
          <a:lstStyle>
            <a:lvl1pPr algn="l">
              <a:defRPr sz="800">
                <a:solidFill>
                  <a:srgbClr val="FBFCFF"/>
                </a:solidFill>
                <a:ea typeface="ＭＳ Ｐゴシック" charset="-128"/>
                <a:cs typeface="ＭＳ Ｐゴシック" charset="-128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456910" rtl="0" eaLnBrk="1" fontAlgn="base" hangingPunct="1">
        <a:spcBef>
          <a:spcPct val="0"/>
        </a:spcBef>
        <a:spcAft>
          <a:spcPct val="0"/>
        </a:spcAft>
        <a:defRPr sz="2100" b="1" kern="1200" cap="all">
          <a:solidFill>
            <a:srgbClr val="606163"/>
          </a:solidFill>
          <a:latin typeface="Arial"/>
          <a:ea typeface="ＭＳ Ｐゴシック" charset="-128"/>
          <a:cs typeface="Arial"/>
        </a:defRPr>
      </a:lvl1pPr>
      <a:lvl2pPr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606163"/>
          </a:solidFill>
          <a:latin typeface="Arial" charset="0"/>
          <a:ea typeface="ＭＳ Ｐゴシック" charset="-128"/>
        </a:defRPr>
      </a:lvl2pPr>
      <a:lvl3pPr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606163"/>
          </a:solidFill>
          <a:latin typeface="Arial" charset="0"/>
          <a:ea typeface="ＭＳ Ｐゴシック" charset="-128"/>
        </a:defRPr>
      </a:lvl3pPr>
      <a:lvl4pPr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606163"/>
          </a:solidFill>
          <a:latin typeface="Arial" charset="0"/>
          <a:ea typeface="ＭＳ Ｐゴシック" charset="-128"/>
        </a:defRPr>
      </a:lvl4pPr>
      <a:lvl5pPr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606163"/>
          </a:solidFill>
          <a:latin typeface="Arial" charset="0"/>
          <a:ea typeface="ＭＳ Ｐゴシック" charset="-128"/>
        </a:defRPr>
      </a:lvl5pPr>
      <a:lvl6pPr marL="270205"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C8C9CB"/>
          </a:solidFill>
          <a:latin typeface="Arial" charset="0"/>
          <a:ea typeface="ＭＳ Ｐゴシック" charset="-128"/>
        </a:defRPr>
      </a:lvl6pPr>
      <a:lvl7pPr marL="540410"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C8C9CB"/>
          </a:solidFill>
          <a:latin typeface="Arial" charset="0"/>
          <a:ea typeface="ＭＳ Ｐゴシック" charset="-128"/>
        </a:defRPr>
      </a:lvl7pPr>
      <a:lvl8pPr marL="810616"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C8C9CB"/>
          </a:solidFill>
          <a:latin typeface="Arial" charset="0"/>
          <a:ea typeface="ＭＳ Ｐゴシック" charset="-128"/>
        </a:defRPr>
      </a:lvl8pPr>
      <a:lvl9pPr marL="1080821" algn="l" defTabSz="456910" rtl="0" eaLnBrk="1" fontAlgn="base" hangingPunct="1">
        <a:spcBef>
          <a:spcPct val="0"/>
        </a:spcBef>
        <a:spcAft>
          <a:spcPct val="0"/>
        </a:spcAft>
        <a:defRPr sz="2100" b="1">
          <a:solidFill>
            <a:srgbClr val="C8C9CB"/>
          </a:solidFill>
          <a:latin typeface="Arial" charset="0"/>
          <a:ea typeface="ＭＳ Ｐゴシック" charset="-128"/>
        </a:defRPr>
      </a:lvl9pPr>
    </p:titleStyle>
    <p:bodyStyle>
      <a:lvl1pPr marL="161373" indent="-161373" algn="l" defTabSz="456910" rtl="0" eaLnBrk="1" fontAlgn="base" hangingPunct="1">
        <a:spcBef>
          <a:spcPts val="355"/>
        </a:spcBef>
        <a:spcAft>
          <a:spcPct val="0"/>
        </a:spcAft>
        <a:buSzPct val="80000"/>
        <a:buBlip>
          <a:blip r:embed="rId25"/>
        </a:buBlip>
        <a:defRPr sz="1400" kern="1200">
          <a:solidFill>
            <a:srgbClr val="606163"/>
          </a:solidFill>
          <a:latin typeface="Arial"/>
          <a:ea typeface="ＭＳ Ｐゴシック" charset="-128"/>
          <a:cs typeface="Arial"/>
        </a:defRPr>
      </a:lvl1pPr>
      <a:lvl2pPr marL="448466" indent="-161373" algn="l" defTabSz="456910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26"/>
        </a:buBlip>
        <a:defRPr sz="1400" kern="1200">
          <a:solidFill>
            <a:srgbClr val="606163"/>
          </a:solidFill>
          <a:latin typeface="Arial"/>
          <a:ea typeface="ＭＳ Ｐゴシック" charset="-128"/>
          <a:cs typeface="Arial"/>
        </a:defRPr>
      </a:lvl2pPr>
      <a:lvl3pPr marL="999197" indent="-161373" algn="l" defTabSz="456910" rtl="0" eaLnBrk="1" fontAlgn="base" hangingPunct="1">
        <a:spcBef>
          <a:spcPct val="20000"/>
        </a:spcBef>
        <a:spcAft>
          <a:spcPct val="0"/>
        </a:spcAft>
        <a:buSzPct val="40000"/>
        <a:buBlip>
          <a:blip r:embed="rId27"/>
        </a:buBlip>
        <a:defRPr sz="1400" kern="1200">
          <a:solidFill>
            <a:srgbClr val="606163"/>
          </a:solidFill>
          <a:latin typeface="Arial"/>
          <a:ea typeface="ＭＳ Ｐゴシック" charset="-128"/>
          <a:cs typeface="Arial"/>
        </a:defRPr>
      </a:lvl3pPr>
      <a:lvl4pPr marL="1599653" indent="-161373" algn="l" defTabSz="456910" rtl="0" eaLnBrk="1" fontAlgn="base" hangingPunct="1">
        <a:spcBef>
          <a:spcPct val="20000"/>
        </a:spcBef>
        <a:spcAft>
          <a:spcPct val="0"/>
        </a:spcAft>
        <a:buSzPct val="40000"/>
        <a:buBlip>
          <a:blip r:embed="rId27"/>
        </a:buBlip>
        <a:defRPr sz="1400" kern="1200">
          <a:solidFill>
            <a:srgbClr val="606163"/>
          </a:solidFill>
          <a:latin typeface="Arial"/>
          <a:ea typeface="ＭＳ Ｐゴシック" charset="-128"/>
          <a:cs typeface="Arial"/>
        </a:defRPr>
      </a:lvl4pPr>
      <a:lvl5pPr marL="2056562" indent="-161373" algn="l" defTabSz="456910" rtl="0" eaLnBrk="1" fontAlgn="base" hangingPunct="1">
        <a:spcBef>
          <a:spcPct val="20000"/>
        </a:spcBef>
        <a:spcAft>
          <a:spcPct val="0"/>
        </a:spcAft>
        <a:buSzPct val="40000"/>
        <a:buBlip>
          <a:blip r:embed="rId27"/>
        </a:buBlip>
        <a:defRPr sz="1400" kern="1200">
          <a:solidFill>
            <a:srgbClr val="606163"/>
          </a:solidFill>
          <a:latin typeface="Arial"/>
          <a:ea typeface="ＭＳ Ｐゴシック" charset="-128"/>
          <a:cs typeface="Arial"/>
        </a:defRPr>
      </a:lvl5pPr>
      <a:lvl6pPr marL="2514381" indent="-228580" algn="l" defTabSz="45716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41" indent="-228580" algn="l" defTabSz="45716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01" indent="-228580" algn="l" defTabSz="45716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62" indent="-228580" algn="l" defTabSz="45716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0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0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1" algn="l" defTabSz="4571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XML/" TargetMode="External"/><Relationship Id="rId4" Type="http://schemas.openxmlformats.org/officeDocument/2006/relationships/hyperlink" Target="http://xml.silmaril.ie/" TargetMode="External"/><Relationship Id="rId5" Type="http://schemas.openxmlformats.org/officeDocument/2006/relationships/hyperlink" Target="http://en.wikipedia.org/wiki/X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hyperlink" Target="http://admin.brightcove.com/dtds/beml_rt.dtd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img.brightcove.com/brightcove-logo.png" TargetMode="External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9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://docs.brightcove.com/en/player/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9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url.com/cat.jpg" TargetMode="External"/><Relationship Id="rId4" Type="http://schemas.openxmlformats.org/officeDocument/2006/relationships/hyperlink" Target="http://support.brightcove.com/en/docs/data-binding-player-templates" TargetMode="External"/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files.brightcove.com/BCL-Training-Logo-Small.png" TargetMode="External"/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9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8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0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1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2.jpe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hyperlink" Target="http://support.brightcove.com/en/docs/custom-player-themes" TargetMode="Externa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8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hyperlink" Target="http://forum.brightcove.com/" TargetMode="Externa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596209" y="6630945"/>
            <a:ext cx="184650" cy="58476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lIns="91432" tIns="45716" rIns="91432" bIns="45716" rtlCol="0" anchor="ctr">
            <a:prstTxWarp prst="textNoShape">
              <a:avLst/>
            </a:prstTxWarp>
            <a:spAutoFit/>
          </a:bodyPr>
          <a:lstStyle/>
          <a:p>
            <a:endParaRPr lang="en-US" sz="3200" dirty="0">
              <a:solidFill>
                <a:srgbClr val="E1E1E1"/>
              </a:solidFill>
              <a:latin typeface="Arial'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Creating Custom Players with BEML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Brightcove Video cloud training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 smtClean="0"/>
              <a:t>Introduction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92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Player Customization with BEML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600" dirty="0"/>
              <a:t>Designed to meet the needs of those responsible:</a:t>
            </a:r>
          </a:p>
          <a:p>
            <a:pPr lvl="1" eaLnBrk="1" hangingPunct="1"/>
            <a:r>
              <a:rPr lang="en-US" sz="1600" dirty="0"/>
              <a:t>Web developers and designers responsible </a:t>
            </a:r>
          </a:p>
          <a:p>
            <a:pPr lvl="2" eaLnBrk="1" hangingPunct="1">
              <a:buFontTx/>
              <a:buChar char="•"/>
            </a:pPr>
            <a:r>
              <a:rPr lang="en-US" sz="1600" dirty="0"/>
              <a:t>Designing</a:t>
            </a:r>
          </a:p>
          <a:p>
            <a:pPr lvl="2" eaLnBrk="1" hangingPunct="1">
              <a:buFontTx/>
              <a:buChar char="•"/>
            </a:pPr>
            <a:r>
              <a:rPr lang="en-US" sz="1600" dirty="0"/>
              <a:t>Styling</a:t>
            </a:r>
          </a:p>
          <a:p>
            <a:pPr lvl="2" eaLnBrk="1" hangingPunct="1">
              <a:buFontTx/>
              <a:buChar char="•"/>
            </a:pPr>
            <a:r>
              <a:rPr lang="en-US" sz="1600" dirty="0"/>
              <a:t>Publishing</a:t>
            </a:r>
          </a:p>
          <a:p>
            <a:pPr lvl="2" eaLnBrk="1" hangingPunct="1">
              <a:buFontTx/>
              <a:buChar char="•"/>
            </a:pPr>
            <a:r>
              <a:rPr lang="en-US" sz="1600" dirty="0"/>
              <a:t>Distributing video players</a:t>
            </a:r>
          </a:p>
          <a:p>
            <a:pPr lvl="1" eaLnBrk="1" hangingPunct="1"/>
            <a:r>
              <a:rPr lang="en-US" sz="1600" dirty="0"/>
              <a:t>A basic understanding of html and/or xml is </a:t>
            </a:r>
            <a:r>
              <a:rPr lang="en-US" sz="1600" i="1" u="sng" dirty="0"/>
              <a:t>required</a:t>
            </a:r>
            <a:r>
              <a:rPr lang="en-US" sz="1600" dirty="0"/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Introduction</a:t>
            </a:r>
            <a:endParaRPr lang="en-US" sz="1800" dirty="0" smtClean="0"/>
          </a:p>
          <a:p>
            <a:r>
              <a:rPr lang="en-US" sz="1800" dirty="0" smtClean="0"/>
              <a:t>Introduction </a:t>
            </a:r>
            <a:r>
              <a:rPr lang="en-US" sz="1800" dirty="0" smtClean="0"/>
              <a:t>to BEML</a:t>
            </a:r>
          </a:p>
          <a:p>
            <a:r>
              <a:rPr lang="en-US" sz="1800" dirty="0" smtClean="0"/>
              <a:t>Using BEML Components</a:t>
            </a:r>
          </a:p>
          <a:p>
            <a:r>
              <a:rPr lang="en-US" sz="1800" dirty="0" smtClean="0"/>
              <a:t>Using Layout Containers</a:t>
            </a:r>
            <a:endParaRPr lang="en-US" sz="1800" dirty="0" smtClean="0"/>
          </a:p>
          <a:p>
            <a:r>
              <a:rPr lang="en-US" sz="1800" dirty="0" smtClean="0"/>
              <a:t>Data</a:t>
            </a:r>
            <a:r>
              <a:rPr lang="en-US" sz="1800" dirty="0" smtClean="0"/>
              <a:t>-Binding</a:t>
            </a:r>
          </a:p>
          <a:p>
            <a:r>
              <a:rPr lang="en-US" sz="1800" dirty="0" smtClean="0"/>
              <a:t>Styling</a:t>
            </a:r>
          </a:p>
          <a:p>
            <a:endParaRPr lang="en-US" sz="1800" dirty="0" smtClean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259" name="Line 2"/>
          <p:cNvSpPr>
            <a:spLocks noChangeShapeType="1"/>
          </p:cNvSpPr>
          <p:nvPr/>
        </p:nvSpPr>
        <p:spPr bwMode="auto">
          <a:xfrm flipV="1">
            <a:off x="22860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260" name="Rectangle 3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Spectrum of Visual Customization</a:t>
            </a:r>
          </a:p>
        </p:txBody>
      </p:sp>
      <p:sp>
        <p:nvSpPr>
          <p:cNvPr id="1248261" name="Line 4"/>
          <p:cNvSpPr>
            <a:spLocks noChangeShapeType="1"/>
          </p:cNvSpPr>
          <p:nvPr/>
        </p:nvSpPr>
        <p:spPr bwMode="auto">
          <a:xfrm>
            <a:off x="8458200" y="2667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262" name="AutoShape 5"/>
          <p:cNvSpPr>
            <a:spLocks noChangeArrowheads="1"/>
          </p:cNvSpPr>
          <p:nvPr/>
        </p:nvSpPr>
        <p:spPr bwMode="auto">
          <a:xfrm>
            <a:off x="1066800" y="3048000"/>
            <a:ext cx="2438400" cy="1219200"/>
          </a:xfrm>
          <a:prstGeom prst="homePlate">
            <a:avLst>
              <a:gd name="adj" fmla="val 27139"/>
            </a:avLst>
          </a:prstGeom>
          <a:solidFill>
            <a:srgbClr val="76B2BA"/>
          </a:solidFill>
          <a:ln w="38100" cmpd="dbl">
            <a:solidFill>
              <a:srgbClr val="72AFB6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r>
              <a:rPr lang="en-US" b="1"/>
              <a:t> </a:t>
            </a:r>
          </a:p>
        </p:txBody>
      </p:sp>
      <p:sp>
        <p:nvSpPr>
          <p:cNvPr id="1248263" name="Rectangle 6"/>
          <p:cNvSpPr>
            <a:spLocks noChangeArrowheads="1"/>
          </p:cNvSpPr>
          <p:nvPr/>
        </p:nvSpPr>
        <p:spPr bwMode="auto">
          <a:xfrm>
            <a:off x="1066800" y="2133600"/>
            <a:ext cx="2438400" cy="381000"/>
          </a:xfrm>
          <a:prstGeom prst="rect">
            <a:avLst/>
          </a:prstGeom>
          <a:solidFill>
            <a:srgbClr val="76B2BA"/>
          </a:solidFill>
          <a:ln w="38100" cmpd="dbl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Publishing Module</a:t>
            </a:r>
          </a:p>
        </p:txBody>
      </p:sp>
      <p:sp>
        <p:nvSpPr>
          <p:cNvPr id="1248264" name="Text Box 7"/>
          <p:cNvSpPr txBox="1">
            <a:spLocks noChangeArrowheads="1"/>
          </p:cNvSpPr>
          <p:nvPr/>
        </p:nvSpPr>
        <p:spPr bwMode="auto">
          <a:xfrm>
            <a:off x="1143001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Out-of-the-Box Templates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Styling</a:t>
            </a:r>
          </a:p>
        </p:txBody>
      </p:sp>
      <p:sp>
        <p:nvSpPr>
          <p:cNvPr id="1248265" name="Line 8"/>
          <p:cNvSpPr>
            <a:spLocks noChangeShapeType="1"/>
          </p:cNvSpPr>
          <p:nvPr/>
        </p:nvSpPr>
        <p:spPr bwMode="auto">
          <a:xfrm>
            <a:off x="8458200" y="533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266" name="Rectangle 9"/>
          <p:cNvSpPr>
            <a:spLocks noChangeArrowheads="1"/>
          </p:cNvSpPr>
          <p:nvPr/>
        </p:nvSpPr>
        <p:spPr bwMode="auto">
          <a:xfrm>
            <a:off x="1066800" y="4800600"/>
            <a:ext cx="2438400" cy="381000"/>
          </a:xfrm>
          <a:prstGeom prst="rect">
            <a:avLst/>
          </a:prstGeom>
          <a:solidFill>
            <a:srgbClr val="76B2BA"/>
          </a:solidFill>
          <a:ln w="38100" cmpd="dbl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Basic Design</a:t>
            </a:r>
          </a:p>
        </p:txBody>
      </p:sp>
      <p:sp>
        <p:nvSpPr>
          <p:cNvPr id="1248267" name="Text Box 10"/>
          <p:cNvSpPr txBox="1">
            <a:spLocks noChangeArrowheads="1"/>
          </p:cNvSpPr>
          <p:nvPr/>
        </p:nvSpPr>
        <p:spPr bwMode="auto">
          <a:xfrm>
            <a:off x="733425" y="5257801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Skills</a:t>
            </a:r>
          </a:p>
        </p:txBody>
      </p:sp>
      <p:sp>
        <p:nvSpPr>
          <p:cNvPr id="1248268" name="Line 11"/>
          <p:cNvSpPr>
            <a:spLocks noChangeShapeType="1"/>
          </p:cNvSpPr>
          <p:nvPr/>
        </p:nvSpPr>
        <p:spPr bwMode="auto">
          <a:xfrm>
            <a:off x="914400" y="5654675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269" name="Text Box 12"/>
          <p:cNvSpPr txBox="1">
            <a:spLocks noChangeArrowheads="1"/>
          </p:cNvSpPr>
          <p:nvPr/>
        </p:nvSpPr>
        <p:spPr bwMode="auto">
          <a:xfrm>
            <a:off x="733425" y="1420813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Methods</a:t>
            </a:r>
          </a:p>
        </p:txBody>
      </p:sp>
      <p:sp>
        <p:nvSpPr>
          <p:cNvPr id="1248270" name="Line 13"/>
          <p:cNvSpPr>
            <a:spLocks noChangeShapeType="1"/>
          </p:cNvSpPr>
          <p:nvPr/>
        </p:nvSpPr>
        <p:spPr bwMode="auto">
          <a:xfrm>
            <a:off x="914400" y="1828800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271" name="Text Box 14"/>
          <p:cNvSpPr txBox="1">
            <a:spLocks noChangeArrowheads="1"/>
          </p:cNvSpPr>
          <p:nvPr/>
        </p:nvSpPr>
        <p:spPr bwMode="auto">
          <a:xfrm>
            <a:off x="228601" y="2711451"/>
            <a:ext cx="2314575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Design Capabilities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/>
              <a:t>Player Creation Process</a:t>
            </a:r>
          </a:p>
        </p:txBody>
      </p:sp>
      <p:sp>
        <p:nvSpPr>
          <p:cNvPr id="870414" name="Text Box 27"/>
          <p:cNvSpPr txBox="1">
            <a:spLocks noChangeArrowheads="1"/>
          </p:cNvSpPr>
          <p:nvPr/>
        </p:nvSpPr>
        <p:spPr bwMode="auto">
          <a:xfrm>
            <a:off x="2438400" y="4648200"/>
            <a:ext cx="3962400" cy="3693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/>
              <a:t>*Only if using a multiple video player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57200" y="2057400"/>
            <a:ext cx="1409700" cy="2362200"/>
            <a:chOff x="762000" y="1981200"/>
            <a:chExt cx="1409700" cy="2362200"/>
          </a:xfrm>
        </p:grpSpPr>
        <p:sp>
          <p:nvSpPr>
            <p:cNvPr id="21" name="Pentagon 20"/>
            <p:cNvSpPr/>
            <p:nvPr/>
          </p:nvSpPr>
          <p:spPr bwMode="auto">
            <a:xfrm>
              <a:off x="838200" y="1981200"/>
              <a:ext cx="1333500" cy="2362200"/>
            </a:xfrm>
            <a:prstGeom prst="homePlate">
              <a:avLst/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6" name="TextBox 28"/>
            <p:cNvSpPr txBox="1">
              <a:spLocks noChangeArrowheads="1"/>
            </p:cNvSpPr>
            <p:nvPr/>
          </p:nvSpPr>
          <p:spPr bwMode="auto">
            <a:xfrm>
              <a:off x="762000" y="2819400"/>
              <a:ext cx="137336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 smtClean="0"/>
                <a:t>Choose a Template</a:t>
              </a:r>
              <a:endParaRPr lang="en-US" dirty="0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1371600" y="2057400"/>
            <a:ext cx="1905000" cy="2362200"/>
            <a:chOff x="1524000" y="1981200"/>
            <a:chExt cx="1905000" cy="2362200"/>
          </a:xfrm>
        </p:grpSpPr>
        <p:sp>
          <p:nvSpPr>
            <p:cNvPr id="22" name="Chevron 21"/>
            <p:cNvSpPr/>
            <p:nvPr/>
          </p:nvSpPr>
          <p:spPr bwMode="auto">
            <a:xfrm>
              <a:off x="1524000" y="1981200"/>
              <a:ext cx="1905000" cy="2362200"/>
            </a:xfrm>
            <a:prstGeom prst="chevron">
              <a:avLst>
                <a:gd name="adj" fmla="val 34630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4" name="Rectangle 29"/>
            <p:cNvSpPr>
              <a:spLocks noChangeArrowheads="1"/>
            </p:cNvSpPr>
            <p:nvPr/>
          </p:nvSpPr>
          <p:spPr bwMode="auto">
            <a:xfrm>
              <a:off x="2057400" y="2819400"/>
              <a:ext cx="127521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Create a Player</a:t>
              </a: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2743200" y="2057400"/>
            <a:ext cx="1905000" cy="2362200"/>
            <a:chOff x="2743200" y="1981200"/>
            <a:chExt cx="1905000" cy="2362200"/>
          </a:xfrm>
        </p:grpSpPr>
        <p:sp>
          <p:nvSpPr>
            <p:cNvPr id="24" name="Chevron 23"/>
            <p:cNvSpPr/>
            <p:nvPr/>
          </p:nvSpPr>
          <p:spPr bwMode="auto">
            <a:xfrm>
              <a:off x="2743200" y="1981200"/>
              <a:ext cx="1905000" cy="2362200"/>
            </a:xfrm>
            <a:prstGeom prst="chevron">
              <a:avLst>
                <a:gd name="adj" fmla="val 34723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2" name="Rectangle 30"/>
            <p:cNvSpPr>
              <a:spLocks noChangeArrowheads="1"/>
            </p:cNvSpPr>
            <p:nvPr/>
          </p:nvSpPr>
          <p:spPr bwMode="auto">
            <a:xfrm>
              <a:off x="3337621" y="2819400"/>
              <a:ext cx="131057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Configure</a:t>
              </a:r>
              <a:r>
                <a:rPr lang="en-US" dirty="0" smtClean="0"/>
                <a:t> Settings</a:t>
              </a:r>
              <a:endParaRPr lang="en-US" dirty="0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4114800" y="2057400"/>
            <a:ext cx="1905000" cy="2362200"/>
            <a:chOff x="3962400" y="1981200"/>
            <a:chExt cx="1905000" cy="2362200"/>
          </a:xfrm>
        </p:grpSpPr>
        <p:sp>
          <p:nvSpPr>
            <p:cNvPr id="25" name="Chevron 24"/>
            <p:cNvSpPr/>
            <p:nvPr/>
          </p:nvSpPr>
          <p:spPr bwMode="auto">
            <a:xfrm>
              <a:off x="3962400" y="1981200"/>
              <a:ext cx="1905000" cy="2362200"/>
            </a:xfrm>
            <a:prstGeom prst="chevron">
              <a:avLst>
                <a:gd name="adj" fmla="val 34167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0" name="Rectangle 31"/>
            <p:cNvSpPr>
              <a:spLocks noChangeArrowheads="1"/>
            </p:cNvSpPr>
            <p:nvPr/>
          </p:nvSpPr>
          <p:spPr bwMode="auto">
            <a:xfrm>
              <a:off x="4495800" y="2819400"/>
              <a:ext cx="13716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Customize</a:t>
              </a:r>
              <a:r>
                <a:rPr lang="en-US" dirty="0" smtClean="0"/>
                <a:t> Style</a:t>
              </a:r>
              <a:endParaRPr lang="en-US" dirty="0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486400" y="2057400"/>
            <a:ext cx="1905000" cy="2362200"/>
            <a:chOff x="5181600" y="1981200"/>
            <a:chExt cx="1905000" cy="2362200"/>
          </a:xfrm>
        </p:grpSpPr>
        <p:sp>
          <p:nvSpPr>
            <p:cNvPr id="26" name="Chevron 25"/>
            <p:cNvSpPr/>
            <p:nvPr/>
          </p:nvSpPr>
          <p:spPr bwMode="auto">
            <a:xfrm>
              <a:off x="5181600" y="1981200"/>
              <a:ext cx="1905000" cy="2362200"/>
            </a:xfrm>
            <a:prstGeom prst="chevron">
              <a:avLst>
                <a:gd name="adj" fmla="val 34260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78" name="Rectangle 32"/>
            <p:cNvSpPr>
              <a:spLocks noChangeArrowheads="1"/>
            </p:cNvSpPr>
            <p:nvPr/>
          </p:nvSpPr>
          <p:spPr bwMode="auto">
            <a:xfrm>
              <a:off x="5730938" y="2819400"/>
              <a:ext cx="127946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Preview</a:t>
              </a:r>
              <a:r>
                <a:rPr lang="en-US" dirty="0" smtClean="0"/>
                <a:t> Player</a:t>
              </a:r>
              <a:endParaRPr lang="en-US" dirty="0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6858000" y="2057400"/>
            <a:ext cx="1905000" cy="2362200"/>
            <a:chOff x="6400800" y="1981200"/>
            <a:chExt cx="1905000" cy="2362200"/>
          </a:xfrm>
        </p:grpSpPr>
        <p:sp>
          <p:nvSpPr>
            <p:cNvPr id="27" name="Chevron 26"/>
            <p:cNvSpPr/>
            <p:nvPr/>
          </p:nvSpPr>
          <p:spPr bwMode="auto">
            <a:xfrm>
              <a:off x="6400800" y="1981200"/>
              <a:ext cx="1905000" cy="2362200"/>
            </a:xfrm>
            <a:prstGeom prst="chevron">
              <a:avLst>
                <a:gd name="adj" fmla="val 33612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75" name="Rectangle 33"/>
            <p:cNvSpPr>
              <a:spLocks noChangeArrowheads="1"/>
            </p:cNvSpPr>
            <p:nvPr/>
          </p:nvSpPr>
          <p:spPr bwMode="auto">
            <a:xfrm>
              <a:off x="6934200" y="2819400"/>
              <a:ext cx="132867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Add </a:t>
              </a:r>
              <a:r>
                <a:rPr lang="en-US" dirty="0" err="1"/>
                <a:t>Playlist(s</a:t>
              </a:r>
              <a:r>
                <a:rPr lang="en-US" dirty="0"/>
                <a:t>)</a:t>
              </a:r>
            </a:p>
          </p:txBody>
        </p:sp>
        <p:sp>
          <p:nvSpPr>
            <p:cNvPr id="344076" name="TextBox 34"/>
            <p:cNvSpPr txBox="1">
              <a:spLocks noChangeArrowheads="1"/>
            </p:cNvSpPr>
            <p:nvPr/>
          </p:nvSpPr>
          <p:spPr bwMode="auto">
            <a:xfrm>
              <a:off x="8016332" y="2971800"/>
              <a:ext cx="27449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/>
                <a:t>*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54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Customizing Out of the Box Templates</a:t>
            </a:r>
            <a:endParaRPr lang="en-US" dirty="0"/>
          </a:p>
        </p:txBody>
      </p:sp>
      <p:sp>
        <p:nvSpPr>
          <p:cNvPr id="1260548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 eaLnBrk="1" hangingPunct="1"/>
            <a:r>
              <a:rPr lang="en-US" sz="1800" dirty="0" smtClean="0"/>
              <a:t>Out of the box templates can’t be modified beyond styling and (in some cases) resizing</a:t>
            </a:r>
          </a:p>
          <a:p>
            <a:pPr lvl="1" eaLnBrk="1" hangingPunct="1"/>
            <a:r>
              <a:rPr lang="en-US" sz="1800" dirty="0" smtClean="0"/>
              <a:t>They can be duplicated, and the copies can be modified using BEML – good way to get started with BEML</a:t>
            </a:r>
          </a:p>
          <a:p>
            <a:pPr lvl="1" eaLnBrk="1" hangingPunct="1"/>
            <a:endParaRPr lang="en-US" sz="1800" dirty="0"/>
          </a:p>
          <a:p>
            <a:pPr lvl="1" eaLnBrk="1" hangingPunct="1"/>
            <a:endParaRPr lang="en-US" sz="1800" dirty="0"/>
          </a:p>
          <a:p>
            <a:pPr lvl="1" eaLnBrk="1" hangingPunct="1"/>
            <a:endParaRPr lang="en-US" sz="1800" dirty="0"/>
          </a:p>
          <a:p>
            <a:pPr lvl="1" eaLnBrk="1" hangingPunct="1">
              <a:buFontTx/>
              <a:buNone/>
            </a:pP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739" name="Line 2"/>
          <p:cNvSpPr>
            <a:spLocks noChangeShapeType="1"/>
          </p:cNvSpPr>
          <p:nvPr/>
        </p:nvSpPr>
        <p:spPr bwMode="auto">
          <a:xfrm flipV="1">
            <a:off x="46482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40" name="AutoShape 3"/>
          <p:cNvSpPr>
            <a:spLocks noChangeArrowheads="1"/>
          </p:cNvSpPr>
          <p:nvPr/>
        </p:nvSpPr>
        <p:spPr bwMode="auto">
          <a:xfrm>
            <a:off x="3429000" y="3048000"/>
            <a:ext cx="2514600" cy="1219200"/>
          </a:xfrm>
          <a:prstGeom prst="chevron">
            <a:avLst>
              <a:gd name="adj" fmla="val 27261"/>
            </a:avLst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268741" name="Line 4"/>
          <p:cNvSpPr>
            <a:spLocks noChangeShapeType="1"/>
          </p:cNvSpPr>
          <p:nvPr/>
        </p:nvSpPr>
        <p:spPr bwMode="auto">
          <a:xfrm flipV="1">
            <a:off x="22860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42" name="Rectangle 5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Spectrum of Visual Customization</a:t>
            </a:r>
          </a:p>
        </p:txBody>
      </p:sp>
      <p:sp>
        <p:nvSpPr>
          <p:cNvPr id="1268743" name="Line 6"/>
          <p:cNvSpPr>
            <a:spLocks noChangeShapeType="1"/>
          </p:cNvSpPr>
          <p:nvPr/>
        </p:nvSpPr>
        <p:spPr bwMode="auto">
          <a:xfrm>
            <a:off x="8458200" y="2667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44" name="AutoShape 7"/>
          <p:cNvSpPr>
            <a:spLocks noChangeArrowheads="1"/>
          </p:cNvSpPr>
          <p:nvPr/>
        </p:nvSpPr>
        <p:spPr bwMode="auto">
          <a:xfrm>
            <a:off x="1066800" y="3048000"/>
            <a:ext cx="2438400" cy="1219200"/>
          </a:xfrm>
          <a:prstGeom prst="homePlate">
            <a:avLst>
              <a:gd name="adj" fmla="val 27139"/>
            </a:avLst>
          </a:prstGeom>
          <a:solidFill>
            <a:srgbClr val="76B2BA"/>
          </a:solidFill>
          <a:ln w="9525">
            <a:solidFill>
              <a:srgbClr val="72AFB6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268745" name="Rectangle 8"/>
          <p:cNvSpPr>
            <a:spLocks noChangeArrowheads="1"/>
          </p:cNvSpPr>
          <p:nvPr/>
        </p:nvSpPr>
        <p:spPr bwMode="auto">
          <a:xfrm>
            <a:off x="1066800" y="2133600"/>
            <a:ext cx="2438400" cy="381000"/>
          </a:xfrm>
          <a:prstGeom prst="rect">
            <a:avLst/>
          </a:prstGeom>
          <a:solidFill>
            <a:srgbClr val="76B2BA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Publishing Module</a:t>
            </a:r>
          </a:p>
        </p:txBody>
      </p:sp>
      <p:sp>
        <p:nvSpPr>
          <p:cNvPr id="1268746" name="Text Box 9"/>
          <p:cNvSpPr txBox="1">
            <a:spLocks noChangeArrowheads="1"/>
          </p:cNvSpPr>
          <p:nvPr/>
        </p:nvSpPr>
        <p:spPr bwMode="auto">
          <a:xfrm>
            <a:off x="1143001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Out-of-the-Box Templates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Styling</a:t>
            </a:r>
          </a:p>
        </p:txBody>
      </p:sp>
      <p:sp>
        <p:nvSpPr>
          <p:cNvPr id="1268747" name="Text Box 10"/>
          <p:cNvSpPr txBox="1">
            <a:spLocks noChangeArrowheads="1"/>
          </p:cNvSpPr>
          <p:nvPr/>
        </p:nvSpPr>
        <p:spPr bwMode="auto">
          <a:xfrm>
            <a:off x="3657600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Layout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Size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CSS</a:t>
            </a:r>
          </a:p>
        </p:txBody>
      </p:sp>
      <p:sp>
        <p:nvSpPr>
          <p:cNvPr id="1268748" name="Rectangle 11"/>
          <p:cNvSpPr>
            <a:spLocks noChangeArrowheads="1"/>
          </p:cNvSpPr>
          <p:nvPr/>
        </p:nvSpPr>
        <p:spPr bwMode="auto">
          <a:xfrm>
            <a:off x="3505200" y="2133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BEML</a:t>
            </a:r>
          </a:p>
        </p:txBody>
      </p:sp>
      <p:sp>
        <p:nvSpPr>
          <p:cNvPr id="1268749" name="Line 12"/>
          <p:cNvSpPr>
            <a:spLocks noChangeShapeType="1"/>
          </p:cNvSpPr>
          <p:nvPr/>
        </p:nvSpPr>
        <p:spPr bwMode="auto">
          <a:xfrm>
            <a:off x="8458200" y="533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50" name="Rectangle 13"/>
          <p:cNvSpPr>
            <a:spLocks noChangeArrowheads="1"/>
          </p:cNvSpPr>
          <p:nvPr/>
        </p:nvSpPr>
        <p:spPr bwMode="auto">
          <a:xfrm>
            <a:off x="1066800" y="4800600"/>
            <a:ext cx="2438400" cy="381000"/>
          </a:xfrm>
          <a:prstGeom prst="rect">
            <a:avLst/>
          </a:prstGeom>
          <a:solidFill>
            <a:srgbClr val="76B2BA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Basic Design</a:t>
            </a:r>
          </a:p>
        </p:txBody>
      </p:sp>
      <p:sp>
        <p:nvSpPr>
          <p:cNvPr id="1268751" name="Rectangle 14"/>
          <p:cNvSpPr>
            <a:spLocks noChangeArrowheads="1"/>
          </p:cNvSpPr>
          <p:nvPr/>
        </p:nvSpPr>
        <p:spPr bwMode="auto">
          <a:xfrm>
            <a:off x="3505200" y="4800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HTML / XML</a:t>
            </a:r>
          </a:p>
        </p:txBody>
      </p:sp>
      <p:sp>
        <p:nvSpPr>
          <p:cNvPr id="1268752" name="Text Box 15"/>
          <p:cNvSpPr txBox="1">
            <a:spLocks noChangeArrowheads="1"/>
          </p:cNvSpPr>
          <p:nvPr/>
        </p:nvSpPr>
        <p:spPr bwMode="auto">
          <a:xfrm>
            <a:off x="733425" y="5257801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Skills</a:t>
            </a:r>
          </a:p>
        </p:txBody>
      </p:sp>
      <p:sp>
        <p:nvSpPr>
          <p:cNvPr id="1268753" name="Line 16"/>
          <p:cNvSpPr>
            <a:spLocks noChangeShapeType="1"/>
          </p:cNvSpPr>
          <p:nvPr/>
        </p:nvSpPr>
        <p:spPr bwMode="auto">
          <a:xfrm>
            <a:off x="914400" y="5654675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54" name="Text Box 17"/>
          <p:cNvSpPr txBox="1">
            <a:spLocks noChangeArrowheads="1"/>
          </p:cNvSpPr>
          <p:nvPr/>
        </p:nvSpPr>
        <p:spPr bwMode="auto">
          <a:xfrm>
            <a:off x="733425" y="1420813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Methods</a:t>
            </a:r>
          </a:p>
        </p:txBody>
      </p:sp>
      <p:sp>
        <p:nvSpPr>
          <p:cNvPr id="1268755" name="Line 18"/>
          <p:cNvSpPr>
            <a:spLocks noChangeShapeType="1"/>
          </p:cNvSpPr>
          <p:nvPr/>
        </p:nvSpPr>
        <p:spPr bwMode="auto">
          <a:xfrm>
            <a:off x="914400" y="1828800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756" name="Text Box 19"/>
          <p:cNvSpPr txBox="1">
            <a:spLocks noChangeArrowheads="1"/>
          </p:cNvSpPr>
          <p:nvPr/>
        </p:nvSpPr>
        <p:spPr bwMode="auto">
          <a:xfrm>
            <a:off x="228601" y="2711451"/>
            <a:ext cx="2314575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Design Capabilities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/>
              <a:t>Player Creation Process</a:t>
            </a:r>
          </a:p>
        </p:txBody>
      </p:sp>
      <p:sp>
        <p:nvSpPr>
          <p:cNvPr id="870414" name="Text Box 27"/>
          <p:cNvSpPr txBox="1">
            <a:spLocks noChangeArrowheads="1"/>
          </p:cNvSpPr>
          <p:nvPr/>
        </p:nvSpPr>
        <p:spPr bwMode="auto">
          <a:xfrm>
            <a:off x="2438400" y="4648200"/>
            <a:ext cx="3962400" cy="3693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/>
              <a:t>*Only if using a multiple video player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57200" y="2057400"/>
            <a:ext cx="1409700" cy="2362200"/>
            <a:chOff x="762000" y="1981200"/>
            <a:chExt cx="1409700" cy="2362200"/>
          </a:xfrm>
        </p:grpSpPr>
        <p:sp>
          <p:nvSpPr>
            <p:cNvPr id="21" name="Pentagon 20"/>
            <p:cNvSpPr/>
            <p:nvPr/>
          </p:nvSpPr>
          <p:spPr bwMode="auto">
            <a:xfrm>
              <a:off x="838200" y="1981200"/>
              <a:ext cx="1333500" cy="2362200"/>
            </a:xfrm>
            <a:prstGeom prst="homePlate">
              <a:avLst/>
            </a:prstGeom>
            <a:gradFill flip="none" rotWithShape="1">
              <a:gsLst>
                <a:gs pos="0">
                  <a:srgbClr val="AFBD21"/>
                </a:gs>
                <a:gs pos="100000">
                  <a:srgbClr val="E8FFAF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6" name="TextBox 28"/>
            <p:cNvSpPr txBox="1">
              <a:spLocks noChangeArrowheads="1"/>
            </p:cNvSpPr>
            <p:nvPr/>
          </p:nvSpPr>
          <p:spPr bwMode="auto">
            <a:xfrm>
              <a:off x="762000" y="2743200"/>
              <a:ext cx="1373365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 smtClean="0"/>
                <a:t>Create a BEML Template</a:t>
              </a:r>
              <a:endParaRPr lang="en-US" dirty="0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1371600" y="2057400"/>
            <a:ext cx="1905000" cy="2362200"/>
            <a:chOff x="1524000" y="1981200"/>
            <a:chExt cx="1905000" cy="2362200"/>
          </a:xfrm>
        </p:grpSpPr>
        <p:sp>
          <p:nvSpPr>
            <p:cNvPr id="22" name="Chevron 21"/>
            <p:cNvSpPr/>
            <p:nvPr/>
          </p:nvSpPr>
          <p:spPr bwMode="auto">
            <a:xfrm>
              <a:off x="1524000" y="1981200"/>
              <a:ext cx="1905000" cy="2362200"/>
            </a:xfrm>
            <a:prstGeom prst="chevron">
              <a:avLst>
                <a:gd name="adj" fmla="val 34630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4" name="Rectangle 29"/>
            <p:cNvSpPr>
              <a:spLocks noChangeArrowheads="1"/>
            </p:cNvSpPr>
            <p:nvPr/>
          </p:nvSpPr>
          <p:spPr bwMode="auto">
            <a:xfrm>
              <a:off x="2057400" y="2819400"/>
              <a:ext cx="1275217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Create a Player</a:t>
              </a: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2743200" y="2057400"/>
            <a:ext cx="1905000" cy="2362200"/>
            <a:chOff x="2743200" y="1981200"/>
            <a:chExt cx="1905000" cy="2362200"/>
          </a:xfrm>
        </p:grpSpPr>
        <p:sp>
          <p:nvSpPr>
            <p:cNvPr id="24" name="Chevron 23"/>
            <p:cNvSpPr/>
            <p:nvPr/>
          </p:nvSpPr>
          <p:spPr bwMode="auto">
            <a:xfrm>
              <a:off x="2743200" y="1981200"/>
              <a:ext cx="1905000" cy="2362200"/>
            </a:xfrm>
            <a:prstGeom prst="chevron">
              <a:avLst>
                <a:gd name="adj" fmla="val 34723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2" name="Rectangle 30"/>
            <p:cNvSpPr>
              <a:spLocks noChangeArrowheads="1"/>
            </p:cNvSpPr>
            <p:nvPr/>
          </p:nvSpPr>
          <p:spPr bwMode="auto">
            <a:xfrm>
              <a:off x="3337621" y="2819400"/>
              <a:ext cx="131057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Configure</a:t>
              </a:r>
              <a:r>
                <a:rPr lang="en-US" dirty="0" smtClean="0"/>
                <a:t> Settings</a:t>
              </a:r>
              <a:endParaRPr lang="en-US" dirty="0"/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4114800" y="2057400"/>
            <a:ext cx="1905000" cy="2362200"/>
            <a:chOff x="3962400" y="1981200"/>
            <a:chExt cx="1905000" cy="2362200"/>
          </a:xfrm>
        </p:grpSpPr>
        <p:sp>
          <p:nvSpPr>
            <p:cNvPr id="25" name="Chevron 24"/>
            <p:cNvSpPr/>
            <p:nvPr/>
          </p:nvSpPr>
          <p:spPr bwMode="auto">
            <a:xfrm>
              <a:off x="3962400" y="1981200"/>
              <a:ext cx="1905000" cy="2362200"/>
            </a:xfrm>
            <a:prstGeom prst="chevron">
              <a:avLst>
                <a:gd name="adj" fmla="val 34167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80" name="Rectangle 31"/>
            <p:cNvSpPr>
              <a:spLocks noChangeArrowheads="1"/>
            </p:cNvSpPr>
            <p:nvPr/>
          </p:nvSpPr>
          <p:spPr bwMode="auto">
            <a:xfrm>
              <a:off x="4495800" y="2819400"/>
              <a:ext cx="13716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Customize</a:t>
              </a:r>
              <a:r>
                <a:rPr lang="en-US" dirty="0" smtClean="0"/>
                <a:t> Style</a:t>
              </a:r>
              <a:endParaRPr lang="en-US" dirty="0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486400" y="2057400"/>
            <a:ext cx="1905000" cy="2362200"/>
            <a:chOff x="5181600" y="1981200"/>
            <a:chExt cx="1905000" cy="2362200"/>
          </a:xfrm>
        </p:grpSpPr>
        <p:sp>
          <p:nvSpPr>
            <p:cNvPr id="26" name="Chevron 25"/>
            <p:cNvSpPr/>
            <p:nvPr/>
          </p:nvSpPr>
          <p:spPr bwMode="auto">
            <a:xfrm>
              <a:off x="5181600" y="1981200"/>
              <a:ext cx="1905000" cy="2362200"/>
            </a:xfrm>
            <a:prstGeom prst="chevron">
              <a:avLst>
                <a:gd name="adj" fmla="val 34260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78" name="Rectangle 32"/>
            <p:cNvSpPr>
              <a:spLocks noChangeArrowheads="1"/>
            </p:cNvSpPr>
            <p:nvPr/>
          </p:nvSpPr>
          <p:spPr bwMode="auto">
            <a:xfrm>
              <a:off x="5730938" y="2819400"/>
              <a:ext cx="127946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Preview</a:t>
              </a:r>
              <a:r>
                <a:rPr lang="en-US" dirty="0" smtClean="0"/>
                <a:t> Player</a:t>
              </a:r>
              <a:endParaRPr lang="en-US" dirty="0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6858000" y="2057400"/>
            <a:ext cx="1905000" cy="2362200"/>
            <a:chOff x="6400800" y="1981200"/>
            <a:chExt cx="1905000" cy="2362200"/>
          </a:xfrm>
        </p:grpSpPr>
        <p:sp>
          <p:nvSpPr>
            <p:cNvPr id="27" name="Chevron 26"/>
            <p:cNvSpPr/>
            <p:nvPr/>
          </p:nvSpPr>
          <p:spPr bwMode="auto">
            <a:xfrm>
              <a:off x="6400800" y="1981200"/>
              <a:ext cx="1905000" cy="2362200"/>
            </a:xfrm>
            <a:prstGeom prst="chevron">
              <a:avLst>
                <a:gd name="adj" fmla="val 33612"/>
              </a:avLst>
            </a:prstGeom>
            <a:gradFill flip="none" rotWithShape="1">
              <a:gsLst>
                <a:gs pos="0">
                  <a:srgbClr val="76B2BA"/>
                </a:gs>
                <a:gs pos="100000">
                  <a:srgbClr val="D2E7E9"/>
                </a:gs>
              </a:gsLst>
              <a:lin ang="5400000" scaled="0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44075" name="Rectangle 33"/>
            <p:cNvSpPr>
              <a:spLocks noChangeArrowheads="1"/>
            </p:cNvSpPr>
            <p:nvPr/>
          </p:nvSpPr>
          <p:spPr bwMode="auto">
            <a:xfrm>
              <a:off x="6934200" y="2819400"/>
              <a:ext cx="132867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dirty="0"/>
                <a:t>Add </a:t>
              </a:r>
              <a:r>
                <a:rPr lang="en-US" dirty="0" err="1"/>
                <a:t>Playlist(s</a:t>
              </a:r>
              <a:r>
                <a:rPr lang="en-US" dirty="0"/>
                <a:t>)</a:t>
              </a:r>
            </a:p>
          </p:txBody>
        </p:sp>
        <p:sp>
          <p:nvSpPr>
            <p:cNvPr id="344076" name="TextBox 34"/>
            <p:cNvSpPr txBox="1">
              <a:spLocks noChangeArrowheads="1"/>
            </p:cNvSpPr>
            <p:nvPr/>
          </p:nvSpPr>
          <p:spPr bwMode="auto">
            <a:xfrm>
              <a:off x="8016332" y="2971800"/>
              <a:ext cx="27449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/>
                <a:t>*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BEML = XML!</a:t>
            </a:r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>
          <a:xfrm>
            <a:off x="285677" y="1066800"/>
            <a:ext cx="8378769" cy="5105400"/>
          </a:xfrm>
        </p:spPr>
        <p:txBody>
          <a:bodyPr/>
          <a:lstStyle/>
          <a:p>
            <a:pPr eaLnBrk="1" hangingPunct="1"/>
            <a:r>
              <a:rPr lang="en-US" sz="1800" b="1" dirty="0" smtClean="0"/>
              <a:t>The </a:t>
            </a:r>
            <a:r>
              <a:rPr lang="en-US" sz="1800" b="1" dirty="0"/>
              <a:t>basics of XML</a:t>
            </a:r>
            <a:endParaRPr lang="en-US" sz="1800" b="1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>
              <a:buNone/>
            </a:pPr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800" dirty="0" smtClean="0"/>
          </a:p>
          <a:p>
            <a:pPr lvl="1" eaLnBrk="1" hangingPunct="1"/>
            <a:endParaRPr lang="en-US" sz="1600" dirty="0" smtClean="0"/>
          </a:p>
          <a:p>
            <a:pPr lvl="1" eaLnBrk="1" hangingPunct="1"/>
            <a:r>
              <a:rPr lang="en-US" sz="1600" dirty="0" smtClean="0"/>
              <a:t>At </a:t>
            </a:r>
            <a:r>
              <a:rPr lang="en-US" sz="1600" dirty="0"/>
              <a:t>W3C </a:t>
            </a:r>
            <a:r>
              <a:rPr lang="en-US" sz="1600" dirty="0">
                <a:hlinkClick r:id="rId3"/>
              </a:rPr>
              <a:t>http://www.w3.org/XML/</a:t>
            </a:r>
            <a:r>
              <a:rPr lang="en-US" sz="1600" dirty="0"/>
              <a:t>) </a:t>
            </a:r>
          </a:p>
          <a:p>
            <a:pPr lvl="1" eaLnBrk="1" hangingPunct="1"/>
            <a:r>
              <a:rPr lang="en-US" sz="1600" dirty="0"/>
              <a:t>The XML FAQ (</a:t>
            </a:r>
            <a:r>
              <a:rPr lang="en-US" sz="1600" dirty="0">
                <a:hlinkClick r:id="rId4"/>
              </a:rPr>
              <a:t>http://xml.silmaril.ie/</a:t>
            </a:r>
            <a:r>
              <a:rPr lang="en-US" sz="1600" dirty="0"/>
              <a:t>) </a:t>
            </a:r>
          </a:p>
          <a:p>
            <a:pPr lvl="1" eaLnBrk="1" hangingPunct="1"/>
            <a:r>
              <a:rPr lang="en-US" sz="1600" dirty="0"/>
              <a:t>At Wikipedia (</a:t>
            </a:r>
            <a:r>
              <a:rPr lang="en-US" sz="1600" dirty="0">
                <a:hlinkClick r:id="rId5"/>
              </a:rPr>
              <a:t>http://en.wikipedia.org/wiki/XML</a:t>
            </a:r>
            <a:r>
              <a:rPr lang="en-US" sz="1600" dirty="0"/>
              <a:t>) </a:t>
            </a:r>
          </a:p>
          <a:p>
            <a:pPr>
              <a:buFontTx/>
              <a:buNone/>
            </a:pPr>
            <a:endParaRPr lang="en-US" sz="1600" dirty="0"/>
          </a:p>
        </p:txBody>
      </p:sp>
      <p:sp>
        <p:nvSpPr>
          <p:cNvPr id="1278980" name="Rectangle 3"/>
          <p:cNvSpPr>
            <a:spLocks noChangeArrowheads="1"/>
          </p:cNvSpPr>
          <p:nvPr/>
        </p:nvSpPr>
        <p:spPr bwMode="auto">
          <a:xfrm>
            <a:off x="2819400" y="2060377"/>
            <a:ext cx="3962400" cy="28926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&lt;Runtime&gt;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	&lt;Theme name="Deluxe" style="Light" /&gt; </a:t>
            </a:r>
            <a:endParaRPr lang="en-US" sz="1400" dirty="0" smtClean="0">
              <a:solidFill>
                <a:srgbClr val="3B3B3B"/>
              </a:solidFill>
            </a:endParaRPr>
          </a:p>
          <a:p>
            <a:r>
              <a:rPr lang="en-US" sz="1400" dirty="0" smtClean="0">
                <a:solidFill>
                  <a:srgbClr val="3B3B3B"/>
                </a:solidFill>
              </a:rPr>
              <a:t>      &lt;!-- This is an XML comment </a:t>
            </a:r>
            <a:r>
              <a:rPr lang="en-US" sz="1400" dirty="0" smtClean="0">
                <a:solidFill>
                  <a:srgbClr val="3B3B3B"/>
                </a:solidFill>
                <a:sym typeface="Wingdings"/>
              </a:rPr>
              <a:t>--&gt;</a:t>
            </a:r>
            <a:r>
              <a:rPr lang="en-US" sz="1400" dirty="0" smtClean="0">
                <a:solidFill>
                  <a:srgbClr val="3B3B3B"/>
                </a:solidFill>
              </a:rPr>
              <a:t>    </a:t>
            </a:r>
          </a:p>
          <a:p>
            <a:r>
              <a:rPr lang="en-US" sz="1400" dirty="0" smtClean="0">
                <a:solidFill>
                  <a:srgbClr val="3B3B3B"/>
                </a:solidFill>
              </a:rPr>
              <a:t>     </a:t>
            </a:r>
            <a:r>
              <a:rPr lang="en-US" sz="1400" dirty="0" smtClean="0"/>
              <a:t>&lt;Style id='default'&gt;</a:t>
            </a:r>
          </a:p>
          <a:p>
            <a:r>
              <a:rPr lang="en-US" sz="1400" dirty="0" smtClean="0"/>
              <a:t>      &lt;![</a:t>
            </a:r>
            <a:r>
              <a:rPr lang="en-US" sz="1400" dirty="0" err="1" smtClean="0"/>
              <a:t>CDATA[.titleText</a:t>
            </a:r>
            <a:r>
              <a:rPr lang="en-US" sz="1400" dirty="0" smtClean="0"/>
              <a:t> {size: 12;}.}]]&gt;</a:t>
            </a:r>
          </a:p>
          <a:p>
            <a:r>
              <a:rPr lang="en-US" sz="1400" dirty="0" smtClean="0"/>
              <a:t>    &lt;/Style&gt;</a:t>
            </a:r>
          </a:p>
          <a:p>
            <a:r>
              <a:rPr lang="en-US" sz="1400" dirty="0" smtClean="0">
                <a:solidFill>
                  <a:srgbClr val="3B3B3B"/>
                </a:solidFill>
              </a:rPr>
              <a:t>&lt;</a:t>
            </a:r>
            <a:r>
              <a:rPr lang="en-US" sz="1400" dirty="0">
                <a:solidFill>
                  <a:srgbClr val="3B3B3B"/>
                </a:solidFill>
              </a:rPr>
              <a:t>Layout width="486" height="416"&gt;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	      &lt;</a:t>
            </a:r>
            <a:r>
              <a:rPr lang="en-US" sz="1400" dirty="0" err="1">
                <a:solidFill>
                  <a:srgbClr val="3B3B3B"/>
                </a:solidFill>
              </a:rPr>
              <a:t>VBox</a:t>
            </a:r>
            <a:r>
              <a:rPr lang="en-US" sz="1400" dirty="0">
                <a:solidFill>
                  <a:srgbClr val="3B3B3B"/>
                </a:solidFill>
              </a:rPr>
              <a:t> padding="3"&gt;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		&lt;</a:t>
            </a:r>
            <a:r>
              <a:rPr lang="en-US" sz="1400" dirty="0" err="1">
                <a:solidFill>
                  <a:srgbClr val="3B3B3B"/>
                </a:solidFill>
              </a:rPr>
              <a:t>VideoPlayer</a:t>
            </a:r>
            <a:r>
              <a:rPr lang="en-US" sz="1400" dirty="0">
                <a:solidFill>
                  <a:srgbClr val="3B3B3B"/>
                </a:solidFill>
              </a:rPr>
              <a:t> id="</a:t>
            </a:r>
            <a:r>
              <a:rPr lang="en-US" sz="1400" dirty="0" err="1">
                <a:solidFill>
                  <a:srgbClr val="3B3B3B"/>
                </a:solidFill>
              </a:rPr>
              <a:t>videoPlayer</a:t>
            </a:r>
            <a:r>
              <a:rPr lang="en-US" sz="1400" dirty="0">
                <a:solidFill>
                  <a:srgbClr val="3B3B3B"/>
                </a:solidFill>
              </a:rPr>
              <a:t>" /&gt; 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	      &lt;/</a:t>
            </a:r>
            <a:r>
              <a:rPr lang="en-US" sz="1400" dirty="0" err="1">
                <a:solidFill>
                  <a:srgbClr val="3B3B3B"/>
                </a:solidFill>
              </a:rPr>
              <a:t>VBox</a:t>
            </a:r>
            <a:r>
              <a:rPr lang="en-US" sz="1400" dirty="0">
                <a:solidFill>
                  <a:srgbClr val="3B3B3B"/>
                </a:solidFill>
              </a:rPr>
              <a:t>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	 &lt;/Layout&gt;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&lt;/Runtime&gt;</a:t>
            </a:r>
          </a:p>
        </p:txBody>
      </p:sp>
      <p:sp>
        <p:nvSpPr>
          <p:cNvPr id="5" name="Left Bracket 4"/>
          <p:cNvSpPr/>
          <p:nvPr/>
        </p:nvSpPr>
        <p:spPr>
          <a:xfrm>
            <a:off x="1600201" y="2136577"/>
            <a:ext cx="1102615" cy="2816424"/>
          </a:xfrm>
          <a:prstGeom prst="lef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TextBox 5"/>
          <p:cNvSpPr txBox="1"/>
          <p:nvPr/>
        </p:nvSpPr>
        <p:spPr>
          <a:xfrm>
            <a:off x="685809" y="3223736"/>
            <a:ext cx="913227" cy="738656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Required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Root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Element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rot="10800000" flipV="1">
            <a:off x="3733800" y="2060377"/>
            <a:ext cx="609600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67201" y="1905001"/>
            <a:ext cx="843271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Element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rot="10800000" flipV="1">
            <a:off x="5909850" y="2063354"/>
            <a:ext cx="609600" cy="3048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3250" y="1907978"/>
            <a:ext cx="1349006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Attribute Value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rot="10800000" flipV="1">
            <a:off x="4328323" y="2057400"/>
            <a:ext cx="1005679" cy="310754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42720" y="1907978"/>
            <a:ext cx="853265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Attribute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Right Bracket 13"/>
          <p:cNvSpPr/>
          <p:nvPr/>
        </p:nvSpPr>
        <p:spPr>
          <a:xfrm>
            <a:off x="6096000" y="3596640"/>
            <a:ext cx="1371600" cy="1127760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Right Bracket 15"/>
          <p:cNvSpPr/>
          <p:nvPr/>
        </p:nvSpPr>
        <p:spPr>
          <a:xfrm>
            <a:off x="5410200" y="3810000"/>
            <a:ext cx="1752600" cy="685800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ight Bracket 18"/>
          <p:cNvSpPr/>
          <p:nvPr/>
        </p:nvSpPr>
        <p:spPr>
          <a:xfrm>
            <a:off x="6477000" y="3962400"/>
            <a:ext cx="533400" cy="228600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 txBox="1"/>
          <p:nvPr/>
        </p:nvSpPr>
        <p:spPr>
          <a:xfrm>
            <a:off x="7543800" y="3962401"/>
            <a:ext cx="793390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Nesting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10800000">
            <a:off x="3733800" y="4572000"/>
            <a:ext cx="838200" cy="3810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7" idx="3"/>
          </p:cNvCxnSpPr>
          <p:nvPr/>
        </p:nvCxnSpPr>
        <p:spPr>
          <a:xfrm flipV="1">
            <a:off x="4572001" y="4281845"/>
            <a:ext cx="1586777" cy="671155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onut 26"/>
          <p:cNvSpPr/>
          <p:nvPr/>
        </p:nvSpPr>
        <p:spPr>
          <a:xfrm>
            <a:off x="6096000" y="3923077"/>
            <a:ext cx="428670" cy="420323"/>
          </a:xfrm>
          <a:prstGeom prst="donut">
            <a:avLst>
              <a:gd name="adj" fmla="val 975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Donut 29"/>
          <p:cNvSpPr/>
          <p:nvPr/>
        </p:nvSpPr>
        <p:spPr>
          <a:xfrm>
            <a:off x="3352800" y="4191000"/>
            <a:ext cx="428670" cy="420323"/>
          </a:xfrm>
          <a:prstGeom prst="donut">
            <a:avLst>
              <a:gd name="adj" fmla="val 975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TextBox 30"/>
          <p:cNvSpPr txBox="1"/>
          <p:nvPr/>
        </p:nvSpPr>
        <p:spPr>
          <a:xfrm>
            <a:off x="4343400" y="4950024"/>
            <a:ext cx="2249756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All tags must be closed!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32" name="Donut 31"/>
          <p:cNvSpPr/>
          <p:nvPr/>
        </p:nvSpPr>
        <p:spPr>
          <a:xfrm>
            <a:off x="6019800" y="2362200"/>
            <a:ext cx="228600" cy="152400"/>
          </a:xfrm>
          <a:prstGeom prst="donut">
            <a:avLst>
              <a:gd name="adj" fmla="val 975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33" name="Straight Arrow Connector 32"/>
          <p:cNvCxnSpPr/>
          <p:nvPr/>
        </p:nvCxnSpPr>
        <p:spPr>
          <a:xfrm rot="10800000" flipV="1">
            <a:off x="6248400" y="2362200"/>
            <a:ext cx="609600" cy="762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81800" y="2219980"/>
            <a:ext cx="1600200" cy="52321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Quotation marks </a:t>
            </a:r>
            <a:r>
              <a:rPr lang="en-US" sz="1400" b="1" dirty="0" smtClean="0">
                <a:solidFill>
                  <a:srgbClr val="FF0000"/>
                </a:solidFill>
              </a:rPr>
              <a:t>required!</a:t>
            </a:r>
            <a:endParaRPr 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514600" y="1981200"/>
            <a:ext cx="381000" cy="15240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1997" y="1676401"/>
            <a:ext cx="2400012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Names are </a:t>
            </a:r>
            <a:r>
              <a:rPr lang="en-US" sz="1400" b="1" dirty="0" smtClean="0">
                <a:solidFill>
                  <a:srgbClr val="FF0000"/>
                </a:solidFill>
              </a:rPr>
              <a:t>case-sensitive!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rot="10800000">
            <a:off x="5867400" y="3200401"/>
            <a:ext cx="838200" cy="158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05600" y="3048001"/>
            <a:ext cx="1162895" cy="307768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Include data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Structure of BEML Code</a:t>
            </a:r>
            <a:endParaRPr lang="en-US" dirty="0"/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1800" b="1" dirty="0" smtClean="0"/>
              <a:t>Components</a:t>
            </a:r>
            <a:endParaRPr lang="en-US" sz="1800" dirty="0" smtClean="0"/>
          </a:p>
          <a:p>
            <a:pPr eaLnBrk="1" hangingPunct="1"/>
            <a:r>
              <a:rPr lang="en-US" sz="1800" b="1" dirty="0" smtClean="0"/>
              <a:t>Layout</a:t>
            </a:r>
          </a:p>
          <a:p>
            <a:pPr eaLnBrk="1" hangingPunct="1"/>
            <a:r>
              <a:rPr lang="en-US" sz="1800" b="1" dirty="0" smtClean="0"/>
              <a:t>Styling</a:t>
            </a:r>
          </a:p>
        </p:txBody>
      </p:sp>
      <p:sp>
        <p:nvSpPr>
          <p:cNvPr id="1278980" name="Rectangle 3"/>
          <p:cNvSpPr>
            <a:spLocks noChangeArrowheads="1"/>
          </p:cNvSpPr>
          <p:nvPr/>
        </p:nvSpPr>
        <p:spPr bwMode="auto">
          <a:xfrm>
            <a:off x="2667000" y="3124200"/>
            <a:ext cx="3962400" cy="2370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&lt;Runtime&gt;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	&lt;Theme name="Deluxe" style="Light" /&gt; 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	&lt;Layout width="486" height="416"&gt;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	      &lt;</a:t>
            </a:r>
            <a:r>
              <a:rPr lang="en-US" sz="1400" dirty="0" err="1">
                <a:solidFill>
                  <a:srgbClr val="3B3B3B"/>
                </a:solidFill>
              </a:rPr>
              <a:t>VBox</a:t>
            </a:r>
            <a:r>
              <a:rPr lang="en-US" sz="1400" dirty="0">
                <a:solidFill>
                  <a:srgbClr val="3B3B3B"/>
                </a:solidFill>
              </a:rPr>
              <a:t> padding="3"&gt;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		&lt;</a:t>
            </a:r>
            <a:r>
              <a:rPr lang="en-US" sz="1400" dirty="0" err="1">
                <a:solidFill>
                  <a:srgbClr val="3B3B3B"/>
                </a:solidFill>
              </a:rPr>
              <a:t>VideoPlayer</a:t>
            </a:r>
            <a:r>
              <a:rPr lang="en-US" sz="1400" dirty="0">
                <a:solidFill>
                  <a:srgbClr val="3B3B3B"/>
                </a:solidFill>
              </a:rPr>
              <a:t> id="</a:t>
            </a:r>
            <a:r>
              <a:rPr lang="en-US" sz="1400" dirty="0" err="1">
                <a:solidFill>
                  <a:srgbClr val="3B3B3B"/>
                </a:solidFill>
              </a:rPr>
              <a:t>videoPlayer</a:t>
            </a:r>
            <a:r>
              <a:rPr lang="en-US" sz="1400" dirty="0">
                <a:solidFill>
                  <a:srgbClr val="3B3B3B"/>
                </a:solidFill>
              </a:rPr>
              <a:t>" /&gt; 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	      &lt;/</a:t>
            </a:r>
            <a:r>
              <a:rPr lang="en-US" sz="1400" dirty="0" err="1">
                <a:solidFill>
                  <a:srgbClr val="3B3B3B"/>
                </a:solidFill>
              </a:rPr>
              <a:t>VBox</a:t>
            </a:r>
            <a:r>
              <a:rPr lang="en-US" sz="1400" dirty="0">
                <a:solidFill>
                  <a:srgbClr val="3B3B3B"/>
                </a:solidFill>
              </a:rPr>
              <a:t>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	 &lt;/Layout&gt;</a:t>
            </a:r>
          </a:p>
          <a:p>
            <a:pPr marL="284138" indent="-284138" eaLnBrk="1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1400" dirty="0">
                <a:solidFill>
                  <a:srgbClr val="3B3B3B"/>
                </a:solidFill>
              </a:rPr>
              <a:t>  &lt;/Runtime&gt;</a:t>
            </a:r>
          </a:p>
        </p:txBody>
      </p:sp>
      <p:sp>
        <p:nvSpPr>
          <p:cNvPr id="5" name="Left Bracket 4"/>
          <p:cNvSpPr/>
          <p:nvPr/>
        </p:nvSpPr>
        <p:spPr>
          <a:xfrm>
            <a:off x="1219201" y="3200401"/>
            <a:ext cx="1331215" cy="2057400"/>
          </a:xfrm>
          <a:prstGeom prst="lef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TextBox 5"/>
          <p:cNvSpPr txBox="1"/>
          <p:nvPr/>
        </p:nvSpPr>
        <p:spPr>
          <a:xfrm>
            <a:off x="304817" y="3886200"/>
            <a:ext cx="913227" cy="738656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algn="r"/>
            <a:r>
              <a:rPr lang="en-US" sz="1400" dirty="0" smtClean="0">
                <a:solidFill>
                  <a:srgbClr val="FF0000"/>
                </a:solidFill>
              </a:rPr>
              <a:t>Required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Root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Tag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Right Bracket 13"/>
          <p:cNvSpPr/>
          <p:nvPr/>
        </p:nvSpPr>
        <p:spPr>
          <a:xfrm>
            <a:off x="5943600" y="3825241"/>
            <a:ext cx="1371600" cy="1127760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Right Bracket 15"/>
          <p:cNvSpPr/>
          <p:nvPr/>
        </p:nvSpPr>
        <p:spPr>
          <a:xfrm>
            <a:off x="5257800" y="4038600"/>
            <a:ext cx="1752600" cy="685800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 txBox="1"/>
          <p:nvPr/>
        </p:nvSpPr>
        <p:spPr>
          <a:xfrm>
            <a:off x="7391400" y="4191000"/>
            <a:ext cx="1467052" cy="523212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Layout Wrapper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And Elements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 rot="10800000">
            <a:off x="2438400" y="3505201"/>
            <a:ext cx="5334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19200" y="3276600"/>
            <a:ext cx="1143000" cy="52321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pPr algn="r"/>
            <a:r>
              <a:rPr lang="en-US" sz="1400" dirty="0" smtClean="0">
                <a:solidFill>
                  <a:srgbClr val="FF0000"/>
                </a:solidFill>
              </a:rPr>
              <a:t>Theme and Style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26" name="Straight Connector 25"/>
          <p:cNvCxnSpPr>
            <a:endCxn id="35" idx="3"/>
          </p:cNvCxnSpPr>
          <p:nvPr/>
        </p:nvCxnSpPr>
        <p:spPr>
          <a:xfrm rot="10800000">
            <a:off x="2438400" y="4341908"/>
            <a:ext cx="67699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19200" y="4188024"/>
            <a:ext cx="1219200" cy="307768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pPr algn="r"/>
            <a:r>
              <a:rPr lang="en-US" sz="1400" dirty="0" smtClean="0">
                <a:solidFill>
                  <a:srgbClr val="FF0000"/>
                </a:solidFill>
              </a:rPr>
              <a:t>Components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Rectangle 2"/>
          <p:cNvSpPr>
            <a:spLocks noChangeArrowheads="1"/>
          </p:cNvSpPr>
          <p:nvPr/>
        </p:nvSpPr>
        <p:spPr bwMode="auto">
          <a:xfrm>
            <a:off x="419100" y="152400"/>
            <a:ext cx="8277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Creating a Template -- Demo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Studio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6553200" cy="4667483"/>
          </a:xfrm>
          <a:prstGeom prst="rect">
            <a:avLst/>
          </a:prstGeom>
        </p:spPr>
      </p:pic>
      <p:sp>
        <p:nvSpPr>
          <p:cNvPr id="5" name="Frame 4"/>
          <p:cNvSpPr/>
          <p:nvPr/>
        </p:nvSpPr>
        <p:spPr>
          <a:xfrm>
            <a:off x="515975" y="3841608"/>
            <a:ext cx="4360826" cy="806592"/>
          </a:xfrm>
          <a:prstGeom prst="frame">
            <a:avLst>
              <a:gd name="adj1" fmla="val 6640"/>
            </a:avLst>
          </a:prstGeom>
          <a:solidFill>
            <a:srgbClr val="FF99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template – demonstration	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HELP </a:t>
            </a:r>
          </a:p>
        </p:txBody>
      </p:sp>
      <p:pic>
        <p:nvPicPr>
          <p:cNvPr id="4" name="Picture 3" descr="Docu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150621"/>
            <a:ext cx="7620000" cy="5173980"/>
          </a:xfrm>
          <a:prstGeom prst="rect">
            <a:avLst/>
          </a:prstGeom>
        </p:spPr>
      </p:pic>
      <p:sp>
        <p:nvSpPr>
          <p:cNvPr id="5" name="Frame 4"/>
          <p:cNvSpPr/>
          <p:nvPr/>
        </p:nvSpPr>
        <p:spPr bwMode="auto">
          <a:xfrm>
            <a:off x="533400" y="3581400"/>
            <a:ext cx="2057400" cy="1219200"/>
          </a:xfrm>
          <a:prstGeom prst="frame">
            <a:avLst>
              <a:gd name="adj1" fmla="val 4475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t" anchorCtr="0" compatLnSpc="1">
            <a:prstTxWarp prst="textNoShape">
              <a:avLst/>
            </a:prstTxWarp>
          </a:bodyPr>
          <a:lstStyle/>
          <a:p>
            <a:pPr defTabSz="914320"/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eight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990600"/>
            <a:ext cx="7282171" cy="4495800"/>
          </a:xfrm>
          <a:prstGeom prst="rect">
            <a:avLst/>
          </a:prstGeom>
        </p:spPr>
      </p:pic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The DTD -  Document Type Definition</a:t>
            </a:r>
            <a:r>
              <a:rPr lang="en-US" sz="2000" dirty="0"/>
              <a:t> </a:t>
            </a:r>
          </a:p>
        </p:txBody>
      </p:sp>
      <p:sp>
        <p:nvSpPr>
          <p:cNvPr id="195589" name="Line 5"/>
          <p:cNvSpPr>
            <a:spLocks noChangeShapeType="1"/>
          </p:cNvSpPr>
          <p:nvPr/>
        </p:nvSpPr>
        <p:spPr bwMode="auto">
          <a:xfrm>
            <a:off x="6781800" y="1905000"/>
            <a:ext cx="533400" cy="609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1"/>
            <a:ext cx="7772400" cy="954099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lIns="91432" tIns="45716" rIns="91432" bIns="45716" rtlCol="0">
            <a:spAutoFit/>
          </a:bodyPr>
          <a:lstStyle/>
          <a:p>
            <a:pPr>
              <a:buNone/>
            </a:pPr>
            <a:r>
              <a:rPr lang="en-US" sz="1400" dirty="0" smtClean="0"/>
              <a:t>You can also reference the DTD itself if you have an XML editor that is capable of using it for validation, code-completion, etc..</a:t>
            </a:r>
          </a:p>
          <a:p>
            <a:pPr>
              <a:buNone/>
            </a:pP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&lt;!DOCTYPE Runtime SYSTEM </a:t>
            </a:r>
            <a:r>
              <a:rPr lang="en-US" sz="1400" dirty="0" smtClean="0">
                <a:hlinkClick r:id="rId4"/>
              </a:rPr>
              <a:t>http://admin.brightcove.com/dtds/beml_rt.dtd</a:t>
            </a:r>
            <a:r>
              <a:rPr lang="en-US" sz="1400" dirty="0" smtClean="0"/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BEML</a:t>
            </a:r>
            <a:r>
              <a:rPr lang="en-US" sz="2000" dirty="0" smtClean="0"/>
              <a:t> DTD Reference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485088" y="6019800"/>
            <a:ext cx="3839496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docs.brightcove.com/en/beml</a:t>
            </a:r>
            <a:r>
              <a:rPr lang="en-US" dirty="0" smtClean="0"/>
              <a:t>/</a:t>
            </a:r>
            <a:endParaRPr lang="en-US" dirty="0"/>
          </a:p>
        </p:txBody>
      </p:sp>
      <p:pic>
        <p:nvPicPr>
          <p:cNvPr id="6" name="Picture 5" descr="BEML DTD 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2" y="1066801"/>
            <a:ext cx="7304068" cy="4889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657601"/>
            <a:ext cx="2362200" cy="1200321"/>
          </a:xfrm>
          <a:prstGeom prst="rect">
            <a:avLst/>
          </a:prstGeom>
          <a:solidFill>
            <a:srgbClr val="FFF3AD"/>
          </a:solidFill>
          <a:ln>
            <a:solidFill>
              <a:schemeClr val="bg2"/>
            </a:solidFill>
          </a:ln>
        </p:spPr>
        <p:txBody>
          <a:bodyPr wrap="square" lIns="91432" tIns="45716" rIns="91432" bIns="45716" rtlCol="0">
            <a:spAutoFit/>
          </a:bodyPr>
          <a:lstStyle/>
          <a:p>
            <a:r>
              <a:rPr lang="en-US" dirty="0" smtClean="0"/>
              <a:t>Note: in </a:t>
            </a:r>
            <a:r>
              <a:rPr lang="en-US" b="1" dirty="0" smtClean="0"/>
              <a:t>some </a:t>
            </a:r>
            <a:r>
              <a:rPr lang="en-US" dirty="0" smtClean="0"/>
              <a:t>cases attribute values are restricted and case-sensitive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Exercise 1: Creating a Simple BEML Template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Exercise 1: Creating a Simple BEML Templates 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134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95257" indent="-495257">
              <a:lnSpc>
                <a:spcPct val="80000"/>
              </a:lnSpc>
              <a:buFontTx/>
              <a:buAutoNum type="arabicPeriod"/>
            </a:pPr>
            <a:r>
              <a:rPr lang="en-US" sz="1800" dirty="0"/>
              <a:t>Login to your account</a:t>
            </a:r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r>
              <a:rPr lang="en-US" sz="1800" dirty="0"/>
              <a:t>Go to the Publishing module</a:t>
            </a:r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r>
              <a:rPr lang="en-US" sz="1800" dirty="0"/>
              <a:t>Create the following BEML template:</a:t>
            </a:r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endParaRPr lang="en-US" sz="1800" dirty="0"/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endParaRPr lang="en-US" sz="1800" dirty="0"/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endParaRPr lang="en-US" sz="1800" dirty="0"/>
          </a:p>
          <a:p>
            <a:pPr marL="495257" indent="-495257">
              <a:lnSpc>
                <a:spcPct val="80000"/>
              </a:lnSpc>
              <a:buFontTx/>
              <a:buAutoNum type="arabicPeriod"/>
            </a:pPr>
            <a:endParaRPr lang="en-US" sz="1800" dirty="0"/>
          </a:p>
          <a:p>
            <a:pPr marL="495257" indent="-495257">
              <a:lnSpc>
                <a:spcPct val="80000"/>
              </a:lnSpc>
              <a:buNone/>
            </a:pPr>
            <a:endParaRPr lang="en-US" sz="1800" dirty="0"/>
          </a:p>
          <a:p>
            <a:pPr marL="495257" indent="-495257">
              <a:lnSpc>
                <a:spcPct val="80000"/>
              </a:lnSpc>
              <a:buNone/>
            </a:pP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  <a:p>
            <a:pPr marL="495257" indent="-495257">
              <a:lnSpc>
                <a:spcPct val="80000"/>
              </a:lnSpc>
              <a:buNone/>
            </a:pPr>
            <a:endParaRPr lang="en-US" sz="1800" dirty="0"/>
          </a:p>
          <a:p>
            <a:pPr marL="495257" indent="-495257">
              <a:lnSpc>
                <a:spcPct val="80000"/>
              </a:lnSpc>
              <a:buNone/>
            </a:pPr>
            <a:endParaRPr lang="en-US" sz="1800" dirty="0"/>
          </a:p>
          <a:p>
            <a:pPr marL="495257" indent="-495257">
              <a:lnSpc>
                <a:spcPct val="80000"/>
              </a:lnSpc>
              <a:buNone/>
            </a:pPr>
            <a:endParaRPr lang="en-US" sz="1800" dirty="0"/>
          </a:p>
          <a:p>
            <a:pPr marL="495257" indent="-495257">
              <a:lnSpc>
                <a:spcPct val="80000"/>
              </a:lnSpc>
              <a:buFontTx/>
              <a:buAutoNum type="arabicPeriod" startAt="4"/>
            </a:pPr>
            <a:r>
              <a:rPr lang="en-US" sz="1800" dirty="0"/>
              <a:t>Add a comment in your code</a:t>
            </a:r>
          </a:p>
          <a:p>
            <a:pPr marL="495257" indent="-495257">
              <a:lnSpc>
                <a:spcPct val="80000"/>
              </a:lnSpc>
              <a:buFontTx/>
              <a:buAutoNum type="arabicPeriod" startAt="4"/>
            </a:pPr>
            <a:r>
              <a:rPr lang="en-US" sz="1800" dirty="0"/>
              <a:t>Name your template “</a:t>
            </a:r>
            <a:r>
              <a:rPr lang="en-US" sz="1800" i="1" dirty="0" err="1"/>
              <a:t>SimpleBEMLTemplate</a:t>
            </a:r>
            <a:r>
              <a:rPr lang="en-US" sz="1800" dirty="0"/>
              <a:t>” </a:t>
            </a:r>
          </a:p>
        </p:txBody>
      </p:sp>
      <p:sp>
        <p:nvSpPr>
          <p:cNvPr id="1340420" name="Rectangle 4"/>
          <p:cNvSpPr>
            <a:spLocks noChangeArrowheads="1"/>
          </p:cNvSpPr>
          <p:nvPr/>
        </p:nvSpPr>
        <p:spPr bwMode="auto">
          <a:xfrm>
            <a:off x="1371600" y="2282825"/>
            <a:ext cx="5867400" cy="2308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nsolas"/>
                <a:cs typeface="Consolas"/>
              </a:rPr>
              <a:t> </a:t>
            </a:r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&lt;Runtime&gt;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 	&lt;Theme name="Deluxe" style="Light" /&gt; 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	&lt;Layout width="486" height="416"&gt;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	      &lt;</a:t>
            </a:r>
            <a:r>
              <a:rPr lang="en-US" dirty="0" err="1">
                <a:solidFill>
                  <a:srgbClr val="333333"/>
                </a:solidFill>
                <a:latin typeface="Consolas"/>
                <a:cs typeface="Consolas"/>
              </a:rPr>
              <a:t>VBox</a:t>
            </a:r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padding="3"&gt;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		</a:t>
            </a:r>
            <a:r>
              <a:rPr lang="en-US" dirty="0">
                <a:latin typeface="Consolas"/>
                <a:cs typeface="Consolas"/>
              </a:rPr>
              <a:t>&lt;</a:t>
            </a:r>
            <a:r>
              <a:rPr lang="en-US" dirty="0" err="1">
                <a:latin typeface="Consolas"/>
                <a:cs typeface="Consolas"/>
              </a:rPr>
              <a:t>VideoPlayer</a:t>
            </a:r>
            <a:r>
              <a:rPr lang="en-US" dirty="0">
                <a:latin typeface="Consolas"/>
                <a:cs typeface="Consolas"/>
              </a:rPr>
              <a:t> id="</a:t>
            </a:r>
            <a:r>
              <a:rPr lang="en-US" dirty="0" err="1">
                <a:latin typeface="Consolas"/>
                <a:cs typeface="Consolas"/>
              </a:rPr>
              <a:t>videoPlayer</a:t>
            </a:r>
            <a:r>
              <a:rPr lang="en-US" dirty="0">
                <a:latin typeface="Consolas"/>
                <a:cs typeface="Consolas"/>
              </a:rPr>
              <a:t>" /&gt;</a:t>
            </a:r>
            <a:r>
              <a:rPr lang="en-US" b="1" dirty="0">
                <a:latin typeface="Consolas"/>
                <a:cs typeface="Consolas"/>
              </a:rPr>
              <a:t> 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 	      &lt;/</a:t>
            </a:r>
            <a:r>
              <a:rPr lang="en-US" dirty="0" err="1">
                <a:solidFill>
                  <a:srgbClr val="333333"/>
                </a:solidFill>
                <a:latin typeface="Consolas"/>
                <a:cs typeface="Consolas"/>
              </a:rPr>
              <a:t>VBox</a:t>
            </a:r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	 &lt;/Layout&gt;</a:t>
            </a:r>
          </a:p>
          <a:p>
            <a:r>
              <a:rPr lang="en-US" dirty="0">
                <a:solidFill>
                  <a:srgbClr val="333333"/>
                </a:solidFill>
                <a:latin typeface="Consolas"/>
                <a:cs typeface="Consolas"/>
              </a:rPr>
              <a:t>  &lt;/Runtime&gt;</a:t>
            </a:r>
            <a:endParaRPr lang="en-US" sz="2400" dirty="0">
              <a:solidFill>
                <a:srgbClr val="333333"/>
              </a:solidFill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1" y="5867400"/>
            <a:ext cx="4221625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SimpleBEMLTemplateEx1.xml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bg1"/>
                </a:solidFill>
              </a:rPr>
              <a:t>Components</a:t>
            </a:r>
            <a:endParaRPr 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BEML Visual Component Tags</a:t>
            </a:r>
          </a:p>
        </p:txBody>
      </p:sp>
      <p:sp>
        <p:nvSpPr>
          <p:cNvPr id="1354756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800" b="1" i="1" dirty="0"/>
          </a:p>
          <a:p>
            <a:pPr marL="0" indent="0">
              <a:lnSpc>
                <a:spcPct val="90000"/>
              </a:lnSpc>
            </a:pPr>
            <a:r>
              <a:rPr lang="en-US" sz="1800" dirty="0"/>
              <a:t>Label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/>
              <a:t>Image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/>
              <a:t>Link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/>
              <a:t>Button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ThumbnailButton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TitleLabel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SWFLoader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/>
              <a:t>Spacer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Playhead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VolumeControl</a:t>
            </a:r>
            <a:endParaRPr lang="en-US" sz="1800" dirty="0" smtClean="0"/>
          </a:p>
          <a:p>
            <a:pPr marL="0" indent="0">
              <a:lnSpc>
                <a:spcPct val="90000"/>
              </a:lnSpc>
            </a:pPr>
            <a:r>
              <a:rPr lang="en-US" sz="1800" dirty="0" smtClean="0"/>
              <a:t>List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ListItem</a:t>
            </a:r>
            <a:endParaRPr lang="en-US" sz="1800" dirty="0" smtClean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</a:pPr>
            <a:endParaRPr lang="en-US" sz="1800" dirty="0"/>
          </a:p>
        </p:txBody>
      </p:sp>
      <p:sp>
        <p:nvSpPr>
          <p:cNvPr id="1354757" name="Rectangle 4"/>
          <p:cNvSpPr>
            <a:spLocks noGrp="1" noChangeArrowheads="1"/>
          </p:cNvSpPr>
          <p:nvPr>
            <p:ph idx="12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endParaRPr lang="en-US" sz="1800" dirty="0" smtClean="0"/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TabBar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/>
              <a:t>Banner</a:t>
            </a:r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ExpandingBanner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TileList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VideoPlayer</a:t>
            </a:r>
            <a:endParaRPr lang="en-US" sz="1800" dirty="0" smtClean="0"/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ChromelessVideoPlayer</a:t>
            </a:r>
            <a:endParaRPr lang="en-US" sz="1800" dirty="0" smtClean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VideoDisplay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 smtClean="0"/>
              <a:t>MediaControls</a:t>
            </a:r>
            <a:endParaRPr lang="en-US" sz="1800" dirty="0" smtClean="0"/>
          </a:p>
          <a:p>
            <a:pPr marL="0" indent="0">
              <a:lnSpc>
                <a:spcPct val="90000"/>
              </a:lnSpc>
            </a:pPr>
            <a:r>
              <a:rPr lang="en-US" sz="1800" dirty="0" smtClean="0"/>
              <a:t>Chromeless Controls 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ToggleButton</a:t>
            </a:r>
            <a:endParaRPr lang="en-US" sz="1800" dirty="0"/>
          </a:p>
          <a:p>
            <a:pPr marL="0" indent="0">
              <a:lnSpc>
                <a:spcPct val="90000"/>
              </a:lnSpc>
            </a:pPr>
            <a:r>
              <a:rPr lang="en-US" sz="1800" dirty="0" err="1"/>
              <a:t>ComboBox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BEML Visual Components in a Player</a:t>
            </a:r>
          </a:p>
        </p:txBody>
      </p:sp>
      <p:sp>
        <p:nvSpPr>
          <p:cNvPr id="207877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  <p:pic>
        <p:nvPicPr>
          <p:cNvPr id="7" name="Picture 6" descr="Component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990600"/>
            <a:ext cx="7090855" cy="541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1" y="1066800"/>
            <a:ext cx="826202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Image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13810" y="2895600"/>
            <a:ext cx="2006175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List with </a:t>
            </a:r>
            <a:r>
              <a:rPr lang="en-US" dirty="0" err="1" smtClean="0">
                <a:solidFill>
                  <a:srgbClr val="FF0000"/>
                </a:solidFill>
              </a:rPr>
              <a:t>ListItems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5390" y="5791200"/>
            <a:ext cx="928994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Banner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09226" y="4800600"/>
            <a:ext cx="1176959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TitleLabel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6800" y="2514600"/>
            <a:ext cx="4114800" cy="92332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Note: this could be a </a:t>
            </a:r>
            <a:r>
              <a:rPr lang="en-US" dirty="0" err="1" smtClean="0">
                <a:solidFill>
                  <a:schemeClr val="bg1"/>
                </a:solidFill>
              </a:rPr>
              <a:t>VideoDisplay</a:t>
            </a:r>
            <a:r>
              <a:rPr lang="en-US" dirty="0" smtClean="0">
                <a:solidFill>
                  <a:schemeClr val="bg1"/>
                </a:solidFill>
              </a:rPr>
              <a:t> with a separate </a:t>
            </a:r>
            <a:r>
              <a:rPr lang="en-US" dirty="0" err="1" smtClean="0">
                <a:solidFill>
                  <a:schemeClr val="bg1"/>
                </a:solidFill>
              </a:rPr>
              <a:t>MediaControls</a:t>
            </a:r>
            <a:r>
              <a:rPr lang="en-US" dirty="0" smtClean="0">
                <a:solidFill>
                  <a:schemeClr val="bg1"/>
                </a:solidFill>
              </a:rPr>
              <a:t> component, or a </a:t>
            </a:r>
            <a:r>
              <a:rPr lang="en-US" dirty="0" err="1" smtClean="0">
                <a:solidFill>
                  <a:schemeClr val="bg1"/>
                </a:solidFill>
              </a:rPr>
              <a:t>VideoPlayer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5029200"/>
            <a:ext cx="608106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Link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57800" y="1066800"/>
            <a:ext cx="916032" cy="369324"/>
          </a:xfrm>
          <a:prstGeom prst="rect">
            <a:avLst/>
          </a:prstGeom>
          <a:solidFill>
            <a:schemeClr val="bg1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TabBar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Video Player Component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 err="1" smtClean="0"/>
              <a:t>VideoPlayer</a:t>
            </a:r>
            <a:r>
              <a:rPr lang="en-US" sz="1800" dirty="0" smtClean="0"/>
              <a:t>: A video window and a set of</a:t>
            </a:r>
            <a:br>
              <a:rPr lang="en-US" sz="1800" dirty="0" smtClean="0"/>
            </a:br>
            <a:r>
              <a:rPr lang="en-US" sz="1800" dirty="0" smtClean="0"/>
              <a:t>media controls </a:t>
            </a:r>
          </a:p>
          <a:p>
            <a:pPr lvl="1"/>
            <a:r>
              <a:rPr lang="en-US" sz="1800" dirty="0" smtClean="0"/>
              <a:t>A play/pause toggle</a:t>
            </a:r>
          </a:p>
          <a:p>
            <a:pPr lvl="1"/>
            <a:r>
              <a:rPr lang="en-US" sz="1800" dirty="0" smtClean="0"/>
              <a:t>A timeline scrubber</a:t>
            </a:r>
          </a:p>
          <a:p>
            <a:pPr lvl="1"/>
            <a:r>
              <a:rPr lang="en-US" sz="1800" dirty="0" smtClean="0"/>
              <a:t>Volume controls</a:t>
            </a:r>
          </a:p>
          <a:p>
            <a:pPr lvl="1"/>
            <a:r>
              <a:rPr lang="en-US" sz="1800" dirty="0" smtClean="0"/>
              <a:t>Maximize controls</a:t>
            </a:r>
          </a:p>
          <a:p>
            <a:pPr lvl="1"/>
            <a:r>
              <a:rPr lang="en-US" sz="1800" dirty="0" smtClean="0"/>
              <a:t>A menu access button</a:t>
            </a:r>
          </a:p>
          <a:p>
            <a:pPr lvl="1"/>
            <a:r>
              <a:rPr lang="en-US" sz="1800" dirty="0" smtClean="0"/>
              <a:t>&lt;</a:t>
            </a:r>
            <a:r>
              <a:rPr lang="en-US" sz="1800" dirty="0" err="1" smtClean="0"/>
              <a:t>VideoPlayer</a:t>
            </a:r>
            <a:r>
              <a:rPr lang="en-US" sz="1800" dirty="0" smtClean="0"/>
              <a:t> id='</a:t>
            </a:r>
            <a:r>
              <a:rPr lang="en-US" sz="1800" dirty="0" err="1" smtClean="0"/>
              <a:t>videoPlayer</a:t>
            </a:r>
            <a:r>
              <a:rPr lang="en-US" sz="1800" dirty="0" smtClean="0"/>
              <a:t>' width='480' /&gt;</a:t>
            </a:r>
          </a:p>
          <a:p>
            <a:r>
              <a:rPr lang="en-US" sz="1800" dirty="0" err="1" smtClean="0"/>
              <a:t>ChromelessVideoPlayer</a:t>
            </a:r>
            <a:endParaRPr lang="en-US" sz="1800" dirty="0" smtClean="0"/>
          </a:p>
          <a:p>
            <a:pPr lvl="1"/>
            <a:r>
              <a:rPr lang="en-US" sz="1800" dirty="0" smtClean="0"/>
              <a:t>Like the </a:t>
            </a:r>
            <a:r>
              <a:rPr lang="en-US" sz="1800" dirty="0" err="1" smtClean="0"/>
              <a:t>VideoPlayer</a:t>
            </a:r>
            <a:r>
              <a:rPr lang="en-US" sz="1800" dirty="0" smtClean="0"/>
              <a:t>, but with </a:t>
            </a:r>
            <a:r>
              <a:rPr lang="en-US" sz="1800" dirty="0" err="1" smtClean="0"/>
              <a:t>chromeless</a:t>
            </a:r>
            <a:r>
              <a:rPr lang="en-US" sz="1800" dirty="0" smtClean="0"/>
              <a:t> controls</a:t>
            </a:r>
          </a:p>
          <a:p>
            <a:r>
              <a:rPr lang="en-US" sz="1800" dirty="0" err="1" smtClean="0"/>
              <a:t>VideoDisplay</a:t>
            </a:r>
            <a:r>
              <a:rPr lang="en-US" sz="1800" dirty="0" smtClean="0"/>
              <a:t>: video window without the standard media control bar </a:t>
            </a:r>
          </a:p>
          <a:p>
            <a:pPr lvl="1"/>
            <a:r>
              <a:rPr lang="en-US" sz="1800" dirty="0" smtClean="0"/>
              <a:t>&lt;</a:t>
            </a:r>
            <a:r>
              <a:rPr lang="en-US" sz="1800" dirty="0" err="1" smtClean="0"/>
              <a:t>VideoDisplay</a:t>
            </a:r>
            <a:r>
              <a:rPr lang="en-US" sz="1800" dirty="0" smtClean="0"/>
              <a:t> id="</a:t>
            </a:r>
            <a:r>
              <a:rPr lang="en-US" sz="1800" dirty="0" err="1" smtClean="0"/>
              <a:t>videoPlayer</a:t>
            </a:r>
            <a:r>
              <a:rPr lang="en-US" sz="1800" dirty="0" smtClean="0"/>
              <a:t>"/&gt;</a:t>
            </a:r>
            <a:r>
              <a:rPr lang="en-US" sz="1800" b="1" dirty="0" smtClean="0"/>
              <a:t> </a:t>
            </a:r>
          </a:p>
          <a:p>
            <a:pPr lvl="1"/>
            <a:r>
              <a:rPr lang="en-US" sz="1800" dirty="0" smtClean="0"/>
              <a:t>Use with the media control components:</a:t>
            </a:r>
          </a:p>
          <a:p>
            <a:pPr marL="741297" lvl="2" indent="0"/>
            <a:r>
              <a:rPr lang="en-US" sz="1800" dirty="0" err="1" smtClean="0"/>
              <a:t>MediaControls</a:t>
            </a:r>
            <a:r>
              <a:rPr lang="en-US" sz="1800" dirty="0" smtClean="0"/>
              <a:t> (wrapper for the individual controls)</a:t>
            </a:r>
          </a:p>
          <a:p>
            <a:pPr marL="1087342" lvl="3" indent="0"/>
            <a:r>
              <a:rPr lang="en-US" sz="1800" dirty="0" err="1" smtClean="0"/>
              <a:t>Playhead</a:t>
            </a:r>
            <a:endParaRPr lang="en-US" sz="1800" dirty="0" smtClean="0"/>
          </a:p>
          <a:p>
            <a:pPr marL="1087342" lvl="3" indent="0"/>
            <a:r>
              <a:rPr lang="en-US" sz="1800" dirty="0" err="1" smtClean="0"/>
              <a:t>VolumeControl</a:t>
            </a:r>
            <a:endParaRPr lang="en-US" sz="1800" dirty="0" smtClean="0"/>
          </a:p>
          <a:p>
            <a:pPr marL="1087342" lvl="3" indent="0">
              <a:lnSpc>
                <a:spcPct val="90000"/>
              </a:lnSpc>
            </a:pPr>
            <a:r>
              <a:rPr lang="en-US" sz="1800" dirty="0" err="1" smtClean="0"/>
              <a:t>ToggleButton</a:t>
            </a:r>
            <a:endParaRPr lang="en-US" sz="1800" dirty="0" smtClean="0"/>
          </a:p>
          <a:p>
            <a:pPr marL="1087342" lvl="3" indent="0">
              <a:lnSpc>
                <a:spcPct val="90000"/>
              </a:lnSpc>
            </a:pPr>
            <a:r>
              <a:rPr lang="en-US" sz="1800" dirty="0" err="1" smtClean="0"/>
              <a:t>ComboBox</a:t>
            </a:r>
            <a:endParaRPr lang="en-US" sz="1800" dirty="0" smtClean="0"/>
          </a:p>
          <a:p>
            <a:pPr marL="741297" lvl="2" indent="0"/>
            <a:endParaRPr lang="en-US" sz="2000" dirty="0" smtClean="0"/>
          </a:p>
          <a:p>
            <a:pPr marL="0" indent="0">
              <a:buNone/>
            </a:pPr>
            <a:endParaRPr lang="en-US" sz="2400" dirty="0" smtClean="0"/>
          </a:p>
          <a:p>
            <a:pPr lvl="1"/>
            <a:endParaRPr lang="en-US" b="1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209925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Image Component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Loads a scalable visual element into a player:  JPEG, GIF, SWF</a:t>
            </a:r>
          </a:p>
          <a:p>
            <a:pPr lvl="1">
              <a:buNone/>
            </a:pPr>
            <a:r>
              <a:rPr lang="en-US" sz="1800" dirty="0" smtClean="0">
                <a:latin typeface="Consolas"/>
                <a:cs typeface="Consolas"/>
              </a:rPr>
              <a:t>&lt;Image id="logo" height="56" width="404" source=""/&gt;</a:t>
            </a:r>
          </a:p>
          <a:p>
            <a:endParaRPr lang="en-US" sz="1800" dirty="0"/>
          </a:p>
        </p:txBody>
      </p:sp>
      <p:sp>
        <p:nvSpPr>
          <p:cNvPr id="214022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90600" y="3429000"/>
            <a:ext cx="5562600" cy="92332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dirty="0" smtClean="0"/>
              <a:t>Note: you could set the source URL here, or leave it blank to set the image in player styling in the Publishing Module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Link Component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Provides a means to display clickable text within a player</a:t>
            </a:r>
          </a:p>
          <a:p>
            <a:pPr lvl="1"/>
            <a:r>
              <a:rPr lang="en-US" sz="1800" dirty="0" smtClean="0"/>
              <a:t>used to navigate to another URL </a:t>
            </a:r>
          </a:p>
          <a:p>
            <a:pPr lvl="1"/>
            <a:r>
              <a:rPr lang="en-US" sz="1800" dirty="0" smtClean="0"/>
              <a:t>or to call JavaScript</a:t>
            </a:r>
          </a:p>
          <a:p>
            <a:endParaRPr lang="en-US" sz="1800" dirty="0" smtClean="0"/>
          </a:p>
          <a:p>
            <a:pPr lvl="1">
              <a:buNone/>
            </a:pPr>
            <a:r>
              <a:rPr lang="en-US" sz="1800" dirty="0" smtClean="0">
                <a:latin typeface="Consolas"/>
                <a:cs typeface="Consolas"/>
              </a:rPr>
              <a:t>&lt;Link width="397" height="20" text="Go to </a:t>
            </a:r>
            <a:r>
              <a:rPr lang="en-US" sz="1800" dirty="0" err="1" smtClean="0">
                <a:latin typeface="Consolas"/>
                <a:cs typeface="Consolas"/>
              </a:rPr>
              <a:t>wired.com</a:t>
            </a:r>
            <a:r>
              <a:rPr lang="en-US" sz="1800" dirty="0" smtClean="0">
                <a:latin typeface="Consolas"/>
                <a:cs typeface="Consolas"/>
              </a:rPr>
              <a:t> to see more videos" </a:t>
            </a:r>
            <a:r>
              <a:rPr lang="en-US" sz="1800" dirty="0" err="1" smtClean="0">
                <a:latin typeface="Consolas"/>
                <a:cs typeface="Consolas"/>
              </a:rPr>
              <a:t>url</a:t>
            </a:r>
            <a:r>
              <a:rPr lang="en-US" sz="1800" dirty="0" smtClean="0">
                <a:latin typeface="Consolas"/>
                <a:cs typeface="Consolas"/>
              </a:rPr>
              <a:t>="http://</a:t>
            </a:r>
            <a:r>
              <a:rPr lang="en-US" sz="1800" dirty="0" err="1" smtClean="0">
                <a:latin typeface="Consolas"/>
                <a:cs typeface="Consolas"/>
              </a:rPr>
              <a:t>www.wired.com</a:t>
            </a:r>
            <a:r>
              <a:rPr lang="en-US" sz="1800" dirty="0" smtClean="0">
                <a:latin typeface="Consolas"/>
                <a:cs typeface="Consolas"/>
              </a:rPr>
              <a:t>/video"/&gt;</a:t>
            </a:r>
          </a:p>
          <a:p>
            <a:pPr lvl="1">
              <a:buNone/>
            </a:pPr>
            <a:endParaRPr lang="en-US" sz="1800" dirty="0"/>
          </a:p>
        </p:txBody>
      </p:sp>
      <p:sp>
        <p:nvSpPr>
          <p:cNvPr id="216070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Label Component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 simple text component that allows for any text to be added to a player</a:t>
            </a:r>
          </a:p>
          <a:p>
            <a:pPr lvl="1"/>
            <a:r>
              <a:rPr lang="en-US" sz="1800" dirty="0" smtClean="0"/>
              <a:t>Can be bound dynamically to any other component's property</a:t>
            </a:r>
          </a:p>
          <a:p>
            <a:pPr lvl="1">
              <a:buNone/>
            </a:pPr>
            <a:r>
              <a:rPr lang="en-US" sz="1800" dirty="0" smtClean="0">
                <a:latin typeface="Consolas"/>
                <a:cs typeface="Consolas"/>
              </a:rPr>
              <a:t>&lt;Label width="160" height="40" text=“You are Watching" /&gt;</a:t>
            </a:r>
            <a:r>
              <a:rPr lang="en-US" sz="1800" b="1" dirty="0" smtClean="0">
                <a:latin typeface="Consolas"/>
                <a:cs typeface="Consolas"/>
              </a:rPr>
              <a:t> </a:t>
            </a:r>
          </a:p>
          <a:p>
            <a:pPr lvl="1">
              <a:buNone/>
            </a:pPr>
            <a:endParaRPr lang="en-US" sz="1800" dirty="0"/>
          </a:p>
        </p:txBody>
      </p:sp>
      <p:sp>
        <p:nvSpPr>
          <p:cNvPr id="218117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Spacer Component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 formatting component that creates space between other elements</a:t>
            </a:r>
          </a:p>
          <a:p>
            <a:pPr lvl="1"/>
            <a:r>
              <a:rPr lang="en-US" sz="1800" dirty="0" smtClean="0"/>
              <a:t>Invisible element to assist in layout positioning</a:t>
            </a:r>
          </a:p>
          <a:p>
            <a:pPr lvl="1"/>
            <a:r>
              <a:rPr lang="en-US" sz="1800" dirty="0" smtClean="0"/>
              <a:t>&lt;Spacer height="10" /&gt;</a:t>
            </a:r>
          </a:p>
          <a:p>
            <a:pPr lvl="1"/>
            <a:endParaRPr lang="en-US" sz="1800" dirty="0"/>
          </a:p>
        </p:txBody>
      </p:sp>
      <p:sp>
        <p:nvSpPr>
          <p:cNvPr id="220165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</a:t>
            </a:r>
            <a:r>
              <a:rPr lang="en-US" dirty="0"/>
              <a:t>Attributes</a:t>
            </a:r>
          </a:p>
        </p:txBody>
      </p:sp>
      <p:sp>
        <p:nvSpPr>
          <p:cNvPr id="137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800" b="1" dirty="0"/>
              <a:t>Common Attributes</a:t>
            </a:r>
          </a:p>
          <a:p>
            <a:endParaRPr lang="en-US" sz="1800" b="1" dirty="0"/>
          </a:p>
          <a:p>
            <a:r>
              <a:rPr lang="en-US" sz="1800" dirty="0"/>
              <a:t>Id</a:t>
            </a:r>
          </a:p>
          <a:p>
            <a:r>
              <a:rPr lang="en-US" sz="1800" dirty="0"/>
              <a:t>Width</a:t>
            </a:r>
          </a:p>
          <a:p>
            <a:r>
              <a:rPr lang="en-US" sz="1800" dirty="0"/>
              <a:t>Height</a:t>
            </a:r>
          </a:p>
          <a:p>
            <a:r>
              <a:rPr lang="en-US" sz="1800" dirty="0"/>
              <a:t>X, Y (if using Canvas)</a:t>
            </a:r>
          </a:p>
          <a:p>
            <a:r>
              <a:rPr lang="en-US" sz="1800" dirty="0"/>
              <a:t>Source (for data binding)</a:t>
            </a:r>
          </a:p>
        </p:txBody>
      </p:sp>
      <p:sp>
        <p:nvSpPr>
          <p:cNvPr id="1373188" name="Rectangle 4"/>
          <p:cNvSpPr>
            <a:spLocks noGrp="1" noChangeArrowheads="1"/>
          </p:cNvSpPr>
          <p:nvPr>
            <p:ph idx="1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800" b="1" dirty="0"/>
              <a:t>Component Specific</a:t>
            </a:r>
          </a:p>
          <a:p>
            <a:pPr>
              <a:buFontTx/>
              <a:buNone/>
            </a:pPr>
            <a:endParaRPr lang="en-US" sz="1800" b="1" dirty="0" smtClean="0"/>
          </a:p>
          <a:p>
            <a:pPr>
              <a:buFontTx/>
              <a:buNone/>
            </a:pPr>
            <a:r>
              <a:rPr lang="en-US" sz="1800" dirty="0" smtClean="0"/>
              <a:t>Example: </a:t>
            </a:r>
            <a:r>
              <a:rPr lang="en-US" sz="1800" dirty="0" err="1" smtClean="0"/>
              <a:t>VideoPlayer</a:t>
            </a:r>
            <a:endParaRPr lang="en-US" sz="1800" dirty="0" smtClean="0"/>
          </a:p>
          <a:p>
            <a:r>
              <a:rPr lang="en-US" sz="1800" dirty="0" err="1"/>
              <a:t>autoStart</a:t>
            </a:r>
            <a:endParaRPr lang="en-US" sz="1800" dirty="0"/>
          </a:p>
          <a:p>
            <a:r>
              <a:rPr lang="en-US" sz="1800" dirty="0" err="1"/>
              <a:t>preventFullScreen</a:t>
            </a:r>
            <a:endParaRPr lang="en-US" sz="1800" dirty="0"/>
          </a:p>
          <a:p>
            <a:r>
              <a:rPr lang="en-US" sz="1800" dirty="0"/>
              <a:t>video</a:t>
            </a:r>
          </a:p>
          <a:p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5105400"/>
            <a:ext cx="6930086" cy="923322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Note: </a:t>
            </a:r>
          </a:p>
          <a:p>
            <a:pPr>
              <a:buFont typeface="Arial"/>
              <a:buChar char="•"/>
            </a:pPr>
            <a:r>
              <a:rPr lang="en-US" dirty="0" smtClean="0"/>
              <a:t> an id in XML must be unique within the document</a:t>
            </a:r>
          </a:p>
          <a:p>
            <a:pPr>
              <a:buFont typeface="Arial"/>
              <a:buChar char="•"/>
            </a:pPr>
            <a:r>
              <a:rPr lang="en-US" dirty="0" smtClean="0"/>
              <a:t> ids must have specific values for some elements for data binding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187" grpId="0" build="p"/>
      <p:bldP spid="137318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Components</a:t>
            </a:r>
          </a:p>
        </p:txBody>
      </p:sp>
      <p:sp>
        <p:nvSpPr>
          <p:cNvPr id="1393669" name="Text Box 5"/>
          <p:cNvSpPr txBox="1">
            <a:spLocks noChangeArrowheads="1"/>
          </p:cNvSpPr>
          <p:nvPr/>
        </p:nvSpPr>
        <p:spPr bwMode="auto">
          <a:xfrm rot="-1391916">
            <a:off x="7484598" y="1825729"/>
            <a:ext cx="12192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en-US" sz="1600" dirty="0"/>
              <a:t> List</a:t>
            </a:r>
          </a:p>
        </p:txBody>
      </p:sp>
      <p:pic>
        <p:nvPicPr>
          <p:cNvPr id="8" name="Picture 7" descr="playerWithTab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086" y="1447800"/>
            <a:ext cx="6443913" cy="3627684"/>
          </a:xfrm>
          <a:prstGeom prst="rect">
            <a:avLst/>
          </a:prstGeom>
        </p:spPr>
      </p:pic>
      <p:sp>
        <p:nvSpPr>
          <p:cNvPr id="1393670" name="Text Box 6"/>
          <p:cNvSpPr txBox="1">
            <a:spLocks noChangeArrowheads="1"/>
          </p:cNvSpPr>
          <p:nvPr/>
        </p:nvSpPr>
        <p:spPr bwMode="auto">
          <a:xfrm>
            <a:off x="7620000" y="3048000"/>
            <a:ext cx="12192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 err="1" smtClean="0"/>
              <a:t>ListItem</a:t>
            </a:r>
            <a:endParaRPr lang="en-US" sz="1600" dirty="0"/>
          </a:p>
        </p:txBody>
      </p:sp>
      <p:cxnSp>
        <p:nvCxnSpPr>
          <p:cNvPr id="10" name="Straight Arrow Connector 9"/>
          <p:cNvCxnSpPr/>
          <p:nvPr/>
        </p:nvCxnSpPr>
        <p:spPr>
          <a:xfrm rot="10800000" flipV="1">
            <a:off x="6858000" y="3276600"/>
            <a:ext cx="76200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ft Arrow 10"/>
          <p:cNvSpPr/>
          <p:nvPr/>
        </p:nvSpPr>
        <p:spPr>
          <a:xfrm rot="20078368">
            <a:off x="7102602" y="2053410"/>
            <a:ext cx="457200" cy="5334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2" tIns="45716" rIns="91432" bIns="45716"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019800" y="13716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257800" y="1066801"/>
            <a:ext cx="8382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 err="1" smtClean="0"/>
              <a:t>TabBar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TabBar</a:t>
            </a:r>
            <a:r>
              <a:rPr lang="en-US" dirty="0" smtClean="0"/>
              <a:t> </a:t>
            </a:r>
            <a:r>
              <a:rPr lang="en-US" dirty="0"/>
              <a:t>Component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5097" indent="-171435"/>
            <a:r>
              <a:rPr lang="en-US" sz="1800" dirty="0" smtClean="0">
                <a:solidFill>
                  <a:srgbClr val="3B3B3B"/>
                </a:solidFill>
              </a:rPr>
              <a:t>A series of tabs that page horizontally</a:t>
            </a:r>
          </a:p>
          <a:p>
            <a:pPr marL="873049" lvl="1" indent="-171435"/>
            <a:r>
              <a:rPr lang="en-US" sz="1800" dirty="0" smtClean="0">
                <a:solidFill>
                  <a:srgbClr val="3B3B3B"/>
                </a:solidFill>
              </a:rPr>
              <a:t>Allows for a single selection in the collection</a:t>
            </a:r>
          </a:p>
          <a:p>
            <a:pPr marL="873049" lvl="1" indent="-171435"/>
            <a:r>
              <a:rPr lang="en-US" sz="1800" dirty="0" smtClean="0">
                <a:solidFill>
                  <a:srgbClr val="3B3B3B"/>
                </a:solidFill>
              </a:rPr>
              <a:t>Displays left and right navigation when the number of tabs exceeds the component dimensions</a:t>
            </a:r>
          </a:p>
          <a:p>
            <a:pPr marL="873049" lvl="1" indent="-171435"/>
            <a:r>
              <a:rPr lang="en-US" sz="1800" dirty="0" smtClean="0">
                <a:solidFill>
                  <a:srgbClr val="3B3B3B"/>
                </a:solidFill>
              </a:rPr>
              <a:t>Holds up to 100 playlists</a:t>
            </a:r>
          </a:p>
          <a:p>
            <a:pPr marL="873049" lvl="1" indent="-171435"/>
            <a:r>
              <a:rPr lang="en-US" sz="1800" dirty="0" smtClean="0">
                <a:solidFill>
                  <a:srgbClr val="3B3B3B"/>
                </a:solidFill>
              </a:rPr>
              <a:t>By default, includes roll over menu to display all playlist</a:t>
            </a:r>
          </a:p>
          <a:p>
            <a:pPr marL="873049" lvl="1" indent="-171435"/>
            <a:r>
              <a:rPr lang="en-US" sz="1800" dirty="0" smtClean="0">
                <a:solidFill>
                  <a:srgbClr val="3B3B3B"/>
                </a:solidFill>
              </a:rPr>
              <a:t>If only one playlist is assigned to the </a:t>
            </a:r>
            <a:br>
              <a:rPr lang="en-US" sz="1800" dirty="0" smtClean="0">
                <a:solidFill>
                  <a:srgbClr val="3B3B3B"/>
                </a:solidFill>
              </a:rPr>
            </a:br>
            <a:r>
              <a:rPr lang="en-US" sz="1800" dirty="0" smtClean="0">
                <a:solidFill>
                  <a:srgbClr val="3B3B3B"/>
                </a:solidFill>
              </a:rPr>
              <a:t>player, the </a:t>
            </a:r>
            <a:r>
              <a:rPr lang="en-US" sz="1800" dirty="0" err="1" smtClean="0">
                <a:solidFill>
                  <a:srgbClr val="3B3B3B"/>
                </a:solidFill>
              </a:rPr>
              <a:t>TabBar</a:t>
            </a:r>
            <a:r>
              <a:rPr lang="en-US" sz="1800" dirty="0" smtClean="0">
                <a:solidFill>
                  <a:srgbClr val="3B3B3B"/>
                </a:solidFill>
              </a:rPr>
              <a:t> can be set to invisible</a:t>
            </a:r>
          </a:p>
          <a:p>
            <a:pPr marL="873049" lvl="1" indent="-171435">
              <a:buNone/>
            </a:pPr>
            <a: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  <a:t> &lt;</a:t>
            </a:r>
            <a:r>
              <a:rPr lang="en-US" sz="1800" dirty="0" err="1" smtClean="0">
                <a:solidFill>
                  <a:srgbClr val="56595C"/>
                </a:solidFill>
                <a:latin typeface="Consolas"/>
                <a:cs typeface="Consolas"/>
              </a:rPr>
              <a:t>TabBar</a:t>
            </a:r>
            <a: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  <a:t> id="</a:t>
            </a:r>
            <a:r>
              <a:rPr lang="en-US" sz="1800" dirty="0" err="1" smtClean="0">
                <a:solidFill>
                  <a:srgbClr val="56595C"/>
                </a:solidFill>
                <a:latin typeface="Consolas"/>
                <a:cs typeface="Consolas"/>
              </a:rPr>
              <a:t>playlistTabs</a:t>
            </a:r>
            <a: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  <a:t>" height="22"  </a:t>
            </a:r>
            <a:b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</a:br>
            <a:r>
              <a:rPr lang="en-US" sz="1800" dirty="0" err="1" smtClean="0">
                <a:solidFill>
                  <a:srgbClr val="56595C"/>
                </a:solidFill>
                <a:latin typeface="Consolas"/>
                <a:cs typeface="Consolas"/>
              </a:rPr>
              <a:t>tabAlign</a:t>
            </a:r>
            <a: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  <a:t>="right" </a:t>
            </a:r>
            <a:r>
              <a:rPr lang="en-US" sz="1800" dirty="0" err="1" smtClean="0">
                <a:solidFill>
                  <a:srgbClr val="56595C"/>
                </a:solidFill>
                <a:latin typeface="Consolas"/>
                <a:cs typeface="Consolas"/>
              </a:rPr>
              <a:t>hideSingleTab</a:t>
            </a:r>
            <a:r>
              <a:rPr lang="en-US" sz="1800" dirty="0" smtClean="0">
                <a:solidFill>
                  <a:srgbClr val="56595C"/>
                </a:solidFill>
                <a:latin typeface="Consolas"/>
                <a:cs typeface="Consolas"/>
              </a:rPr>
              <a:t>="true"/&gt;</a:t>
            </a:r>
          </a:p>
          <a:p>
            <a:pPr marL="873049" lvl="1" indent="-171435"/>
            <a:endParaRPr lang="en-US" sz="1800" dirty="0" smtClean="0">
              <a:solidFill>
                <a:srgbClr val="3B3B3B"/>
              </a:solidFill>
            </a:endParaRPr>
          </a:p>
          <a:p>
            <a:endParaRPr lang="en-US" sz="1800" dirty="0"/>
          </a:p>
        </p:txBody>
      </p:sp>
      <p:sp>
        <p:nvSpPr>
          <p:cNvPr id="246789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List</a:t>
            </a:r>
            <a:r>
              <a:rPr lang="en-US" dirty="0" smtClean="0"/>
              <a:t> and </a:t>
            </a:r>
            <a:r>
              <a:rPr lang="en-US" dirty="0" err="1" smtClean="0"/>
              <a:t>ListItem</a:t>
            </a:r>
            <a:r>
              <a:rPr lang="en-US" dirty="0" smtClean="0"/>
              <a:t> component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List</a:t>
            </a:r>
          </a:p>
          <a:p>
            <a:pPr lvl="1"/>
            <a:r>
              <a:rPr lang="en-US" sz="1600" dirty="0" smtClean="0"/>
              <a:t>A vertical scrolling List with user-defined list items</a:t>
            </a:r>
          </a:p>
          <a:p>
            <a:pPr lvl="1"/>
            <a:r>
              <a:rPr lang="en-US" sz="1600" dirty="0" smtClean="0"/>
              <a:t>A List contains </a:t>
            </a:r>
            <a:r>
              <a:rPr lang="en-US" sz="1600" dirty="0" err="1" smtClean="0"/>
              <a:t>ListItems</a:t>
            </a:r>
            <a:r>
              <a:rPr lang="en-US" sz="1600" dirty="0" smtClean="0"/>
              <a:t>, each of which can contain other components </a:t>
            </a:r>
          </a:p>
          <a:p>
            <a:r>
              <a:rPr lang="en-US" sz="1600" dirty="0" err="1" smtClean="0"/>
              <a:t>TileList</a:t>
            </a:r>
            <a:endParaRPr lang="en-US" sz="1600" dirty="0" smtClean="0"/>
          </a:p>
          <a:p>
            <a:pPr lvl="1"/>
            <a:r>
              <a:rPr lang="en-US" sz="1600" dirty="0" smtClean="0"/>
              <a:t>A grid-like list</a:t>
            </a:r>
          </a:p>
          <a:p>
            <a:pPr lvl="1"/>
            <a:r>
              <a:rPr lang="en-US" sz="1600" dirty="0" smtClean="0"/>
              <a:t>Use </a:t>
            </a:r>
            <a:r>
              <a:rPr lang="en-US" sz="1600" dirty="0" err="1" smtClean="0"/>
              <a:t>ListItem</a:t>
            </a:r>
            <a:r>
              <a:rPr lang="en-US" sz="1600" dirty="0" smtClean="0"/>
              <a:t> for the items, just like List</a:t>
            </a:r>
          </a:p>
          <a:p>
            <a:r>
              <a:rPr lang="en-US" sz="1600" dirty="0" err="1" smtClean="0"/>
              <a:t>ListItem</a:t>
            </a:r>
            <a:endParaRPr lang="en-US" sz="1600" dirty="0" smtClean="0"/>
          </a:p>
          <a:p>
            <a:pPr lvl="1"/>
            <a:r>
              <a:rPr lang="en-US" sz="1600" dirty="0" smtClean="0"/>
              <a:t>Serves as the visual definition of all videos rendered within a playlist</a:t>
            </a:r>
          </a:p>
          <a:p>
            <a:pPr lvl="1"/>
            <a:r>
              <a:rPr lang="en-US" sz="1600" dirty="0" smtClean="0"/>
              <a:t>Cannot be used by itself</a:t>
            </a:r>
          </a:p>
          <a:p>
            <a:pPr lvl="1"/>
            <a:r>
              <a:rPr lang="en-US" sz="1600" dirty="0" smtClean="0"/>
              <a:t>Must be defined within a List or </a:t>
            </a:r>
            <a:r>
              <a:rPr lang="en-US" sz="1600" dirty="0" err="1" smtClean="0"/>
              <a:t>TileList</a:t>
            </a:r>
            <a:r>
              <a:rPr lang="en-US" sz="1600" dirty="0" smtClean="0"/>
              <a:t> component </a:t>
            </a:r>
          </a:p>
          <a:p>
            <a:pPr lvl="1"/>
            <a:r>
              <a:rPr lang="en-US" sz="1600" dirty="0" smtClean="0"/>
              <a:t>ONLY define 1 </a:t>
            </a:r>
            <a:r>
              <a:rPr lang="en-US" sz="1600" dirty="0" err="1" smtClean="0"/>
              <a:t>Listitem</a:t>
            </a:r>
            <a:endParaRPr lang="en-US" sz="1600" dirty="0" smtClean="0"/>
          </a:p>
          <a:p>
            <a:r>
              <a:rPr lang="en-US" sz="1600" dirty="0" smtClean="0"/>
              <a:t>Contains subcomponents (DTD)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250885" name="Oval 9"/>
          <p:cNvSpPr>
            <a:spLocks noChangeArrowheads="1"/>
          </p:cNvSpPr>
          <p:nvPr/>
        </p:nvSpPr>
        <p:spPr bwMode="auto">
          <a:xfrm>
            <a:off x="7315200" y="-2438400"/>
            <a:ext cx="1219200" cy="533400"/>
          </a:xfrm>
          <a:prstGeom prst="ellipse">
            <a:avLst/>
          </a:prstGeom>
          <a:noFill/>
          <a:ln w="76200">
            <a:solidFill>
              <a:srgbClr val="CC3366"/>
            </a:solidFill>
            <a:round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90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ListItem Component Example</a:t>
            </a:r>
          </a:p>
        </p:txBody>
      </p:sp>
      <p:sp>
        <p:nvSpPr>
          <p:cNvPr id="518147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&lt;</a:t>
            </a:r>
            <a:r>
              <a:rPr lang="en-US" sz="1600" dirty="0" err="1">
                <a:latin typeface="Consolas"/>
                <a:cs typeface="Consolas"/>
              </a:rPr>
              <a:t>TabBar</a:t>
            </a:r>
            <a:r>
              <a:rPr lang="en-US" sz="1600" dirty="0">
                <a:latin typeface="Consolas"/>
                <a:cs typeface="Consolas"/>
              </a:rPr>
              <a:t> id="</a:t>
            </a:r>
            <a:r>
              <a:rPr lang="en-US" sz="1600" dirty="0" err="1" smtClean="0">
                <a:solidFill>
                  <a:srgbClr val="1D9999"/>
                </a:solidFill>
                <a:latin typeface="Consolas"/>
                <a:cs typeface="Consolas"/>
              </a:rPr>
              <a:t>playlistTabs</a:t>
            </a:r>
            <a:r>
              <a:rPr lang="en-US" sz="1600" dirty="0" smtClean="0">
                <a:solidFill>
                  <a:srgbClr val="1D9999"/>
                </a:solidFill>
                <a:latin typeface="Consolas"/>
                <a:cs typeface="Consolas"/>
              </a:rPr>
              <a:t>” </a:t>
            </a:r>
            <a:r>
              <a:rPr lang="en-US" sz="1600" dirty="0">
                <a:solidFill>
                  <a:srgbClr val="1D9999"/>
                </a:solidFill>
                <a:latin typeface="Consolas"/>
                <a:cs typeface="Consolas"/>
              </a:rPr>
              <a:t>height="22" 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&lt;List id="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videoList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" 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rowHeight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="78" 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automaticAdvance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="true" data="{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playlistTabs.selectedItem.videoDTOs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}" 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selectOnClick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="true" 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itemInsetV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="4" </a:t>
            </a:r>
            <a:r>
              <a:rPr lang="en-US" sz="1600" b="1" dirty="0" err="1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itemLeading</a:t>
            </a:r>
            <a:r>
              <a:rPr lang="en-US" sz="1600" b="1" dirty="0">
                <a:solidFill>
                  <a:srgbClr val="1D9999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="2"&gt;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solidFill>
                  <a:srgbClr val="1D9999"/>
                </a:solidFill>
                <a:latin typeface="Consolas"/>
                <a:cs typeface="Consolas"/>
              </a:rPr>
              <a:t>   &lt;</a:t>
            </a:r>
            <a:r>
              <a:rPr lang="en-US" sz="1600" b="1" dirty="0" err="1">
                <a:solidFill>
                  <a:srgbClr val="1D9999"/>
                </a:solidFill>
                <a:latin typeface="Consolas"/>
                <a:cs typeface="Consolas"/>
              </a:rPr>
              <a:t>ListItem</a:t>
            </a:r>
            <a:r>
              <a:rPr lang="en-US" sz="1600" b="1" dirty="0">
                <a:solidFill>
                  <a:srgbClr val="1D9999"/>
                </a:solidFill>
                <a:latin typeface="Consolas"/>
                <a:cs typeface="Consolas"/>
              </a:rPr>
              <a:t> </a:t>
            </a:r>
            <a:r>
              <a:rPr lang="en-US" sz="1600" dirty="0" err="1">
                <a:latin typeface="Consolas"/>
                <a:cs typeface="Consolas"/>
              </a:rPr>
              <a:t>boxType</a:t>
            </a:r>
            <a:r>
              <a:rPr lang="en-US" sz="1600" dirty="0">
                <a:latin typeface="Consolas"/>
                <a:cs typeface="Consolas"/>
              </a:rPr>
              <a:t>="</a:t>
            </a:r>
            <a:r>
              <a:rPr lang="en-US" sz="1600" dirty="0" err="1">
                <a:latin typeface="Consolas"/>
                <a:cs typeface="Consolas"/>
              </a:rPr>
              <a:t>hbox</a:t>
            </a:r>
            <a:r>
              <a:rPr lang="en-US" sz="1600" dirty="0">
                <a:latin typeface="Consolas"/>
                <a:cs typeface="Consolas"/>
              </a:rPr>
              <a:t>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&lt;Spacer width="8"/&gt;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 width="80" height="74" </a:t>
            </a:r>
            <a:r>
              <a:rPr lang="en-US" sz="1600" dirty="0" err="1">
                <a:latin typeface="Consolas"/>
                <a:cs typeface="Consolas"/>
              </a:rPr>
              <a:t>vAlign</a:t>
            </a:r>
            <a:r>
              <a:rPr lang="en-US" sz="1600" dirty="0">
                <a:latin typeface="Consolas"/>
                <a:cs typeface="Consolas"/>
              </a:rPr>
              <a:t>="middle"&gt;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    &lt;</a:t>
            </a:r>
            <a:r>
              <a:rPr lang="en-US" sz="1600" dirty="0" err="1">
                <a:latin typeface="Consolas"/>
                <a:cs typeface="Consolas"/>
              </a:rPr>
              <a:t>ThumbnailButton</a:t>
            </a:r>
            <a:r>
              <a:rPr lang="en-US" sz="1600" dirty="0">
                <a:latin typeface="Consolas"/>
                <a:cs typeface="Consolas"/>
              </a:rPr>
              <a:t> height="60" data="{</a:t>
            </a:r>
            <a:r>
              <a:rPr lang="en-US" sz="1600" dirty="0" err="1">
                <a:latin typeface="Consolas"/>
                <a:cs typeface="Consolas"/>
              </a:rPr>
              <a:t>currentItem}“source</a:t>
            </a:r>
            <a:r>
              <a:rPr lang="en-US" sz="1600" dirty="0">
                <a:latin typeface="Consolas"/>
                <a:cs typeface="Consolas"/>
              </a:rPr>
              <a:t>=“{</a:t>
            </a:r>
            <a:r>
              <a:rPr lang="en-US" sz="1600" dirty="0" err="1">
                <a:latin typeface="Consolas"/>
                <a:cs typeface="Consolas"/>
              </a:rPr>
              <a:t>currentItem.thumbnailURL</a:t>
            </a:r>
            <a:r>
              <a:rPr lang="en-US" sz="1600" dirty="0">
                <a:latin typeface="Consolas"/>
                <a:cs typeface="Consolas"/>
              </a:rPr>
              <a:t>}”/&gt;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&lt;/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&lt;Spacer width="7"/&gt;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    &lt;Spacer height="3"/&gt;</a:t>
            </a:r>
            <a:br>
              <a:rPr lang="en-US" sz="1600" dirty="0">
                <a:latin typeface="Consolas"/>
                <a:cs typeface="Consolas"/>
              </a:rPr>
            </a:br>
            <a:r>
              <a:rPr lang="en-US" sz="1600" dirty="0">
                <a:latin typeface="Consolas"/>
                <a:cs typeface="Consolas"/>
              </a:rPr>
              <a:t>       &lt;</a:t>
            </a:r>
            <a:r>
              <a:rPr lang="en-US" sz="1600" dirty="0" err="1">
                <a:latin typeface="Consolas"/>
                <a:cs typeface="Consolas"/>
              </a:rPr>
              <a:t>TitleLabel</a:t>
            </a:r>
            <a:r>
              <a:rPr lang="en-US" sz="1600" dirty="0">
                <a:latin typeface="Consolas"/>
                <a:cs typeface="Consolas"/>
              </a:rPr>
              <a:t> height="18" text="{</a:t>
            </a:r>
            <a:r>
              <a:rPr lang="en-US" sz="1600" dirty="0" err="1">
                <a:latin typeface="Consolas"/>
                <a:cs typeface="Consolas"/>
              </a:rPr>
              <a:t>currentItem.displayName</a:t>
            </a:r>
            <a:r>
              <a:rPr lang="en-US" sz="1600" dirty="0">
                <a:latin typeface="Consolas"/>
                <a:cs typeface="Consolas"/>
              </a:rPr>
              <a:t>}" truncate="true"/&gt;                                         </a:t>
            </a:r>
            <a:br>
              <a:rPr lang="en-US" sz="1600" dirty="0">
                <a:latin typeface="Consolas"/>
                <a:cs typeface="Consolas"/>
              </a:rPr>
            </a:br>
            <a:r>
              <a:rPr lang="en-US" sz="1600" dirty="0">
                <a:latin typeface="Consolas"/>
                <a:cs typeface="Consolas"/>
              </a:rPr>
              <a:t>       &lt;Label height="52" multiline="true" text="{</a:t>
            </a:r>
            <a:r>
              <a:rPr lang="en-US" sz="1600" dirty="0" err="1">
                <a:latin typeface="Consolas"/>
                <a:cs typeface="Consolas"/>
              </a:rPr>
              <a:t>currentItem.shortDescription</a:t>
            </a:r>
            <a:r>
              <a:rPr lang="en-US" sz="1600" dirty="0">
                <a:latin typeface="Consolas"/>
                <a:cs typeface="Consolas"/>
              </a:rPr>
              <a:t>}" truncate="true"/&gt;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&lt;/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endParaRPr lang="en-US" sz="1600" dirty="0">
              <a:latin typeface="Consolas"/>
              <a:cs typeface="Consolas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dirty="0">
                <a:latin typeface="Consolas"/>
                <a:cs typeface="Consolas"/>
              </a:rPr>
              <a:t>        &lt;Spacer width="3"/&gt;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   </a:t>
            </a:r>
            <a:r>
              <a:rPr lang="en-US" sz="1600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&lt;/</a:t>
            </a:r>
            <a:r>
              <a:rPr lang="en-US" sz="1600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ListItem</a:t>
            </a:r>
            <a:r>
              <a:rPr lang="en-US" sz="1600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b="1" dirty="0">
                <a:solidFill>
                  <a:schemeClr val="hlink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&lt;/List&gt;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600" b="1" dirty="0">
              <a:solidFill>
                <a:schemeClr val="hlink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 smtClean="0"/>
              <a:t>Exercise 2: Modifying your </a:t>
            </a:r>
            <a:r>
              <a:rPr lang="en-US" sz="2800" dirty="0" smtClean="0"/>
              <a:t>Simple BEML Template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Exercise 2: Modifying your </a:t>
            </a:r>
            <a:r>
              <a:rPr lang="en-US" sz="2000" dirty="0" smtClean="0"/>
              <a:t>Simple BEML Template </a:t>
            </a:r>
            <a:endParaRPr lang="en-US" sz="2000" dirty="0"/>
          </a:p>
        </p:txBody>
      </p:sp>
      <p:sp>
        <p:nvSpPr>
          <p:cNvPr id="1391619" name="Rectangle 3"/>
          <p:cNvSpPr>
            <a:spLocks noGrp="1" noChangeArrowheads="1"/>
          </p:cNvSpPr>
          <p:nvPr>
            <p:ph idx="1"/>
          </p:nvPr>
        </p:nvSpPr>
        <p:spPr>
          <a:xfrm>
            <a:off x="285676" y="1344611"/>
            <a:ext cx="6158565" cy="4363878"/>
          </a:xfrm>
        </p:spPr>
        <p:txBody>
          <a:bodyPr>
            <a:normAutofit fontScale="85000" lnSpcReduction="20000"/>
          </a:bodyPr>
          <a:lstStyle/>
          <a:p>
            <a:pPr marL="495257" indent="-495257">
              <a:buFontTx/>
              <a:buAutoNum type="arabicPeriod"/>
            </a:pPr>
            <a:r>
              <a:rPr lang="en-US" sz="2200" dirty="0"/>
              <a:t>Add the following components to your </a:t>
            </a:r>
            <a:r>
              <a:rPr lang="en-US" sz="2200" i="1" dirty="0" err="1"/>
              <a:t>SimpleBEMLTemplate</a:t>
            </a:r>
            <a:r>
              <a:rPr lang="en-US" sz="2200" dirty="0"/>
              <a:t>:</a:t>
            </a:r>
          </a:p>
          <a:p>
            <a:pPr marL="1066707" lvl="1" indent="-457160">
              <a:buFont typeface="Wingdings" charset="2"/>
              <a:buChar char="q"/>
            </a:pPr>
            <a:r>
              <a:rPr lang="en-US" sz="2000" dirty="0"/>
              <a:t>Image area – Use whatever image you’d </a:t>
            </a:r>
            <a:r>
              <a:rPr lang="en-US" sz="2000" dirty="0" smtClean="0"/>
              <a:t>like, or </a:t>
            </a:r>
            <a:r>
              <a:rPr lang="en-US" sz="2000" dirty="0" smtClean="0">
                <a:hlinkClick r:id="rId3"/>
              </a:rPr>
              <a:t>http://img.brightcove.com/brightcove-logo.png</a:t>
            </a:r>
            <a:endParaRPr lang="en-US" sz="2000" dirty="0" smtClean="0"/>
          </a:p>
          <a:p>
            <a:pPr marL="1066707" lvl="1" indent="-457160">
              <a:buFont typeface="Wingdings" charset="2"/>
              <a:buChar char="q"/>
            </a:pPr>
            <a:r>
              <a:rPr lang="en-US" sz="2000" dirty="0"/>
              <a:t>10 pixels between image area and video player</a:t>
            </a:r>
          </a:p>
          <a:p>
            <a:pPr marL="1066707" lvl="1" indent="-457160">
              <a:buFont typeface="Wingdings" charset="2"/>
              <a:buChar char="q"/>
            </a:pPr>
            <a:r>
              <a:rPr lang="en-US" sz="2000" dirty="0"/>
              <a:t>A label that says “Video rocks”</a:t>
            </a:r>
            <a:br>
              <a:rPr lang="en-US" sz="2000" dirty="0"/>
            </a:br>
            <a:endParaRPr lang="en-US" sz="2000" dirty="0"/>
          </a:p>
          <a:p>
            <a:pPr marL="1066707" lvl="1" indent="-457160">
              <a:buFont typeface="Wingdings" charset="2"/>
              <a:buChar char="q"/>
            </a:pP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r>
              <a:rPr lang="en-US" sz="2000" b="1" dirty="0"/>
              <a:t>Don’t worry about the style or layout of this template</a:t>
            </a:r>
          </a:p>
          <a:p>
            <a:pPr marL="1066707" lvl="1" indent="-457160">
              <a:buFont typeface="Wingdings" charset="2"/>
              <a:buChar char="ü"/>
            </a:pPr>
            <a:r>
              <a:rPr lang="en-US" sz="2000" dirty="0"/>
              <a:t>Use </a:t>
            </a:r>
            <a:r>
              <a:rPr lang="en-US" sz="2000" dirty="0" err="1"/>
              <a:t>support.brightcove.com</a:t>
            </a:r>
            <a:endParaRPr lang="en-US" sz="2000" dirty="0"/>
          </a:p>
          <a:p>
            <a:pPr marL="1066707" lvl="1" indent="-457160">
              <a:buFont typeface="Wingdings" charset="2"/>
              <a:buChar char="ü"/>
            </a:pPr>
            <a:r>
              <a:rPr lang="en-US" sz="2000" dirty="0"/>
              <a:t>Use the DTD reference </a:t>
            </a:r>
          </a:p>
        </p:txBody>
      </p:sp>
      <p:pic>
        <p:nvPicPr>
          <p:cNvPr id="13916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99409" y="1925618"/>
            <a:ext cx="2227263" cy="2509838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514600" y="5943600"/>
            <a:ext cx="5094122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SimpleBEMLTemplateModifiedEx2.xml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BEML - Layout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14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Layout 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dirty="0"/>
              <a:t>All layout elements are contained within the </a:t>
            </a: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&lt;Layout&gt;</a:t>
            </a:r>
            <a:r>
              <a:rPr lang="en-US" sz="1800" dirty="0"/>
              <a:t> tag </a:t>
            </a:r>
          </a:p>
          <a:p>
            <a:pPr eaLnBrk="1" hangingPunct="1"/>
            <a:r>
              <a:rPr lang="en-US" sz="1800" dirty="0" smtClean="0"/>
              <a:t>Container type for the Layout defined by an </a:t>
            </a:r>
            <a:r>
              <a:rPr lang="en-US" sz="1800" dirty="0"/>
              <a:t>attribute called “</a:t>
            </a:r>
            <a:r>
              <a:rPr lang="en-US" sz="1800" dirty="0" err="1"/>
              <a:t>boxType</a:t>
            </a:r>
            <a:r>
              <a:rPr lang="en-US" sz="1800" dirty="0"/>
              <a:t>”</a:t>
            </a:r>
            <a:endParaRPr lang="en-US" sz="1800" dirty="0">
              <a:solidFill>
                <a:schemeClr val="bg2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1414149" name="Text Box 4"/>
          <p:cNvSpPr txBox="1">
            <a:spLocks noChangeArrowheads="1"/>
          </p:cNvSpPr>
          <p:nvPr/>
        </p:nvSpPr>
        <p:spPr bwMode="auto">
          <a:xfrm>
            <a:off x="457200" y="2667000"/>
            <a:ext cx="7772400" cy="341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nsolas"/>
                <a:cs typeface="Consolas"/>
              </a:rPr>
              <a:t>&lt;Layout</a:t>
            </a:r>
            <a:r>
              <a:rPr lang="en-US" dirty="0">
                <a:latin typeface="Consolas"/>
                <a:cs typeface="Consolas"/>
              </a:rPr>
              <a:t> id='application' width='480' height='540' </a:t>
            </a:r>
            <a:r>
              <a:rPr lang="en-US" b="1" dirty="0" err="1">
                <a:latin typeface="Consolas"/>
                <a:cs typeface="Consolas"/>
              </a:rPr>
              <a:t>boxType</a:t>
            </a:r>
            <a:r>
              <a:rPr lang="en-US" b="1" dirty="0">
                <a:latin typeface="Consolas"/>
                <a:cs typeface="Consolas"/>
              </a:rPr>
              <a:t>='</a:t>
            </a:r>
            <a:r>
              <a:rPr lang="en-US" b="1" dirty="0" err="1">
                <a:latin typeface="Consolas"/>
                <a:cs typeface="Consolas"/>
              </a:rPr>
              <a:t>vbox</a:t>
            </a:r>
            <a:r>
              <a:rPr lang="en-US" b="1" dirty="0">
                <a:latin typeface="Consolas"/>
                <a:cs typeface="Consolas"/>
              </a:rPr>
              <a:t>'</a:t>
            </a:r>
            <a:r>
              <a:rPr lang="en-US" dirty="0">
                <a:latin typeface="Consolas"/>
                <a:cs typeface="Consolas"/>
              </a:rPr>
              <a:t>&gt;</a:t>
            </a:r>
          </a:p>
          <a:p>
            <a:r>
              <a:rPr lang="en-US" dirty="0">
                <a:latin typeface="Consolas"/>
                <a:cs typeface="Consolas"/>
              </a:rPr>
              <a:t>    &lt;</a:t>
            </a:r>
            <a:r>
              <a:rPr lang="en-US" dirty="0" err="1">
                <a:latin typeface="Consolas"/>
                <a:cs typeface="Consolas"/>
              </a:rPr>
              <a:t>VideoPlayer</a:t>
            </a:r>
            <a:r>
              <a:rPr lang="en-US" dirty="0">
                <a:latin typeface="Consolas"/>
                <a:cs typeface="Consolas"/>
              </a:rPr>
              <a:t> … /&gt;</a:t>
            </a:r>
          </a:p>
          <a:p>
            <a:r>
              <a:rPr lang="en-US" dirty="0">
                <a:latin typeface="Consolas"/>
                <a:cs typeface="Consolas"/>
              </a:rPr>
              <a:t>    &lt;Spacer height='5' /&gt;</a:t>
            </a:r>
          </a:p>
          <a:p>
            <a:r>
              <a:rPr lang="en-US" dirty="0">
                <a:latin typeface="Consolas"/>
                <a:cs typeface="Consolas"/>
              </a:rPr>
              <a:t>    &lt;</a:t>
            </a:r>
            <a:r>
              <a:rPr lang="en-US" dirty="0" err="1">
                <a:latin typeface="Consolas"/>
                <a:cs typeface="Consolas"/>
              </a:rPr>
              <a:t>VBox</a:t>
            </a:r>
            <a:r>
              <a:rPr lang="en-US" dirty="0">
                <a:latin typeface="Consolas"/>
                <a:cs typeface="Consolas"/>
              </a:rPr>
              <a:t> height='264'&gt;</a:t>
            </a:r>
          </a:p>
          <a:p>
            <a:r>
              <a:rPr lang="en-US" dirty="0">
                <a:latin typeface="Consolas"/>
                <a:cs typeface="Consolas"/>
              </a:rPr>
              <a:t>      &lt;</a:t>
            </a:r>
            <a:r>
              <a:rPr lang="en-US" dirty="0" err="1">
                <a:latin typeface="Consolas"/>
                <a:cs typeface="Consolas"/>
              </a:rPr>
              <a:t>TabBar</a:t>
            </a:r>
            <a:r>
              <a:rPr lang="en-US" dirty="0">
                <a:latin typeface="Consolas"/>
                <a:cs typeface="Consolas"/>
              </a:rPr>
              <a:t> … /&gt;</a:t>
            </a:r>
          </a:p>
          <a:p>
            <a:r>
              <a:rPr lang="en-US" dirty="0">
                <a:latin typeface="Consolas"/>
                <a:cs typeface="Consolas"/>
              </a:rPr>
              <a:t>      &lt;List …&gt;</a:t>
            </a:r>
          </a:p>
          <a:p>
            <a:r>
              <a:rPr lang="en-US" dirty="0">
                <a:latin typeface="Consolas"/>
                <a:cs typeface="Consolas"/>
              </a:rPr>
              <a:t>        &lt;</a:t>
            </a:r>
            <a:r>
              <a:rPr lang="en-US" dirty="0" err="1">
                <a:latin typeface="Consolas"/>
                <a:cs typeface="Consolas"/>
              </a:rPr>
              <a:t>ListItem</a:t>
            </a:r>
            <a:r>
              <a:rPr lang="en-US" dirty="0">
                <a:latin typeface="Consolas"/>
                <a:cs typeface="Consolas"/>
              </a:rPr>
              <a:t> …&gt;</a:t>
            </a:r>
          </a:p>
          <a:p>
            <a:r>
              <a:rPr lang="en-US" dirty="0">
                <a:latin typeface="Consolas"/>
                <a:cs typeface="Consolas"/>
              </a:rPr>
              <a:t>          &lt;Spacer width='8' /&gt;</a:t>
            </a:r>
          </a:p>
          <a:p>
            <a:r>
              <a:rPr lang="en-US" dirty="0">
                <a:latin typeface="Consolas"/>
                <a:cs typeface="Consolas"/>
              </a:rPr>
              <a:t>          &lt;</a:t>
            </a:r>
            <a:r>
              <a:rPr lang="en-US" dirty="0" err="1">
                <a:latin typeface="Consolas"/>
                <a:cs typeface="Consolas"/>
              </a:rPr>
              <a:t>VBox</a:t>
            </a:r>
            <a:r>
              <a:rPr lang="en-US" dirty="0">
                <a:latin typeface="Consolas"/>
                <a:cs typeface="Consolas"/>
              </a:rPr>
              <a:t> width='80' height='74' </a:t>
            </a:r>
            <a:r>
              <a:rPr lang="en-US" dirty="0" err="1">
                <a:latin typeface="Consolas"/>
                <a:cs typeface="Consolas"/>
              </a:rPr>
              <a:t>vAlign</a:t>
            </a:r>
            <a:r>
              <a:rPr lang="en-US" dirty="0">
                <a:latin typeface="Consolas"/>
                <a:cs typeface="Consolas"/>
              </a:rPr>
              <a:t>='middle'&gt;</a:t>
            </a:r>
          </a:p>
          <a:p>
            <a:r>
              <a:rPr lang="en-US" dirty="0">
                <a:latin typeface="Consolas"/>
                <a:cs typeface="Consolas"/>
              </a:rPr>
              <a:t>            &lt;</a:t>
            </a:r>
            <a:r>
              <a:rPr lang="en-US" dirty="0" err="1">
                <a:latin typeface="Consolas"/>
                <a:cs typeface="Consolas"/>
              </a:rPr>
              <a:t>ThumbnailButton</a:t>
            </a:r>
            <a:r>
              <a:rPr lang="en-US" dirty="0">
                <a:latin typeface="Consolas"/>
                <a:cs typeface="Consolas"/>
              </a:rPr>
              <a:t> … /&gt;</a:t>
            </a:r>
          </a:p>
          <a:p>
            <a:r>
              <a:rPr lang="en-US" dirty="0">
                <a:latin typeface="Consolas"/>
                <a:cs typeface="Consolas"/>
              </a:rPr>
              <a:t>          &lt;/</a:t>
            </a:r>
            <a:r>
              <a:rPr lang="en-US" dirty="0" err="1">
                <a:latin typeface="Consolas"/>
                <a:cs typeface="Consolas"/>
              </a:rPr>
              <a:t>VBox</a:t>
            </a:r>
            <a:r>
              <a:rPr lang="en-US" dirty="0">
                <a:latin typeface="Consolas"/>
                <a:cs typeface="Consola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19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Parent Layout Elements: Containers</a:t>
            </a:r>
            <a:endParaRPr lang="en-US" dirty="0"/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Valid Layout elements contained within the &lt;Layout&gt; tag:</a:t>
            </a:r>
          </a:p>
          <a:p>
            <a:pPr lvl="1" eaLnBrk="1" hangingPunct="1"/>
            <a:r>
              <a:rPr lang="en-US" sz="1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Hbox</a:t>
            </a:r>
            <a:r>
              <a:rPr lang="en-US" sz="1800" dirty="0">
                <a:solidFill>
                  <a:schemeClr val="tx1"/>
                </a:solidFill>
              </a:rPr>
              <a:t> (relative positioning of components from left to right)</a:t>
            </a:r>
            <a:endParaRPr lang="en-US" sz="1800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lang="en-US" sz="18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Vbox</a:t>
            </a:r>
            <a:r>
              <a:rPr 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(relative positioning of components from top to bottom)</a:t>
            </a:r>
            <a:endParaRPr lang="en-US" sz="1800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lang="en-US" sz="1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Canvas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(absolute positioning of components)</a:t>
            </a:r>
            <a:endParaRPr lang="en-US" sz="1800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If </a:t>
            </a: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a component’s size is not specified, it will fill the </a:t>
            </a:r>
            <a:r>
              <a:rPr lang="en-US" sz="1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available space </a:t>
            </a:r>
            <a:r>
              <a:rPr lang="en-US" sz="180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in the parent </a:t>
            </a: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container</a:t>
            </a:r>
          </a:p>
          <a:p>
            <a:pPr eaLnBrk="1" hangingPunct="1">
              <a:buFontTx/>
              <a:buNone/>
            </a:pPr>
            <a:endParaRPr lang="en-US" sz="1800" dirty="0">
              <a:solidFill>
                <a:schemeClr val="tx1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244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Layout box attributes	</a:t>
            </a:r>
          </a:p>
        </p:txBody>
      </p:sp>
      <p:sp>
        <p:nvSpPr>
          <p:cNvPr id="1418242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800" dirty="0"/>
              <a:t>All layout elements share certain core attributes:</a:t>
            </a:r>
          </a:p>
          <a:p>
            <a:pPr lvl="1" eaLnBrk="1" hangingPunct="1"/>
            <a:r>
              <a:rPr lang="en-US" sz="1800" dirty="0"/>
              <a:t>width, height</a:t>
            </a:r>
          </a:p>
          <a:p>
            <a:pPr lvl="1" eaLnBrk="1" hangingPunct="1"/>
            <a:r>
              <a:rPr lang="en-US" sz="1800" dirty="0"/>
              <a:t>gutter = spacing of child elements</a:t>
            </a:r>
          </a:p>
          <a:p>
            <a:pPr lvl="1" eaLnBrk="1" hangingPunct="1"/>
            <a:r>
              <a:rPr lang="en-US" sz="1800" dirty="0"/>
              <a:t>padding = spacing between the box and its contents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</p:txBody>
      </p:sp>
      <p:sp>
        <p:nvSpPr>
          <p:cNvPr id="1418245" name="Rectangle 4"/>
          <p:cNvSpPr>
            <a:spLocks noChangeArrowheads="1"/>
          </p:cNvSpPr>
          <p:nvPr/>
        </p:nvSpPr>
        <p:spPr bwMode="auto">
          <a:xfrm>
            <a:off x="2286000" y="3581400"/>
            <a:ext cx="4572000" cy="2743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418246" name="Rectangle 5"/>
          <p:cNvSpPr>
            <a:spLocks noChangeArrowheads="1"/>
          </p:cNvSpPr>
          <p:nvPr/>
        </p:nvSpPr>
        <p:spPr bwMode="auto">
          <a:xfrm>
            <a:off x="2438400" y="3733800"/>
            <a:ext cx="19812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418247" name="Rectangle 6"/>
          <p:cNvSpPr>
            <a:spLocks noChangeArrowheads="1"/>
          </p:cNvSpPr>
          <p:nvPr/>
        </p:nvSpPr>
        <p:spPr bwMode="auto">
          <a:xfrm>
            <a:off x="5562600" y="3733800"/>
            <a:ext cx="11430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418248" name="Line 7"/>
          <p:cNvSpPr>
            <a:spLocks noChangeShapeType="1"/>
          </p:cNvSpPr>
          <p:nvPr/>
        </p:nvSpPr>
        <p:spPr bwMode="auto">
          <a:xfrm flipH="1">
            <a:off x="4953000" y="3505201"/>
            <a:ext cx="228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8249" name="Text Box 8"/>
          <p:cNvSpPr txBox="1">
            <a:spLocks noChangeArrowheads="1"/>
          </p:cNvSpPr>
          <p:nvPr/>
        </p:nvSpPr>
        <p:spPr bwMode="auto">
          <a:xfrm>
            <a:off x="4953000" y="3124201"/>
            <a:ext cx="774918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gutter</a:t>
            </a:r>
          </a:p>
        </p:txBody>
      </p:sp>
      <p:sp>
        <p:nvSpPr>
          <p:cNvPr id="1418250" name="Line 9"/>
          <p:cNvSpPr>
            <a:spLocks noChangeShapeType="1"/>
          </p:cNvSpPr>
          <p:nvPr/>
        </p:nvSpPr>
        <p:spPr bwMode="auto">
          <a:xfrm flipH="1">
            <a:off x="6781800" y="4572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8251" name="Text Box 10"/>
          <p:cNvSpPr txBox="1">
            <a:spLocks noChangeArrowheads="1"/>
          </p:cNvSpPr>
          <p:nvPr/>
        </p:nvSpPr>
        <p:spPr bwMode="auto">
          <a:xfrm>
            <a:off x="7162800" y="4267200"/>
            <a:ext cx="1006201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padding</a:t>
            </a:r>
          </a:p>
        </p:txBody>
      </p:sp>
      <p:sp>
        <p:nvSpPr>
          <p:cNvPr id="1418252" name="Line 12"/>
          <p:cNvSpPr>
            <a:spLocks noChangeShapeType="1"/>
          </p:cNvSpPr>
          <p:nvPr/>
        </p:nvSpPr>
        <p:spPr bwMode="auto">
          <a:xfrm>
            <a:off x="2286000" y="64008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8253" name="Line 13"/>
          <p:cNvSpPr>
            <a:spLocks noChangeShapeType="1"/>
          </p:cNvSpPr>
          <p:nvPr/>
        </p:nvSpPr>
        <p:spPr bwMode="auto">
          <a:xfrm>
            <a:off x="1981200" y="35814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8254" name="Text Box 10"/>
          <p:cNvSpPr txBox="1">
            <a:spLocks noChangeArrowheads="1"/>
          </p:cNvSpPr>
          <p:nvPr/>
        </p:nvSpPr>
        <p:spPr bwMode="auto">
          <a:xfrm>
            <a:off x="7010400" y="6186488"/>
            <a:ext cx="736346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width</a:t>
            </a:r>
          </a:p>
        </p:txBody>
      </p:sp>
      <p:sp>
        <p:nvSpPr>
          <p:cNvPr id="1418255" name="Text Box 10"/>
          <p:cNvSpPr txBox="1">
            <a:spLocks noChangeArrowheads="1"/>
          </p:cNvSpPr>
          <p:nvPr/>
        </p:nvSpPr>
        <p:spPr bwMode="auto">
          <a:xfrm>
            <a:off x="990600" y="3505200"/>
            <a:ext cx="813578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height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291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 err="1"/>
              <a:t>HBox</a:t>
            </a:r>
            <a:endParaRPr lang="en-US" sz="2000" dirty="0"/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indent="1588" algn="ctr">
              <a:lnSpc>
                <a:spcPct val="120000"/>
              </a:lnSpc>
              <a:buNone/>
            </a:pPr>
            <a:r>
              <a:rPr lang="en-US" sz="1800" b="1" dirty="0" err="1"/>
              <a:t>HBox</a:t>
            </a:r>
            <a:r>
              <a:rPr lang="en-US" sz="1800" dirty="0"/>
              <a:t> is a parent container that arranges components </a:t>
            </a:r>
            <a:r>
              <a:rPr lang="en-US" sz="1800" i="1" dirty="0">
                <a:solidFill>
                  <a:srgbClr val="CC3352"/>
                </a:solidFill>
              </a:rPr>
              <a:t>Horizontally</a:t>
            </a:r>
          </a:p>
          <a:p>
            <a:pPr indent="1588">
              <a:lnSpc>
                <a:spcPct val="120000"/>
              </a:lnSpc>
              <a:buNone/>
            </a:pPr>
            <a:endParaRPr lang="en-US" sz="1800" dirty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423716" y="2838453"/>
            <a:ext cx="6501952" cy="3297154"/>
            <a:chOff x="1634" y="2352"/>
            <a:chExt cx="2735" cy="1140"/>
          </a:xfrm>
        </p:grpSpPr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2016" y="2352"/>
              <a:ext cx="1968" cy="768"/>
              <a:chOff x="2016" y="1488"/>
              <a:chExt cx="1968" cy="768"/>
            </a:xfrm>
          </p:grpSpPr>
          <p:sp>
            <p:nvSpPr>
              <p:cNvPr id="1420295" name="Rectangle 12"/>
              <p:cNvSpPr>
                <a:spLocks noChangeArrowheads="1"/>
              </p:cNvSpPr>
              <p:nvPr/>
            </p:nvSpPr>
            <p:spPr bwMode="auto">
              <a:xfrm>
                <a:off x="2016" y="1488"/>
                <a:ext cx="1968" cy="7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20296" name="Rectangle 13"/>
              <p:cNvSpPr>
                <a:spLocks noChangeArrowheads="1"/>
              </p:cNvSpPr>
              <p:nvPr/>
            </p:nvSpPr>
            <p:spPr bwMode="auto">
              <a:xfrm>
                <a:off x="2112" y="1584"/>
                <a:ext cx="336" cy="432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20297" name="Rectangle 14"/>
              <p:cNvSpPr>
                <a:spLocks noChangeArrowheads="1"/>
              </p:cNvSpPr>
              <p:nvPr/>
            </p:nvSpPr>
            <p:spPr bwMode="auto">
              <a:xfrm>
                <a:off x="2544" y="1584"/>
                <a:ext cx="384" cy="336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</p:grpSp>
        <p:sp>
          <p:nvSpPr>
            <p:cNvPr id="1420298" name="Text Box 15"/>
            <p:cNvSpPr txBox="1">
              <a:spLocks noChangeArrowheads="1"/>
            </p:cNvSpPr>
            <p:nvPr/>
          </p:nvSpPr>
          <p:spPr bwMode="auto">
            <a:xfrm>
              <a:off x="1634" y="3120"/>
              <a:ext cx="2735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>
                  <a:latin typeface="Consolas"/>
                  <a:cs typeface="Consolas"/>
                </a:rPr>
                <a:t>&lt;</a:t>
              </a:r>
              <a:r>
                <a:rPr lang="en-US" sz="1600" dirty="0" err="1">
                  <a:latin typeface="Consolas"/>
                  <a:cs typeface="Consolas"/>
                </a:rPr>
                <a:t>HBox</a:t>
              </a:r>
              <a:r>
                <a:rPr lang="en-US" sz="1600" dirty="0">
                  <a:latin typeface="Consolas"/>
                  <a:cs typeface="Consolas"/>
                </a:rPr>
                <a:t> gutter=“5” padding=“5</a:t>
              </a:r>
              <a:r>
                <a:rPr lang="en-US" sz="1600" dirty="0" smtClean="0">
                  <a:latin typeface="Consolas"/>
                  <a:cs typeface="Consolas"/>
                </a:rPr>
                <a:t>” </a:t>
              </a:r>
              <a:r>
                <a:rPr lang="en-US" sz="1600" dirty="0" err="1" smtClean="0">
                  <a:latin typeface="Consolas"/>
                  <a:cs typeface="Consolas"/>
                </a:rPr>
                <a:t>hAlign</a:t>
              </a:r>
              <a:r>
                <a:rPr lang="en-US" sz="1600" dirty="0" smtClean="0">
                  <a:latin typeface="Consolas"/>
                  <a:cs typeface="Consolas"/>
                </a:rPr>
                <a:t>=“left” </a:t>
              </a:r>
              <a:r>
                <a:rPr lang="en-US" sz="1600" dirty="0" err="1" smtClean="0">
                  <a:latin typeface="Consolas"/>
                  <a:cs typeface="Consolas"/>
                </a:rPr>
                <a:t>vAlign</a:t>
              </a:r>
              <a:r>
                <a:rPr lang="en-US" sz="1600" dirty="0" smtClean="0">
                  <a:latin typeface="Consolas"/>
                  <a:cs typeface="Consolas"/>
                </a:rPr>
                <a:t>=“top”&gt;</a:t>
              </a:r>
              <a:endParaRPr lang="en-US" sz="1600" dirty="0">
                <a:latin typeface="Consolas"/>
                <a:cs typeface="Consolas"/>
              </a:endParaRP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width=“20” height=“30”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width=“25” height=“20”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&lt;/</a:t>
              </a:r>
              <a:r>
                <a:rPr lang="en-US" sz="1600" dirty="0" err="1">
                  <a:latin typeface="Consolas"/>
                  <a:cs typeface="Consolas"/>
                </a:rPr>
                <a:t>HBox</a:t>
              </a:r>
              <a:r>
                <a:rPr lang="en-US" sz="1600" dirty="0">
                  <a:latin typeface="Consolas"/>
                  <a:cs typeface="Consolas"/>
                </a:rPr>
                <a:t>&gt;</a:t>
              </a:r>
            </a:p>
          </p:txBody>
        </p:sp>
      </p:grpSp>
      <p:sp>
        <p:nvSpPr>
          <p:cNvPr id="1420299" name="Text Box 11"/>
          <p:cNvSpPr txBox="1">
            <a:spLocks noChangeArrowheads="1"/>
          </p:cNvSpPr>
          <p:nvPr/>
        </p:nvSpPr>
        <p:spPr bwMode="auto">
          <a:xfrm>
            <a:off x="2286000" y="2438401"/>
            <a:ext cx="1185525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2 children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38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TW" sz="2000" dirty="0" err="1">
                <a:ea typeface="新細明體" charset="-120"/>
                <a:cs typeface="新細明體" charset="-120"/>
              </a:rPr>
              <a:t>VBox</a:t>
            </a:r>
            <a:endParaRPr lang="en-US" altLang="zh-TW" sz="2000" dirty="0">
              <a:ea typeface="新細明體" charset="-120"/>
              <a:cs typeface="新細明體" charset="-120"/>
            </a:endParaRP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algn="ctr" eaLnBrk="1" hangingPunct="1">
              <a:lnSpc>
                <a:spcPct val="120000"/>
              </a:lnSpc>
              <a:buFontTx/>
              <a:buNone/>
            </a:pPr>
            <a:r>
              <a:rPr lang="en-US" sz="1800" b="1" dirty="0" err="1"/>
              <a:t>VBox</a:t>
            </a:r>
            <a:r>
              <a:rPr lang="en-US" sz="1800" dirty="0"/>
              <a:t> arranges components </a:t>
            </a:r>
            <a:r>
              <a:rPr lang="en-US" sz="1800" i="1" dirty="0">
                <a:solidFill>
                  <a:srgbClr val="CC3352"/>
                </a:solidFill>
              </a:rPr>
              <a:t>Vertically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1800" dirty="0"/>
              <a:t>                       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sz="1800" dirty="0"/>
              <a:t>			2 children</a:t>
            </a:r>
          </a:p>
          <a:p>
            <a:pPr eaLnBrk="1" hangingPunct="1">
              <a:lnSpc>
                <a:spcPct val="120000"/>
              </a:lnSpc>
            </a:pPr>
            <a:endParaRPr lang="en-US" sz="1800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sz="1800" dirty="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990601" y="2771776"/>
            <a:ext cx="7065963" cy="2754313"/>
            <a:chOff x="528" y="768"/>
            <a:chExt cx="4451" cy="1735"/>
          </a:xfrm>
        </p:grpSpPr>
        <p:grpSp>
          <p:nvGrpSpPr>
            <p:cNvPr id="3" name="Group 23"/>
            <p:cNvGrpSpPr>
              <a:grpSpLocks/>
            </p:cNvGrpSpPr>
            <p:nvPr/>
          </p:nvGrpSpPr>
          <p:grpSpPr bwMode="auto">
            <a:xfrm>
              <a:off x="1392" y="768"/>
              <a:ext cx="1968" cy="1008"/>
              <a:chOff x="2208" y="816"/>
              <a:chExt cx="1968" cy="1008"/>
            </a:xfrm>
          </p:grpSpPr>
          <p:sp>
            <p:nvSpPr>
              <p:cNvPr id="1424391" name="Rectangle 24"/>
              <p:cNvSpPr>
                <a:spLocks noChangeArrowheads="1"/>
              </p:cNvSpPr>
              <p:nvPr/>
            </p:nvSpPr>
            <p:spPr bwMode="auto">
              <a:xfrm>
                <a:off x="2208" y="816"/>
                <a:ext cx="1968" cy="100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24392" name="Rectangle 25"/>
              <p:cNvSpPr>
                <a:spLocks noChangeArrowheads="1"/>
              </p:cNvSpPr>
              <p:nvPr/>
            </p:nvSpPr>
            <p:spPr bwMode="auto">
              <a:xfrm>
                <a:off x="3024" y="1104"/>
                <a:ext cx="336" cy="336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24393" name="Rectangle 26"/>
              <p:cNvSpPr>
                <a:spLocks noChangeArrowheads="1"/>
              </p:cNvSpPr>
              <p:nvPr/>
            </p:nvSpPr>
            <p:spPr bwMode="auto">
              <a:xfrm>
                <a:off x="2688" y="1488"/>
                <a:ext cx="1008" cy="288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</p:grpSp>
        <p:sp>
          <p:nvSpPr>
            <p:cNvPr id="1424394" name="Text Box 27"/>
            <p:cNvSpPr txBox="1">
              <a:spLocks noChangeArrowheads="1"/>
            </p:cNvSpPr>
            <p:nvPr/>
          </p:nvSpPr>
          <p:spPr bwMode="auto">
            <a:xfrm>
              <a:off x="528" y="1824"/>
              <a:ext cx="4451" cy="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>
                  <a:latin typeface="Consolas"/>
                  <a:cs typeface="Consolas"/>
                </a:rPr>
                <a:t>&lt;</a:t>
              </a:r>
              <a:r>
                <a:rPr lang="en-US" sz="1600" dirty="0" err="1">
                  <a:latin typeface="Consolas"/>
                  <a:cs typeface="Consolas"/>
                </a:rPr>
                <a:t>VBox</a:t>
              </a:r>
              <a:r>
                <a:rPr lang="en-US" sz="1600" dirty="0">
                  <a:latin typeface="Consolas"/>
                  <a:cs typeface="Consolas"/>
                </a:rPr>
                <a:t> gutter=“5” padding=“5” </a:t>
              </a:r>
              <a:r>
                <a:rPr lang="en-US" sz="1600" dirty="0" err="1">
                  <a:latin typeface="Consolas"/>
                  <a:cs typeface="Consolas"/>
                </a:rPr>
                <a:t>hAlign</a:t>
              </a:r>
              <a:r>
                <a:rPr lang="en-US" sz="1600" dirty="0">
                  <a:latin typeface="Consolas"/>
                  <a:cs typeface="Consolas"/>
                </a:rPr>
                <a:t>=“center” </a:t>
              </a:r>
              <a:r>
                <a:rPr lang="en-US" sz="1600" dirty="0" err="1">
                  <a:latin typeface="Consolas"/>
                  <a:cs typeface="Consolas"/>
                </a:rPr>
                <a:t>vAlign</a:t>
              </a:r>
              <a:r>
                <a:rPr lang="en-US" sz="1600" dirty="0">
                  <a:latin typeface="Consolas"/>
                  <a:cs typeface="Consolas"/>
                </a:rPr>
                <a:t>=“bottom”&gt;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width=“20” height=“30”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width=“80” height=“20”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&lt;/</a:t>
              </a:r>
              <a:r>
                <a:rPr lang="en-US" sz="1600" dirty="0" err="1">
                  <a:latin typeface="Consolas"/>
                  <a:cs typeface="Consolas"/>
                </a:rPr>
                <a:t>VBox</a:t>
              </a:r>
              <a:r>
                <a:rPr lang="en-US" sz="1600" dirty="0">
                  <a:latin typeface="Consolas"/>
                  <a:cs typeface="Consolas"/>
                </a:rPr>
                <a:t>&gt;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Exercise 3: Changing Layout to </a:t>
            </a:r>
            <a:r>
              <a:rPr lang="en-US" sz="2800" dirty="0" err="1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HBox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3: Changing Layout to HBox/VBox </a:t>
            </a:r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143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95257" indent="-495257">
              <a:buFontTx/>
              <a:buAutoNum type="arabicPeriod"/>
            </a:pPr>
            <a:r>
              <a:rPr lang="en-US" sz="1800" dirty="0"/>
              <a:t>Duplicate your original “</a:t>
            </a:r>
            <a:r>
              <a:rPr lang="en-US" sz="1800" i="1" dirty="0" err="1"/>
              <a:t>SimpleBEMLtemplate</a:t>
            </a:r>
            <a:r>
              <a:rPr lang="en-US" sz="1800" dirty="0"/>
              <a:t>” and change the container from </a:t>
            </a:r>
            <a:r>
              <a:rPr lang="en-US" sz="1800" dirty="0" err="1"/>
              <a:t>VBox</a:t>
            </a:r>
            <a:r>
              <a:rPr lang="en-US" sz="1800" dirty="0"/>
              <a:t> to an </a:t>
            </a:r>
            <a:r>
              <a:rPr lang="en-US" sz="1800" dirty="0" err="1"/>
              <a:t>HBox</a:t>
            </a:r>
            <a:r>
              <a:rPr lang="en-US" sz="1800" dirty="0"/>
              <a:t> layout container.</a:t>
            </a:r>
          </a:p>
          <a:p>
            <a:pPr marL="495257" indent="-495257">
              <a:buFontTx/>
              <a:buAutoNum type="arabicPeriod"/>
            </a:pPr>
            <a:r>
              <a:rPr lang="en-US" sz="1800" dirty="0"/>
              <a:t>Name this file “</a:t>
            </a:r>
            <a:r>
              <a:rPr lang="en-US" sz="1800" i="1" dirty="0" err="1"/>
              <a:t>SimpleBEMLtemplateLayout</a:t>
            </a:r>
            <a:r>
              <a:rPr lang="en-US" sz="1800" dirty="0"/>
              <a:t>” </a:t>
            </a:r>
          </a:p>
          <a:p>
            <a:pPr marL="495257" indent="-495257">
              <a:buNone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5638800"/>
            <a:ext cx="4786082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SimpleBEMLTemplateHBoxEx3.xml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2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/>
              <a:t>Canvas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03632" y="1169988"/>
            <a:ext cx="7352931" cy="4926012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lnSpc>
                <a:spcPct val="120000"/>
              </a:lnSpc>
              <a:buFontTx/>
              <a:buNone/>
            </a:pPr>
            <a:r>
              <a:rPr lang="en-US" sz="1800" dirty="0"/>
              <a:t>Canvas requires you to specify coordinates</a:t>
            </a:r>
          </a:p>
          <a:p>
            <a:pPr eaLnBrk="1" hangingPunct="1">
              <a:lnSpc>
                <a:spcPct val="120000"/>
              </a:lnSpc>
            </a:pPr>
            <a:endParaRPr lang="en-US" dirty="0"/>
          </a:p>
          <a:p>
            <a:pPr eaLnBrk="1" hangingPunct="1">
              <a:lnSpc>
                <a:spcPct val="120000"/>
              </a:lnSpc>
            </a:pPr>
            <a:endParaRPr lang="en-US" dirty="0"/>
          </a:p>
          <a:p>
            <a:pPr eaLnBrk="1" hangingPunct="1">
              <a:lnSpc>
                <a:spcPct val="120000"/>
              </a:lnSpc>
            </a:pPr>
            <a:endParaRPr lang="en-US" dirty="0"/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03450" y="2009775"/>
            <a:ext cx="5826278" cy="3438702"/>
            <a:chOff x="1968" y="624"/>
            <a:chExt cx="2757" cy="1145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016" y="624"/>
              <a:ext cx="2060" cy="768"/>
              <a:chOff x="2016" y="624"/>
              <a:chExt cx="2060" cy="768"/>
            </a:xfrm>
          </p:grpSpPr>
          <p:sp>
            <p:nvSpPr>
              <p:cNvPr id="1434631" name="Rectangle 6"/>
              <p:cNvSpPr>
                <a:spLocks noChangeArrowheads="1"/>
              </p:cNvSpPr>
              <p:nvPr/>
            </p:nvSpPr>
            <p:spPr bwMode="auto">
              <a:xfrm>
                <a:off x="2016" y="624"/>
                <a:ext cx="2060" cy="7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34632" name="Rectangle 7"/>
              <p:cNvSpPr>
                <a:spLocks noChangeArrowheads="1"/>
              </p:cNvSpPr>
              <p:nvPr/>
            </p:nvSpPr>
            <p:spPr bwMode="auto">
              <a:xfrm>
                <a:off x="2184" y="748"/>
                <a:ext cx="336" cy="432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  <p:sp>
            <p:nvSpPr>
              <p:cNvPr id="1434633" name="Rectangle 8"/>
              <p:cNvSpPr>
                <a:spLocks noChangeArrowheads="1"/>
              </p:cNvSpPr>
              <p:nvPr/>
            </p:nvSpPr>
            <p:spPr bwMode="auto">
              <a:xfrm>
                <a:off x="2880" y="912"/>
                <a:ext cx="1008" cy="336"/>
              </a:xfrm>
              <a:prstGeom prst="rect">
                <a:avLst/>
              </a:prstGeom>
              <a:solidFill>
                <a:srgbClr val="CC33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b="1"/>
              </a:p>
            </p:txBody>
          </p:sp>
        </p:grpSp>
        <p:sp>
          <p:nvSpPr>
            <p:cNvPr id="1434634" name="Text Box 9"/>
            <p:cNvSpPr txBox="1">
              <a:spLocks noChangeArrowheads="1"/>
            </p:cNvSpPr>
            <p:nvPr/>
          </p:nvSpPr>
          <p:spPr bwMode="auto">
            <a:xfrm>
              <a:off x="1968" y="1410"/>
              <a:ext cx="2757" cy="3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600" dirty="0">
                  <a:latin typeface="Consolas"/>
                  <a:cs typeface="Consolas"/>
                </a:rPr>
                <a:t>&lt;Canvas padding=“5”&gt;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width=“20” height=“30” </a:t>
              </a:r>
              <a:r>
                <a:rPr lang="en-US" sz="1600" dirty="0" err="1">
                  <a:latin typeface="Consolas"/>
                  <a:cs typeface="Consolas"/>
                </a:rPr>
                <a:t>x</a:t>
              </a:r>
              <a:r>
                <a:rPr lang="en-US" sz="1600" dirty="0">
                  <a:latin typeface="Consolas"/>
                  <a:cs typeface="Consolas"/>
                </a:rPr>
                <a:t>=“5” </a:t>
              </a:r>
              <a:r>
                <a:rPr lang="en-US" sz="1600" dirty="0" err="1">
                  <a:latin typeface="Consolas"/>
                  <a:cs typeface="Consolas"/>
                </a:rPr>
                <a:t>y</a:t>
              </a:r>
              <a:r>
                <a:rPr lang="en-US" sz="1600" dirty="0">
                  <a:latin typeface="Consolas"/>
                  <a:cs typeface="Consolas"/>
                </a:rPr>
                <a:t>=“5”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    &lt;Image width=“80” height=“20” </a:t>
              </a:r>
              <a:r>
                <a:rPr lang="en-US" sz="1600" dirty="0" err="1">
                  <a:latin typeface="Consolas"/>
                  <a:cs typeface="Consolas"/>
                </a:rPr>
                <a:t>x</a:t>
              </a:r>
              <a:r>
                <a:rPr lang="en-US" sz="1600" dirty="0">
                  <a:latin typeface="Consolas"/>
                  <a:cs typeface="Consolas"/>
                </a:rPr>
                <a:t>=“40” </a:t>
              </a:r>
              <a:r>
                <a:rPr lang="en-US" sz="1600" dirty="0" err="1">
                  <a:latin typeface="Consolas"/>
                  <a:cs typeface="Consolas"/>
                </a:rPr>
                <a:t>y</a:t>
              </a:r>
              <a:r>
                <a:rPr lang="en-US" sz="1600" dirty="0">
                  <a:latin typeface="Consolas"/>
                  <a:cs typeface="Consolas"/>
                </a:rPr>
                <a:t>=“15” /&gt;</a:t>
              </a:r>
            </a:p>
            <a:p>
              <a:r>
                <a:rPr lang="en-US" sz="1600" dirty="0">
                  <a:latin typeface="Consolas"/>
                  <a:cs typeface="Consolas"/>
                </a:rPr>
                <a:t>&lt;/Canvas&gt;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462711" y="2194441"/>
            <a:ext cx="4001085" cy="1949962"/>
          </a:xfrm>
          <a:prstGeom prst="rect">
            <a:avLst/>
          </a:prstGeom>
          <a:noFill/>
          <a:ln w="317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3790138" y="4147014"/>
            <a:ext cx="343222" cy="33800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647529" y="2009775"/>
            <a:ext cx="815182" cy="18466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1974" y="1825109"/>
            <a:ext cx="505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0,0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6946896" cy="866225"/>
          </a:xfrm>
        </p:spPr>
        <p:txBody>
          <a:bodyPr/>
          <a:lstStyle/>
          <a:p>
            <a:r>
              <a:rPr lang="en-US" sz="2800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Exercise 4: Changing Layout to Canvas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4: Changing Layout to Canvas </a:t>
            </a:r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1438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95257" indent="-495257">
              <a:buFontTx/>
              <a:buAutoNum type="arabicPeriod"/>
            </a:pPr>
            <a:r>
              <a:rPr lang="en-US" sz="1800" dirty="0"/>
              <a:t>Duplicate your original “</a:t>
            </a:r>
            <a:r>
              <a:rPr lang="en-US" sz="1800" i="1" dirty="0" err="1"/>
              <a:t>SimpleBEMLtemplate</a:t>
            </a:r>
            <a:r>
              <a:rPr lang="en-US" sz="1800" dirty="0"/>
              <a:t>” example and change the container from a </a:t>
            </a:r>
            <a:r>
              <a:rPr lang="en-US" sz="1800" dirty="0" err="1"/>
              <a:t>VBox/HBox</a:t>
            </a:r>
            <a:r>
              <a:rPr lang="en-US" sz="1800" dirty="0"/>
              <a:t> to a Canvas layout container.</a:t>
            </a:r>
          </a:p>
          <a:p>
            <a:pPr marL="495257" indent="-495257">
              <a:buFontTx/>
              <a:buAutoNum type="arabicPeriod"/>
            </a:pPr>
            <a:r>
              <a:rPr lang="en-US" sz="1800" dirty="0"/>
              <a:t>In the layout element, double the values of the width and height to make it bigger. </a:t>
            </a:r>
          </a:p>
          <a:p>
            <a:pPr marL="495257" indent="-495257">
              <a:buFontTx/>
              <a:buAutoNum type="arabicPeriod"/>
            </a:pPr>
            <a:r>
              <a:rPr lang="en-US" sz="1800" dirty="0"/>
              <a:t>Set the </a:t>
            </a:r>
            <a:r>
              <a:rPr lang="en-US" sz="1800" dirty="0" err="1"/>
              <a:t>x</a:t>
            </a:r>
            <a:r>
              <a:rPr lang="en-US" sz="1800" dirty="0"/>
              <a:t> and </a:t>
            </a:r>
            <a:r>
              <a:rPr lang="en-US" sz="1800" dirty="0" err="1"/>
              <a:t>y</a:t>
            </a:r>
            <a:r>
              <a:rPr lang="en-US" sz="1800" dirty="0"/>
              <a:t> of each component to see how it affects the layout.</a:t>
            </a:r>
          </a:p>
          <a:p>
            <a:pPr marL="495257" indent="-495257">
              <a:buFontTx/>
              <a:buAutoNum type="arabicPeriod"/>
            </a:pPr>
            <a:r>
              <a:rPr lang="en-US" sz="1800" dirty="0"/>
              <a:t>Name this file “</a:t>
            </a:r>
            <a:r>
              <a:rPr lang="en-US" sz="1800" i="1" dirty="0" err="1"/>
              <a:t>SimpleBEMLtemplateCanvas</a:t>
            </a:r>
            <a:r>
              <a:rPr lang="en-US" sz="1800" dirty="0"/>
              <a:t>” </a:t>
            </a:r>
            <a:endParaRPr lang="en-US" sz="1800" dirty="0" smtClean="0"/>
          </a:p>
          <a:p>
            <a:pPr marL="495257" indent="-495257">
              <a:buFontTx/>
              <a:buAutoNum type="arabicPeriod"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514601" y="5791200"/>
            <a:ext cx="5004291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SimpleBEMLTemplateCanvasEx4.xml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Back to Components…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TitleLabel Component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 Label component that can render a “selected” state</a:t>
            </a:r>
          </a:p>
          <a:p>
            <a:pPr lvl="1"/>
            <a:r>
              <a:rPr lang="en-US" sz="1800" dirty="0" smtClean="0"/>
              <a:t>Useful for lists where you need to distinguish the selected state</a:t>
            </a:r>
          </a:p>
          <a:p>
            <a:pPr lvl="1"/>
            <a:r>
              <a:rPr lang="en-US" sz="1800" dirty="0" smtClean="0"/>
              <a:t>Used to indicate which video on the list is currently loaded in the player</a:t>
            </a:r>
          </a:p>
          <a:p>
            <a:endParaRPr lang="en-US" sz="1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TitleLabel Component Example</a:t>
            </a:r>
          </a:p>
        </p:txBody>
      </p:sp>
      <p:sp>
        <p:nvSpPr>
          <p:cNvPr id="522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1800" dirty="0" err="1"/>
              <a:t>TitleLabel</a:t>
            </a:r>
            <a:r>
              <a:rPr lang="en-US" sz="1800" dirty="0"/>
              <a:t> implicitly knows which list item is selected and renders differently for that item dynamically</a:t>
            </a:r>
            <a:endParaRPr lang="en-US" sz="1800" b="1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buFontTx/>
              <a:buNone/>
            </a:pPr>
            <a:endParaRPr lang="en-US" sz="1800" dirty="0"/>
          </a:p>
        </p:txBody>
      </p:sp>
      <p:pic>
        <p:nvPicPr>
          <p:cNvPr id="144589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1" y="1981200"/>
            <a:ext cx="3376613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45" name="Line 5"/>
          <p:cNvSpPr>
            <a:spLocks noChangeShapeType="1"/>
          </p:cNvSpPr>
          <p:nvPr/>
        </p:nvSpPr>
        <p:spPr bwMode="auto">
          <a:xfrm>
            <a:off x="3276600" y="17526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46" name="Rectangle 6"/>
          <p:cNvSpPr>
            <a:spLocks noChangeArrowheads="1"/>
          </p:cNvSpPr>
          <p:nvPr/>
        </p:nvSpPr>
        <p:spPr bwMode="auto">
          <a:xfrm>
            <a:off x="457201" y="5791201"/>
            <a:ext cx="8437563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marL="284138" indent="-284138" eaLnBrk="1" hangingPunct="1">
              <a:lnSpc>
                <a:spcPct val="80000"/>
              </a:lnSpc>
              <a:spcBef>
                <a:spcPct val="20000"/>
              </a:spcBef>
              <a:spcAft>
                <a:spcPct val="20000"/>
              </a:spcAft>
              <a:buBlip>
                <a:blip r:embed="rId4"/>
              </a:buBlip>
            </a:pPr>
            <a:r>
              <a:rPr lang="en-US" dirty="0">
                <a:solidFill>
                  <a:srgbClr val="3B3B3B"/>
                </a:solidFill>
              </a:rPr>
              <a:t>All others items display in a standard fashion</a:t>
            </a:r>
          </a:p>
        </p:txBody>
      </p:sp>
      <p:sp>
        <p:nvSpPr>
          <p:cNvPr id="522247" name="Line 7"/>
          <p:cNvSpPr>
            <a:spLocks noChangeShapeType="1"/>
          </p:cNvSpPr>
          <p:nvPr/>
        </p:nvSpPr>
        <p:spPr bwMode="auto">
          <a:xfrm flipH="1" flipV="1">
            <a:off x="4419600" y="49530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48" name="Line 8"/>
          <p:cNvSpPr>
            <a:spLocks noChangeShapeType="1"/>
          </p:cNvSpPr>
          <p:nvPr/>
        </p:nvSpPr>
        <p:spPr bwMode="auto">
          <a:xfrm flipH="1" flipV="1">
            <a:off x="4267200" y="4038600"/>
            <a:ext cx="91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49" name="Line 9"/>
          <p:cNvSpPr>
            <a:spLocks noChangeShapeType="1"/>
          </p:cNvSpPr>
          <p:nvPr/>
        </p:nvSpPr>
        <p:spPr bwMode="auto">
          <a:xfrm flipH="1" flipV="1">
            <a:off x="4267200" y="3200400"/>
            <a:ext cx="10668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28600" y="6096000"/>
            <a:ext cx="8686800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marL="284138" indent="-284138" defTabSz="914320" eaLnBrk="1" hangingPunct="1">
              <a:spcBef>
                <a:spcPct val="20000"/>
              </a:spcBef>
              <a:spcAft>
                <a:spcPct val="20000"/>
              </a:spcAft>
              <a:defRPr/>
            </a:pPr>
            <a:r>
              <a:rPr lang="en-US" sz="1600" b="1" kern="0" dirty="0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ea typeface="+mn-ea"/>
                <a:cs typeface="Consolas"/>
              </a:rPr>
              <a:t>&lt;</a:t>
            </a:r>
            <a:r>
              <a:rPr lang="en-US" sz="1600" b="1" kern="0" dirty="0" err="1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ea typeface="+mn-ea"/>
                <a:cs typeface="Consolas"/>
              </a:rPr>
              <a:t>TitleLabel</a:t>
            </a:r>
            <a:r>
              <a:rPr lang="en-US" sz="1600" b="1" kern="0" dirty="0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ea typeface="+mn-ea"/>
                <a:cs typeface="Consolas"/>
              </a:rPr>
              <a:t> height="18" text="{</a:t>
            </a:r>
            <a:r>
              <a:rPr lang="en-US" sz="1600" b="1" kern="0" dirty="0" err="1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ea typeface="+mn-ea"/>
                <a:cs typeface="Consolas"/>
              </a:rPr>
              <a:t>currentItem.displayName</a:t>
            </a:r>
            <a:r>
              <a:rPr lang="en-US" sz="1600" b="1" kern="0" dirty="0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ea typeface="+mn-ea"/>
                <a:cs typeface="Consolas"/>
              </a:rPr>
              <a:t>}" truncate="true"/&gt;</a:t>
            </a:r>
          </a:p>
          <a:p>
            <a:pPr marL="284138" indent="-284138" defTabSz="914320" eaLnBrk="1" hangingPunct="1">
              <a:spcBef>
                <a:spcPct val="20000"/>
              </a:spcBef>
              <a:spcAft>
                <a:spcPct val="20000"/>
              </a:spcAft>
              <a:defRPr/>
            </a:pPr>
            <a:endParaRPr lang="en-US" kern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 build="p"/>
      <p:bldP spid="522245" grpId="0" animBg="1"/>
      <p:bldP spid="522246" grpId="0"/>
      <p:bldP spid="522247" grpId="0" animBg="1"/>
      <p:bldP spid="522248" grpId="0" animBg="1"/>
      <p:bldP spid="52224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TileList Component Example </a:t>
            </a:r>
          </a:p>
        </p:txBody>
      </p:sp>
      <p:sp>
        <p:nvSpPr>
          <p:cNvPr id="524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/>
            <a:r>
              <a:rPr lang="en-US" sz="1800" dirty="0" err="1" smtClean="0">
                <a:solidFill>
                  <a:srgbClr val="3B3B3B"/>
                </a:solidFill>
              </a:rPr>
              <a:t>TileList</a:t>
            </a:r>
            <a:endParaRPr lang="en-US" sz="1800" dirty="0" smtClean="0">
              <a:solidFill>
                <a:srgbClr val="3B3B3B"/>
              </a:solidFill>
            </a:endParaRPr>
          </a:p>
          <a:p>
            <a:pPr lvl="1" eaLnBrk="1" hangingPunct="1"/>
            <a:r>
              <a:rPr lang="en-US" sz="1800" dirty="0" smtClean="0">
                <a:solidFill>
                  <a:srgbClr val="3B3B3B"/>
                </a:solidFill>
              </a:rPr>
              <a:t>A grid list with user-defined list items</a:t>
            </a:r>
          </a:p>
          <a:p>
            <a:pPr lvl="1" eaLnBrk="1" hangingPunct="1"/>
            <a:r>
              <a:rPr lang="en-US" sz="1800" dirty="0" smtClean="0"/>
              <a:t>Useful for creating a horizontal list</a:t>
            </a:r>
          </a:p>
          <a:p>
            <a:pPr lvl="1" eaLnBrk="1" hangingPunct="1"/>
            <a:r>
              <a:rPr lang="en-US" sz="1800" dirty="0" smtClean="0"/>
              <a:t>Contains </a:t>
            </a:r>
            <a:r>
              <a:rPr lang="en-US" sz="1800" dirty="0" err="1" smtClean="0"/>
              <a:t>ListItems</a:t>
            </a:r>
            <a:endParaRPr lang="en-US" sz="1800" dirty="0" smtClean="0"/>
          </a:p>
          <a:p>
            <a:pPr lvl="1" eaLnBrk="1" hangingPunct="1"/>
            <a:r>
              <a:rPr lang="en-US" sz="1800" dirty="0" smtClean="0"/>
              <a:t>Has a minimum size of 100x50</a:t>
            </a:r>
            <a:endParaRPr lang="en-US" sz="1800" b="1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b="1" dirty="0" smtClean="0">
              <a:effectLst>
                <a:outerShdw blurRad="38100" dist="38100" dir="2700000" algn="tl">
                  <a:srgbClr val="DDDDDD"/>
                </a:outerShdw>
              </a:effectLst>
              <a:latin typeface="Consolas"/>
              <a:cs typeface="Consolas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&lt;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TileList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 id=“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videoList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" 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rowHeight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="60" 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columnWidth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="200“  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automaticAdvance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="true"&gt; </a:t>
            </a:r>
            <a:b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</a:b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&lt;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ListItem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boxType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="</a:t>
            </a:r>
            <a:r>
              <a:rPr lang="en-US" sz="1800" b="1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hbox</a:t>
            </a:r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" padding="5" gutter="10"&gt;</a:t>
            </a:r>
            <a:r>
              <a:rPr lang="en-US" sz="1800" dirty="0">
                <a:latin typeface="Consolas"/>
                <a:cs typeface="Consolas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 Video Player with Horizontal List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1" y="1600200"/>
            <a:ext cx="6629400" cy="4376006"/>
            <a:chOff x="2880" y="576"/>
            <a:chExt cx="2832" cy="1792"/>
          </a:xfrm>
        </p:grpSpPr>
        <p:pic>
          <p:nvPicPr>
            <p:cNvPr id="1452037" name="Picture 26" descr="horizontal_playe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84" y="576"/>
              <a:ext cx="1579" cy="1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452038" name="Text Box 6"/>
            <p:cNvSpPr txBox="1">
              <a:spLocks noChangeArrowheads="1"/>
            </p:cNvSpPr>
            <p:nvPr/>
          </p:nvSpPr>
          <p:spPr bwMode="auto">
            <a:xfrm>
              <a:off x="2880" y="2217"/>
              <a:ext cx="2832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83" name="Rectangle 10"/>
          <p:cNvSpPr>
            <a:spLocks noChangeArrowheads="1"/>
          </p:cNvSpPr>
          <p:nvPr/>
        </p:nvSpPr>
        <p:spPr bwMode="auto">
          <a:xfrm>
            <a:off x="457200" y="152400"/>
            <a:ext cx="8305800" cy="55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454084" name="Picture 11" descr="07-ThumbnailButton-borderle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2743201"/>
            <a:ext cx="178117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085" name="Rectangle 5"/>
          <p:cNvSpPr>
            <a:spLocks noChangeArrowheads="1"/>
          </p:cNvSpPr>
          <p:nvPr/>
        </p:nvSpPr>
        <p:spPr bwMode="auto">
          <a:xfrm>
            <a:off x="533400" y="1143000"/>
            <a:ext cx="8077200" cy="64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/>
              <a:t> Displays an image; when the viewer moves the cursor </a:t>
            </a:r>
            <a:br>
              <a:rPr lang="en-US"/>
            </a:br>
            <a:r>
              <a:rPr lang="en-US"/>
              <a:t>over the image, the button displays a play icon</a:t>
            </a:r>
          </a:p>
        </p:txBody>
      </p:sp>
      <p:pic>
        <p:nvPicPr>
          <p:cNvPr id="145408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1" y="2209801"/>
            <a:ext cx="3376613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087" name="Line 7"/>
          <p:cNvSpPr>
            <a:spLocks noChangeShapeType="1"/>
          </p:cNvSpPr>
          <p:nvPr/>
        </p:nvSpPr>
        <p:spPr bwMode="auto">
          <a:xfrm flipV="1">
            <a:off x="2133600" y="2514600"/>
            <a:ext cx="1524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4088" name="Line 8"/>
          <p:cNvSpPr>
            <a:spLocks noChangeShapeType="1"/>
          </p:cNvSpPr>
          <p:nvPr/>
        </p:nvSpPr>
        <p:spPr bwMode="auto">
          <a:xfrm flipV="1">
            <a:off x="2133600" y="3429000"/>
            <a:ext cx="1447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4089" name="Line 9"/>
          <p:cNvSpPr>
            <a:spLocks noChangeShapeType="1"/>
          </p:cNvSpPr>
          <p:nvPr/>
        </p:nvSpPr>
        <p:spPr bwMode="auto">
          <a:xfrm>
            <a:off x="2133600" y="3733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4090" name="Line 10"/>
          <p:cNvSpPr>
            <a:spLocks noChangeShapeType="1"/>
          </p:cNvSpPr>
          <p:nvPr/>
        </p:nvSpPr>
        <p:spPr bwMode="auto">
          <a:xfrm>
            <a:off x="2133600" y="3886200"/>
            <a:ext cx="1447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Thumbnail Button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83" name="Rectangle 10"/>
          <p:cNvSpPr>
            <a:spLocks noChangeArrowheads="1"/>
          </p:cNvSpPr>
          <p:nvPr/>
        </p:nvSpPr>
        <p:spPr bwMode="auto">
          <a:xfrm>
            <a:off x="457200" y="152400"/>
            <a:ext cx="8305800" cy="55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505284" name="Picture 11" descr="06-Button-borderle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1" y="914401"/>
            <a:ext cx="178117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285" name="Text Box 5"/>
          <p:cNvSpPr txBox="1">
            <a:spLocks noChangeArrowheads="1"/>
          </p:cNvSpPr>
          <p:nvPr/>
        </p:nvSpPr>
        <p:spPr bwMode="auto">
          <a:xfrm>
            <a:off x="2438400" y="1328739"/>
            <a:ext cx="6324600" cy="4773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/>
              <a:t>A clickable graphic with a label that can broadcast events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/>
              <a:t>Enables loading custom components that can be positioned and sized within a player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/>
              <a:t>The loaded SWF is passed a handle to the runtime API so that it may listen for events and interact with the rest of the player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/>
          </a:p>
          <a:p>
            <a:pPr>
              <a:spcBef>
                <a:spcPct val="50000"/>
              </a:spcBef>
              <a:buFontTx/>
              <a:buChar char="-"/>
            </a:pPr>
            <a:endParaRPr lang="en-US" dirty="0"/>
          </a:p>
        </p:txBody>
      </p:sp>
      <p:pic>
        <p:nvPicPr>
          <p:cNvPr id="1505286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448050"/>
            <a:ext cx="16573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Banners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88854" y="1344611"/>
            <a:ext cx="5775591" cy="4363878"/>
          </a:xfrm>
        </p:spPr>
        <p:txBody>
          <a:bodyPr/>
          <a:lstStyle/>
          <a:p>
            <a:r>
              <a:rPr lang="en-US" dirty="0" smtClean="0"/>
              <a:t>The Banner plugs into the advertising capabilities in a player. When a banner is included, a new format is allowed and appended to all ad server calls, informing the ad server that a banner can be displayed</a:t>
            </a:r>
          </a:p>
          <a:p>
            <a:r>
              <a:rPr lang="en-US" dirty="0" smtClean="0"/>
              <a:t>The size of the banner dictates the ad format supported, so a 468x60 banner element by default supports a 468x60 banner ad format</a:t>
            </a:r>
          </a:p>
          <a:p>
            <a:r>
              <a:rPr lang="en-US" dirty="0" smtClean="0"/>
              <a:t>Additional ad formats can be specified as well, so that you can use a large banner area to support several smaller sizes of banner</a:t>
            </a:r>
          </a:p>
          <a:p>
            <a:r>
              <a:rPr lang="en-US" dirty="0" smtClean="0"/>
              <a:t>How those banners are scaled and aligned within the larger area is controlled by the Banner's attributes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Plugs </a:t>
            </a:r>
            <a:r>
              <a:rPr lang="en-US" dirty="0" smtClean="0"/>
              <a:t>into the advertising capabilities in a player – it be made to temporarily appear over other components (such as the List during a pre-roll ad)</a:t>
            </a:r>
          </a:p>
          <a:p>
            <a:r>
              <a:rPr lang="en-US" dirty="0" smtClean="0"/>
              <a:t>The size of the banner dictates the ad formats supported, so a 468x60 banner element by default supports a 468x60 banner ad format and a 468x60 synched banner unit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644990"/>
            <a:ext cx="18478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1" y="1344611"/>
            <a:ext cx="18954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Sample design</a:t>
            </a:r>
            <a:endParaRPr lang="en-US" dirty="0"/>
          </a:p>
        </p:txBody>
      </p:sp>
      <p:pic>
        <p:nvPicPr>
          <p:cNvPr id="151757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1371600"/>
            <a:ext cx="83058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17573" name="Text Box 5"/>
          <p:cNvSpPr txBox="1">
            <a:spLocks noChangeArrowheads="1"/>
          </p:cNvSpPr>
          <p:nvPr/>
        </p:nvSpPr>
        <p:spPr bwMode="auto">
          <a:xfrm>
            <a:off x="-1905000" y="5867401"/>
            <a:ext cx="184650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2" tIns="45716" rIns="91432" bIns="45716">
            <a:prstTxWarp prst="textNoShape">
              <a:avLst/>
            </a:prstTxWarp>
            <a:spAutoFit/>
          </a:bodyPr>
          <a:lstStyle/>
          <a:p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 1: Identify the Components</a:t>
            </a: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pic>
        <p:nvPicPr>
          <p:cNvPr id="152166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1447801"/>
            <a:ext cx="6400800" cy="396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1669" name="Text Box 5"/>
          <p:cNvSpPr txBox="1">
            <a:spLocks noChangeArrowheads="1"/>
          </p:cNvSpPr>
          <p:nvPr/>
        </p:nvSpPr>
        <p:spPr bwMode="auto">
          <a:xfrm>
            <a:off x="304800" y="1752600"/>
            <a:ext cx="2133600" cy="1938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FontTx/>
              <a:buChar char="-"/>
            </a:pPr>
            <a:r>
              <a:rPr lang="en-US" sz="2000" dirty="0" err="1"/>
              <a:t>TabBar</a:t>
            </a:r>
            <a:endParaRPr lang="en-US" sz="20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sz="2000" dirty="0" err="1"/>
              <a:t>VideoPlayer</a:t>
            </a:r>
            <a:endParaRPr lang="en-US" sz="2000" dirty="0"/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sz="2000" dirty="0"/>
              <a:t>Thumbnail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 Etc…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 2: Identify the Container – Layout Node</a:t>
            </a:r>
          </a:p>
        </p:txBody>
      </p:sp>
      <p:pic>
        <p:nvPicPr>
          <p:cNvPr id="152371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1371600"/>
            <a:ext cx="83058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3717" name="Rectangle 4"/>
          <p:cNvSpPr>
            <a:spLocks noChangeArrowheads="1"/>
          </p:cNvSpPr>
          <p:nvPr/>
        </p:nvSpPr>
        <p:spPr bwMode="auto">
          <a:xfrm>
            <a:off x="533400" y="1219200"/>
            <a:ext cx="8382000" cy="4572000"/>
          </a:xfrm>
          <a:prstGeom prst="rect">
            <a:avLst/>
          </a:prstGeom>
          <a:noFill/>
          <a:ln w="762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3718" name="Line 6"/>
          <p:cNvSpPr>
            <a:spLocks noChangeShapeType="1"/>
          </p:cNvSpPr>
          <p:nvPr/>
        </p:nvSpPr>
        <p:spPr bwMode="auto">
          <a:xfrm>
            <a:off x="533401" y="6096000"/>
            <a:ext cx="8305800" cy="0"/>
          </a:xfrm>
          <a:prstGeom prst="line">
            <a:avLst/>
          </a:prstGeom>
          <a:noFill/>
          <a:ln w="603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3719" name="Line 7"/>
          <p:cNvSpPr>
            <a:spLocks noChangeShapeType="1"/>
          </p:cNvSpPr>
          <p:nvPr/>
        </p:nvSpPr>
        <p:spPr bwMode="auto">
          <a:xfrm>
            <a:off x="228600" y="1219200"/>
            <a:ext cx="0" cy="4572000"/>
          </a:xfrm>
          <a:prstGeom prst="line">
            <a:avLst/>
          </a:prstGeom>
          <a:noFill/>
          <a:ln w="539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3717" grpId="0" animBg="1"/>
      <p:bldP spid="1523718" grpId="0" animBg="1"/>
      <p:bldP spid="15237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 3: Identify the 1</a:t>
            </a:r>
            <a:r>
              <a:rPr lang="en-US" baseline="30000"/>
              <a:t>st</a:t>
            </a:r>
            <a:r>
              <a:rPr lang="en-US"/>
              <a:t> Degree of Nesting Boxes</a:t>
            </a:r>
          </a:p>
        </p:txBody>
      </p:sp>
      <p:pic>
        <p:nvPicPr>
          <p:cNvPr id="152576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1517651"/>
            <a:ext cx="83058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765" name="Rectangle 4"/>
          <p:cNvSpPr>
            <a:spLocks noChangeArrowheads="1"/>
          </p:cNvSpPr>
          <p:nvPr/>
        </p:nvSpPr>
        <p:spPr bwMode="auto">
          <a:xfrm>
            <a:off x="533400" y="1365251"/>
            <a:ext cx="8382000" cy="4572000"/>
          </a:xfrm>
          <a:prstGeom prst="rect">
            <a:avLst/>
          </a:prstGeom>
          <a:noFill/>
          <a:ln w="762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5766" name="Rectangle 6"/>
          <p:cNvSpPr>
            <a:spLocks noChangeArrowheads="1"/>
          </p:cNvSpPr>
          <p:nvPr/>
        </p:nvSpPr>
        <p:spPr bwMode="auto">
          <a:xfrm>
            <a:off x="685800" y="1517650"/>
            <a:ext cx="8077200" cy="4572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5767" name="Rectangle 7"/>
          <p:cNvSpPr>
            <a:spLocks noChangeArrowheads="1"/>
          </p:cNvSpPr>
          <p:nvPr/>
        </p:nvSpPr>
        <p:spPr bwMode="auto">
          <a:xfrm>
            <a:off x="685800" y="1974850"/>
            <a:ext cx="8077200" cy="36576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66" grpId="0" animBg="1"/>
      <p:bldP spid="152576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Container and 1</a:t>
            </a:r>
            <a:r>
              <a:rPr lang="en-US" baseline="30000"/>
              <a:t>st</a:t>
            </a:r>
            <a:r>
              <a:rPr lang="en-US"/>
              <a:t> Level of Nesting</a:t>
            </a:r>
          </a:p>
        </p:txBody>
      </p:sp>
      <p:sp>
        <p:nvSpPr>
          <p:cNvPr id="1527813" name="Text Box 9"/>
          <p:cNvSpPr txBox="1">
            <a:spLocks noChangeArrowheads="1"/>
          </p:cNvSpPr>
          <p:nvPr/>
        </p:nvSpPr>
        <p:spPr bwMode="auto">
          <a:xfrm>
            <a:off x="304800" y="1371600"/>
            <a:ext cx="8305800" cy="493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nsolas"/>
                <a:cs typeface="Consolas"/>
              </a:rPr>
              <a:t>&lt;</a:t>
            </a:r>
            <a:r>
              <a:rPr lang="en-US" sz="1600" dirty="0">
                <a:latin typeface="Consolas"/>
                <a:cs typeface="Consolas"/>
              </a:rPr>
              <a:t>Layout id='application' width='480' height='230' </a:t>
            </a:r>
            <a:r>
              <a:rPr lang="en-US" sz="1600" b="1" dirty="0" err="1">
                <a:latin typeface="Consolas"/>
                <a:cs typeface="Consolas"/>
              </a:rPr>
              <a:t>boxType</a:t>
            </a:r>
            <a:r>
              <a:rPr lang="en-US" sz="1600" b="1" dirty="0" smtClean="0">
                <a:latin typeface="Consolas"/>
                <a:cs typeface="Consolas"/>
              </a:rPr>
              <a:t>=‘</a:t>
            </a:r>
            <a:r>
              <a:rPr lang="en-US" sz="1600" b="1" dirty="0" err="1" smtClean="0">
                <a:latin typeface="Consolas"/>
                <a:cs typeface="Consolas"/>
              </a:rPr>
              <a:t>vbox</a:t>
            </a:r>
            <a:r>
              <a:rPr lang="en-US" sz="1600" b="1" dirty="0">
                <a:latin typeface="Consolas"/>
                <a:cs typeface="Consolas"/>
              </a:rPr>
              <a:t>'&gt;</a:t>
            </a:r>
          </a:p>
          <a:p>
            <a:r>
              <a:rPr lang="en-US" sz="1600" dirty="0">
                <a:latin typeface="Consolas"/>
                <a:cs typeface="Consolas"/>
              </a:rPr>
              <a:t>    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&lt;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TabBar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id='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playlistTabs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' height='15' 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tabAlign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='right' 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hideSingleTab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='true' /&gt;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Consolas"/>
                <a:cs typeface="Consolas"/>
              </a:rPr>
              <a:t>    &lt;</a:t>
            </a:r>
            <a:r>
              <a:rPr lang="en-US" sz="1600" b="1" dirty="0" err="1">
                <a:solidFill>
                  <a:schemeClr val="accent1"/>
                </a:solidFill>
                <a:latin typeface="Consolas"/>
                <a:cs typeface="Consolas"/>
              </a:rPr>
              <a:t>HBox</a:t>
            </a:r>
            <a:r>
              <a:rPr lang="en-US" sz="1600" b="1" dirty="0">
                <a:solidFill>
                  <a:schemeClr val="accent1"/>
                </a:solidFill>
                <a:latin typeface="Consolas"/>
                <a:cs typeface="Consolas"/>
              </a:rPr>
              <a:t> width='480' height='215'&gt;</a:t>
            </a:r>
          </a:p>
          <a:p>
            <a:r>
              <a:rPr lang="en-US" sz="1600" dirty="0">
                <a:latin typeface="Consolas"/>
                <a:cs typeface="Consolas"/>
              </a:rPr>
              <a:t>      &lt;</a:t>
            </a:r>
            <a:r>
              <a:rPr lang="en-US" sz="1600" dirty="0" err="1">
                <a:latin typeface="Consolas"/>
                <a:cs typeface="Consolas"/>
              </a:rPr>
              <a:t>VideoPlayer</a:t>
            </a:r>
            <a:r>
              <a:rPr lang="en-US" sz="1600" dirty="0">
                <a:latin typeface="Consolas"/>
                <a:cs typeface="Consolas"/>
              </a:rPr>
              <a:t> id='</a:t>
            </a:r>
            <a:r>
              <a:rPr lang="en-US" sz="1600" dirty="0" err="1">
                <a:latin typeface="Consolas"/>
                <a:cs typeface="Consolas"/>
              </a:rPr>
              <a:t>videoPlayer</a:t>
            </a:r>
            <a:r>
              <a:rPr lang="en-US" sz="1600" dirty="0">
                <a:latin typeface="Consolas"/>
                <a:cs typeface="Consolas"/>
              </a:rPr>
              <a:t>' width='300' height="215" video='{</a:t>
            </a:r>
            <a:r>
              <a:rPr lang="en-US" sz="1600" dirty="0" err="1">
                <a:latin typeface="Consolas"/>
                <a:cs typeface="Consolas"/>
              </a:rPr>
              <a:t>videoList.selectedItem</a:t>
            </a:r>
            <a:r>
              <a:rPr lang="en-US" sz="1600" dirty="0">
                <a:latin typeface="Consolas"/>
                <a:cs typeface="Consolas"/>
              </a:rPr>
              <a:t>}' /&gt;</a:t>
            </a:r>
          </a:p>
          <a:p>
            <a:r>
              <a:rPr lang="en-US" sz="1600" dirty="0">
                <a:latin typeface="Consolas"/>
                <a:cs typeface="Consolas"/>
              </a:rPr>
              <a:t>      &lt;Spacer width='1' /&gt;</a:t>
            </a:r>
          </a:p>
          <a:p>
            <a:r>
              <a:rPr lang="en-US" sz="1600" dirty="0">
                <a:latin typeface="Consolas"/>
                <a:cs typeface="Consolas"/>
              </a:rPr>
              <a:t>        &lt;List id='</a:t>
            </a:r>
            <a:r>
              <a:rPr lang="en-US" sz="1600" dirty="0" err="1">
                <a:latin typeface="Consolas"/>
                <a:cs typeface="Consolas"/>
              </a:rPr>
              <a:t>videoList</a:t>
            </a:r>
            <a:r>
              <a:rPr lang="en-US" sz="1600" dirty="0">
                <a:latin typeface="Consolas"/>
                <a:cs typeface="Consolas"/>
              </a:rPr>
              <a:t>' </a:t>
            </a:r>
            <a:r>
              <a:rPr lang="en-US" sz="1600" dirty="0" err="1">
                <a:latin typeface="Consolas"/>
                <a:cs typeface="Consolas"/>
              </a:rPr>
              <a:t>rowHeight</a:t>
            </a:r>
            <a:r>
              <a:rPr lang="en-US" sz="1600" dirty="0">
                <a:latin typeface="Consolas"/>
                <a:cs typeface="Consolas"/>
              </a:rPr>
              <a:t>='52' </a:t>
            </a:r>
            <a:r>
              <a:rPr lang="en-US" sz="1600" dirty="0" err="1">
                <a:latin typeface="Consolas"/>
                <a:cs typeface="Consolas"/>
              </a:rPr>
              <a:t>automaticAdvance</a:t>
            </a:r>
            <a:r>
              <a:rPr lang="en-US" sz="1600" dirty="0">
                <a:latin typeface="Consolas"/>
                <a:cs typeface="Consolas"/>
              </a:rPr>
              <a:t>='true' </a:t>
            </a:r>
          </a:p>
          <a:p>
            <a:r>
              <a:rPr lang="en-US" sz="1600" dirty="0">
                <a:latin typeface="Consolas"/>
                <a:cs typeface="Consolas"/>
              </a:rPr>
              <a:t>	data='{</a:t>
            </a:r>
            <a:r>
              <a:rPr lang="en-US" sz="1600" dirty="0" err="1">
                <a:latin typeface="Consolas"/>
                <a:cs typeface="Consolas"/>
              </a:rPr>
              <a:t>playlistTabs.selectedItem.videoDTOs</a:t>
            </a:r>
            <a:r>
              <a:rPr lang="en-US" sz="1600" dirty="0">
                <a:latin typeface="Consolas"/>
                <a:cs typeface="Consolas"/>
              </a:rPr>
              <a:t>}' </a:t>
            </a:r>
            <a:r>
              <a:rPr lang="en-US" sz="1600" dirty="0" err="1">
                <a:latin typeface="Consolas"/>
                <a:cs typeface="Consolas"/>
              </a:rPr>
              <a:t>selectOnClick</a:t>
            </a:r>
            <a:r>
              <a:rPr lang="en-US" sz="1600" dirty="0">
                <a:latin typeface="Consolas"/>
                <a:cs typeface="Consolas"/>
              </a:rPr>
              <a:t>='true' </a:t>
            </a:r>
          </a:p>
          <a:p>
            <a:r>
              <a:rPr lang="en-US" sz="1600" dirty="0">
                <a:latin typeface="Consolas"/>
                <a:cs typeface="Consolas"/>
              </a:rPr>
              <a:t>	</a:t>
            </a:r>
            <a:r>
              <a:rPr lang="en-US" sz="1600" dirty="0" err="1">
                <a:latin typeface="Consolas"/>
                <a:cs typeface="Consolas"/>
              </a:rPr>
              <a:t>itemInsetH</a:t>
            </a:r>
            <a:r>
              <a:rPr lang="en-US" sz="1600" dirty="0">
                <a:latin typeface="Consolas"/>
                <a:cs typeface="Consolas"/>
              </a:rPr>
              <a:t>='2' </a:t>
            </a:r>
            <a:r>
              <a:rPr lang="en-US" sz="1600" dirty="0" err="1">
                <a:latin typeface="Consolas"/>
                <a:cs typeface="Consolas"/>
              </a:rPr>
              <a:t>itemInsetV</a:t>
            </a:r>
            <a:r>
              <a:rPr lang="en-US" sz="1600" dirty="0">
                <a:latin typeface="Consolas"/>
                <a:cs typeface="Consolas"/>
              </a:rPr>
              <a:t>='2' </a:t>
            </a:r>
            <a:r>
              <a:rPr lang="en-US" sz="1600" dirty="0" err="1">
                <a:latin typeface="Consolas"/>
                <a:cs typeface="Consolas"/>
              </a:rPr>
              <a:t>itemLeading</a:t>
            </a:r>
            <a:r>
              <a:rPr lang="en-US" sz="1600" dirty="0">
                <a:latin typeface="Consolas"/>
                <a:cs typeface="Consolas"/>
              </a:rPr>
              <a:t>='1'&gt;</a:t>
            </a:r>
          </a:p>
          <a:p>
            <a:r>
              <a:rPr lang="en-US" sz="1600" dirty="0">
                <a:latin typeface="Consolas"/>
                <a:cs typeface="Consolas"/>
              </a:rPr>
              <a:t>          &lt;</a:t>
            </a:r>
            <a:r>
              <a:rPr lang="en-US" sz="1600" dirty="0" err="1">
                <a:latin typeface="Consolas"/>
                <a:cs typeface="Consolas"/>
              </a:rPr>
              <a:t>ListItem</a:t>
            </a:r>
            <a:r>
              <a:rPr lang="en-US" sz="1600" dirty="0">
                <a:latin typeface="Consolas"/>
                <a:cs typeface="Consolas"/>
              </a:rPr>
              <a:t> </a:t>
            </a:r>
            <a:r>
              <a:rPr lang="en-US" sz="1600" dirty="0" err="1">
                <a:latin typeface="Consolas"/>
                <a:cs typeface="Consolas"/>
              </a:rPr>
              <a:t>boxType</a:t>
            </a:r>
            <a:r>
              <a:rPr lang="en-US" sz="1600" dirty="0">
                <a:latin typeface="Consolas"/>
                <a:cs typeface="Consolas"/>
              </a:rPr>
              <a:t>='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' padding='2'&gt;</a:t>
            </a:r>
          </a:p>
          <a:p>
            <a:r>
              <a:rPr lang="en-US" sz="1600" dirty="0">
                <a:latin typeface="Consolas"/>
                <a:cs typeface="Consolas"/>
              </a:rPr>
              <a:t>            &lt;</a:t>
            </a:r>
            <a:r>
              <a:rPr lang="en-US" sz="1600" dirty="0" err="1">
                <a:latin typeface="Consolas"/>
                <a:cs typeface="Consolas"/>
              </a:rPr>
              <a:t>TitleLabel</a:t>
            </a:r>
            <a:r>
              <a:rPr lang="en-US" sz="1600" dirty="0">
                <a:latin typeface="Consolas"/>
                <a:cs typeface="Consolas"/>
              </a:rPr>
              <a:t> height='16' text='{</a:t>
            </a:r>
            <a:r>
              <a:rPr lang="en-US" sz="1600" dirty="0" err="1">
                <a:latin typeface="Consolas"/>
                <a:cs typeface="Consolas"/>
              </a:rPr>
              <a:t>currentItem.displayName</a:t>
            </a:r>
            <a:r>
              <a:rPr lang="en-US" sz="1600" dirty="0">
                <a:latin typeface="Consolas"/>
                <a:cs typeface="Consolas"/>
              </a:rPr>
              <a:t>}' truncate='true' /&gt;</a:t>
            </a:r>
          </a:p>
          <a:p>
            <a:r>
              <a:rPr lang="en-US" sz="1600" dirty="0">
                <a:latin typeface="Consolas"/>
                <a:cs typeface="Consolas"/>
              </a:rPr>
              <a:t>            &lt;Label multiline='true' text='{</a:t>
            </a:r>
            <a:r>
              <a:rPr lang="en-US" sz="1600" dirty="0" err="1">
                <a:latin typeface="Consolas"/>
                <a:cs typeface="Consolas"/>
              </a:rPr>
              <a:t>currentItem.shortDescription</a:t>
            </a:r>
            <a:r>
              <a:rPr lang="en-US" sz="1600" dirty="0">
                <a:latin typeface="Consolas"/>
                <a:cs typeface="Consolas"/>
              </a:rPr>
              <a:t>}' truncate='true' /&gt;</a:t>
            </a:r>
          </a:p>
          <a:p>
            <a:r>
              <a:rPr lang="en-US" sz="1600" dirty="0">
                <a:latin typeface="Consolas"/>
                <a:cs typeface="Consolas"/>
              </a:rPr>
              <a:t>          &lt;/</a:t>
            </a:r>
            <a:r>
              <a:rPr lang="en-US" sz="1600" dirty="0" err="1">
                <a:latin typeface="Consolas"/>
                <a:cs typeface="Consolas"/>
              </a:rPr>
              <a:t>ListItem</a:t>
            </a:r>
            <a:r>
              <a:rPr lang="en-US" sz="1600" dirty="0">
                <a:latin typeface="Consolas"/>
                <a:cs typeface="Consolas"/>
              </a:rPr>
              <a:t>&gt;</a:t>
            </a:r>
          </a:p>
          <a:p>
            <a:r>
              <a:rPr lang="en-US" sz="1600" dirty="0">
                <a:latin typeface="Consolas"/>
                <a:cs typeface="Consolas"/>
              </a:rPr>
              <a:t>        &lt;/List&gt;</a:t>
            </a:r>
          </a:p>
          <a:p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    &lt;/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HBox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&gt;</a:t>
            </a:r>
          </a:p>
          <a:p>
            <a:r>
              <a:rPr lang="en-US" sz="1600" dirty="0">
                <a:latin typeface="Consolas"/>
                <a:cs typeface="Consolas"/>
              </a:rPr>
              <a:t>  &lt;/Layout</a:t>
            </a:r>
            <a:r>
              <a:rPr lang="en-US" sz="1600" dirty="0" smtClean="0">
                <a:latin typeface="Consolas"/>
                <a:cs typeface="Consolas"/>
              </a:rPr>
              <a:t>&gt;</a:t>
            </a:r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1527814" name="Line 6"/>
          <p:cNvSpPr>
            <a:spLocks noChangeShapeType="1"/>
          </p:cNvSpPr>
          <p:nvPr/>
        </p:nvSpPr>
        <p:spPr bwMode="auto">
          <a:xfrm flipH="1">
            <a:off x="6248400" y="1143000"/>
            <a:ext cx="11430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7815" name="Text Box 7"/>
          <p:cNvSpPr txBox="1">
            <a:spLocks noChangeArrowheads="1"/>
          </p:cNvSpPr>
          <p:nvPr/>
        </p:nvSpPr>
        <p:spPr bwMode="auto">
          <a:xfrm>
            <a:off x="6096000" y="762000"/>
            <a:ext cx="2895600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1st Degree of Nesting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 4: Identify the additional Degrees of Nesting Boxes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2986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1524001"/>
            <a:ext cx="83058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9861" name="Rectangle 4"/>
          <p:cNvSpPr>
            <a:spLocks noChangeArrowheads="1"/>
          </p:cNvSpPr>
          <p:nvPr/>
        </p:nvSpPr>
        <p:spPr bwMode="auto">
          <a:xfrm>
            <a:off x="533400" y="1371600"/>
            <a:ext cx="8382000" cy="4572000"/>
          </a:xfrm>
          <a:prstGeom prst="rect">
            <a:avLst/>
          </a:prstGeom>
          <a:noFill/>
          <a:ln w="762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9862" name="Rectangle 6"/>
          <p:cNvSpPr>
            <a:spLocks noChangeArrowheads="1"/>
          </p:cNvSpPr>
          <p:nvPr/>
        </p:nvSpPr>
        <p:spPr bwMode="auto">
          <a:xfrm>
            <a:off x="685800" y="1524000"/>
            <a:ext cx="8077200" cy="4572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9863" name="Rectangle 7"/>
          <p:cNvSpPr>
            <a:spLocks noChangeArrowheads="1"/>
          </p:cNvSpPr>
          <p:nvPr/>
        </p:nvSpPr>
        <p:spPr bwMode="auto">
          <a:xfrm>
            <a:off x="685800" y="1981200"/>
            <a:ext cx="8077200" cy="36576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9864" name="Rectangle 10"/>
          <p:cNvSpPr>
            <a:spLocks noChangeArrowheads="1"/>
          </p:cNvSpPr>
          <p:nvPr/>
        </p:nvSpPr>
        <p:spPr bwMode="auto">
          <a:xfrm>
            <a:off x="838200" y="2133600"/>
            <a:ext cx="4800600" cy="3352800"/>
          </a:xfrm>
          <a:prstGeom prst="rect">
            <a:avLst/>
          </a:prstGeom>
          <a:solidFill>
            <a:schemeClr val="bg1">
              <a:alpha val="50000"/>
            </a:schemeClr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29865" name="Rectangle 11"/>
          <p:cNvSpPr>
            <a:spLocks noChangeArrowheads="1"/>
          </p:cNvSpPr>
          <p:nvPr/>
        </p:nvSpPr>
        <p:spPr bwMode="auto">
          <a:xfrm>
            <a:off x="5791200" y="2057400"/>
            <a:ext cx="2819400" cy="3429000"/>
          </a:xfrm>
          <a:prstGeom prst="rect">
            <a:avLst/>
          </a:prstGeom>
          <a:solidFill>
            <a:schemeClr val="bg1">
              <a:alpha val="50000"/>
            </a:schemeClr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9864" grpId="0" animBg="1"/>
      <p:bldP spid="152986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906" name="Text Box 9"/>
          <p:cNvSpPr txBox="1">
            <a:spLocks noChangeArrowheads="1"/>
          </p:cNvSpPr>
          <p:nvPr/>
        </p:nvSpPr>
        <p:spPr bwMode="auto">
          <a:xfrm>
            <a:off x="228601" y="1371600"/>
            <a:ext cx="8683287" cy="4770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nsolas"/>
                <a:cs typeface="Consolas"/>
              </a:rPr>
              <a:t>&lt;</a:t>
            </a:r>
            <a:r>
              <a:rPr lang="en-US" sz="1600" dirty="0">
                <a:latin typeface="Consolas"/>
                <a:cs typeface="Consolas"/>
              </a:rPr>
              <a:t>Layout id='application' width='480' height='230' </a:t>
            </a:r>
            <a:r>
              <a:rPr lang="en-US" sz="1600" dirty="0" err="1">
                <a:latin typeface="Consolas"/>
                <a:cs typeface="Consolas"/>
              </a:rPr>
              <a:t>boxType</a:t>
            </a:r>
            <a:r>
              <a:rPr lang="en-US" sz="1600" dirty="0">
                <a:latin typeface="Consolas"/>
                <a:cs typeface="Consolas"/>
              </a:rPr>
              <a:t>='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'&gt;</a:t>
            </a:r>
          </a:p>
          <a:p>
            <a:r>
              <a:rPr lang="en-US" sz="1600" dirty="0">
                <a:latin typeface="Consolas"/>
                <a:cs typeface="Consolas"/>
              </a:rPr>
              <a:t>    &lt;</a:t>
            </a:r>
            <a:r>
              <a:rPr lang="en-US" sz="1600" dirty="0" err="1">
                <a:latin typeface="Consolas"/>
                <a:cs typeface="Consolas"/>
              </a:rPr>
              <a:t>TabBar</a:t>
            </a:r>
            <a:r>
              <a:rPr lang="en-US" sz="1600" dirty="0">
                <a:latin typeface="Consolas"/>
                <a:cs typeface="Consolas"/>
              </a:rPr>
              <a:t> id='</a:t>
            </a:r>
            <a:r>
              <a:rPr lang="en-US" sz="1600" dirty="0" err="1">
                <a:latin typeface="Consolas"/>
                <a:cs typeface="Consolas"/>
              </a:rPr>
              <a:t>playlistTabs</a:t>
            </a:r>
            <a:r>
              <a:rPr lang="en-US" sz="1600" dirty="0">
                <a:latin typeface="Consolas"/>
                <a:cs typeface="Consolas"/>
              </a:rPr>
              <a:t>' height='15' </a:t>
            </a:r>
            <a:r>
              <a:rPr lang="en-US" sz="1600" dirty="0" err="1">
                <a:latin typeface="Consolas"/>
                <a:cs typeface="Consolas"/>
              </a:rPr>
              <a:t>tabAlign</a:t>
            </a:r>
            <a:r>
              <a:rPr lang="en-US" sz="1600" dirty="0">
                <a:latin typeface="Consolas"/>
                <a:cs typeface="Consolas"/>
              </a:rPr>
              <a:t>='right' </a:t>
            </a:r>
            <a:r>
              <a:rPr lang="en-US" sz="1600" dirty="0" err="1">
                <a:latin typeface="Consolas"/>
                <a:cs typeface="Consolas"/>
              </a:rPr>
              <a:t>hideSingleTab</a:t>
            </a:r>
            <a:r>
              <a:rPr lang="en-US" sz="1600" dirty="0">
                <a:latin typeface="Consolas"/>
                <a:cs typeface="Consolas"/>
              </a:rPr>
              <a:t>='true' /&gt;</a:t>
            </a:r>
          </a:p>
          <a:p>
            <a:r>
              <a:rPr lang="en-US" sz="1600" dirty="0">
                <a:latin typeface="Consolas"/>
                <a:cs typeface="Consolas"/>
              </a:rPr>
              <a:t>    &lt;</a:t>
            </a:r>
            <a:r>
              <a:rPr lang="en-US" sz="1600" dirty="0" err="1">
                <a:latin typeface="Consolas"/>
                <a:cs typeface="Consolas"/>
              </a:rPr>
              <a:t>HBox</a:t>
            </a:r>
            <a:r>
              <a:rPr lang="en-US" sz="1600" dirty="0">
                <a:latin typeface="Consolas"/>
                <a:cs typeface="Consolas"/>
              </a:rPr>
              <a:t> width='480' height='215'&gt;</a:t>
            </a:r>
          </a:p>
          <a:p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     &lt;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VideoPlayer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id='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videoPlayer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' width='300' height="215" video='{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videoList.selectedItem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}' /&gt;</a:t>
            </a:r>
          </a:p>
          <a:p>
            <a:r>
              <a:rPr lang="en-US" sz="1600" dirty="0">
                <a:latin typeface="Consolas"/>
                <a:cs typeface="Consolas"/>
              </a:rPr>
              <a:t>      &lt;Spacer width='1' /&gt;</a:t>
            </a:r>
          </a:p>
          <a:p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       &lt;List id='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videoList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' 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rowHeight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='52' </a:t>
            </a:r>
            <a:r>
              <a:rPr lang="en-US" sz="1600" b="1" dirty="0" err="1">
                <a:solidFill>
                  <a:srgbClr val="DC8700"/>
                </a:solidFill>
                <a:latin typeface="Consolas"/>
                <a:cs typeface="Consolas"/>
              </a:rPr>
              <a:t>automaticAdvance</a:t>
            </a:r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='true' </a:t>
            </a:r>
          </a:p>
          <a:p>
            <a:r>
              <a:rPr lang="en-US" sz="1600" dirty="0">
                <a:latin typeface="Consolas"/>
                <a:cs typeface="Consolas"/>
              </a:rPr>
              <a:t>	data='{</a:t>
            </a:r>
            <a:r>
              <a:rPr lang="en-US" sz="1600" dirty="0" err="1">
                <a:latin typeface="Consolas"/>
                <a:cs typeface="Consolas"/>
              </a:rPr>
              <a:t>playlistTabs.selectedItem.videoDTOs</a:t>
            </a:r>
            <a:r>
              <a:rPr lang="en-US" sz="1600" dirty="0">
                <a:latin typeface="Consolas"/>
                <a:cs typeface="Consolas"/>
              </a:rPr>
              <a:t>}' </a:t>
            </a:r>
            <a:r>
              <a:rPr lang="en-US" sz="1600" dirty="0" err="1">
                <a:latin typeface="Consolas"/>
                <a:cs typeface="Consolas"/>
              </a:rPr>
              <a:t>selectOnClick</a:t>
            </a:r>
            <a:r>
              <a:rPr lang="en-US" sz="1600" dirty="0">
                <a:latin typeface="Consolas"/>
                <a:cs typeface="Consolas"/>
              </a:rPr>
              <a:t>='true' </a:t>
            </a:r>
          </a:p>
          <a:p>
            <a:r>
              <a:rPr lang="en-US" sz="1600" dirty="0">
                <a:latin typeface="Consolas"/>
                <a:cs typeface="Consolas"/>
              </a:rPr>
              <a:t>	</a:t>
            </a:r>
            <a:r>
              <a:rPr lang="en-US" sz="1600" dirty="0" err="1">
                <a:latin typeface="Consolas"/>
                <a:cs typeface="Consolas"/>
              </a:rPr>
              <a:t>itemInsetH</a:t>
            </a:r>
            <a:r>
              <a:rPr lang="en-US" sz="1600" dirty="0">
                <a:latin typeface="Consolas"/>
                <a:cs typeface="Consolas"/>
              </a:rPr>
              <a:t>='2' </a:t>
            </a:r>
            <a:r>
              <a:rPr lang="en-US" sz="1600" dirty="0" err="1">
                <a:latin typeface="Consolas"/>
                <a:cs typeface="Consolas"/>
              </a:rPr>
              <a:t>itemInsetV</a:t>
            </a:r>
            <a:r>
              <a:rPr lang="en-US" sz="1600" dirty="0">
                <a:latin typeface="Consolas"/>
                <a:cs typeface="Consolas"/>
              </a:rPr>
              <a:t>='2' </a:t>
            </a:r>
            <a:r>
              <a:rPr lang="en-US" sz="1600" dirty="0" err="1">
                <a:latin typeface="Consolas"/>
                <a:cs typeface="Consolas"/>
              </a:rPr>
              <a:t>itemLeading</a:t>
            </a:r>
            <a:r>
              <a:rPr lang="en-US" sz="1600" dirty="0">
                <a:latin typeface="Consolas"/>
                <a:cs typeface="Consolas"/>
              </a:rPr>
              <a:t>='1'&gt;</a:t>
            </a:r>
          </a:p>
          <a:p>
            <a:r>
              <a:rPr lang="en-US" sz="1600" dirty="0">
                <a:latin typeface="Consolas"/>
                <a:cs typeface="Consolas"/>
              </a:rPr>
              <a:t>          &lt;</a:t>
            </a:r>
            <a:r>
              <a:rPr lang="en-US" sz="1600" dirty="0" err="1">
                <a:latin typeface="Consolas"/>
                <a:cs typeface="Consolas"/>
              </a:rPr>
              <a:t>ListItem</a:t>
            </a:r>
            <a:r>
              <a:rPr lang="en-US" sz="1600" dirty="0">
                <a:latin typeface="Consolas"/>
                <a:cs typeface="Consolas"/>
              </a:rPr>
              <a:t> </a:t>
            </a:r>
            <a:r>
              <a:rPr lang="en-US" sz="1600" dirty="0" err="1">
                <a:latin typeface="Consolas"/>
                <a:cs typeface="Consolas"/>
              </a:rPr>
              <a:t>boxType</a:t>
            </a:r>
            <a:r>
              <a:rPr lang="en-US" sz="1600" dirty="0">
                <a:latin typeface="Consolas"/>
                <a:cs typeface="Consolas"/>
              </a:rPr>
              <a:t>='</a:t>
            </a:r>
            <a:r>
              <a:rPr lang="en-US" sz="1600" dirty="0" err="1">
                <a:latin typeface="Consolas"/>
                <a:cs typeface="Consolas"/>
              </a:rPr>
              <a:t>vbox</a:t>
            </a:r>
            <a:r>
              <a:rPr lang="en-US" sz="1600" dirty="0">
                <a:latin typeface="Consolas"/>
                <a:cs typeface="Consolas"/>
              </a:rPr>
              <a:t>' padding='2'&gt;</a:t>
            </a:r>
          </a:p>
          <a:p>
            <a:r>
              <a:rPr lang="en-US" sz="1600" dirty="0">
                <a:latin typeface="Consolas"/>
                <a:cs typeface="Consolas"/>
              </a:rPr>
              <a:t>            &lt;</a:t>
            </a:r>
            <a:r>
              <a:rPr lang="en-US" sz="1600" dirty="0" err="1">
                <a:latin typeface="Consolas"/>
                <a:cs typeface="Consolas"/>
              </a:rPr>
              <a:t>TitleLabel</a:t>
            </a:r>
            <a:r>
              <a:rPr lang="en-US" sz="1600" dirty="0">
                <a:latin typeface="Consolas"/>
                <a:cs typeface="Consolas"/>
              </a:rPr>
              <a:t> height='16' text='{</a:t>
            </a:r>
            <a:r>
              <a:rPr lang="en-US" sz="1600" dirty="0" err="1">
                <a:latin typeface="Consolas"/>
                <a:cs typeface="Consolas"/>
              </a:rPr>
              <a:t>currentItem.displayName</a:t>
            </a:r>
            <a:r>
              <a:rPr lang="en-US" sz="1600" dirty="0">
                <a:latin typeface="Consolas"/>
                <a:cs typeface="Consolas"/>
              </a:rPr>
              <a:t>}' truncate='true' /&gt;</a:t>
            </a:r>
          </a:p>
          <a:p>
            <a:r>
              <a:rPr lang="en-US" sz="1600" dirty="0">
                <a:latin typeface="Consolas"/>
                <a:cs typeface="Consolas"/>
              </a:rPr>
              <a:t>            &lt;Label multiline='true' text='{</a:t>
            </a:r>
            <a:r>
              <a:rPr lang="en-US" sz="1600" dirty="0" err="1">
                <a:latin typeface="Consolas"/>
                <a:cs typeface="Consolas"/>
              </a:rPr>
              <a:t>currentItem.shortDescription</a:t>
            </a:r>
            <a:r>
              <a:rPr lang="en-US" sz="1600" dirty="0">
                <a:latin typeface="Consolas"/>
                <a:cs typeface="Consolas"/>
              </a:rPr>
              <a:t>}' truncate='true' /&gt;</a:t>
            </a:r>
          </a:p>
          <a:p>
            <a:r>
              <a:rPr lang="en-US" sz="1600" dirty="0">
                <a:latin typeface="Consolas"/>
                <a:cs typeface="Consolas"/>
              </a:rPr>
              <a:t>          &lt;/</a:t>
            </a:r>
            <a:r>
              <a:rPr lang="en-US" sz="1600" dirty="0" err="1">
                <a:latin typeface="Consolas"/>
                <a:cs typeface="Consolas"/>
              </a:rPr>
              <a:t>ListItem</a:t>
            </a:r>
            <a:r>
              <a:rPr lang="en-US" sz="1600" dirty="0">
                <a:latin typeface="Consolas"/>
                <a:cs typeface="Consolas"/>
              </a:rPr>
              <a:t>&gt;</a:t>
            </a:r>
          </a:p>
          <a:p>
            <a:r>
              <a:rPr lang="en-US" sz="1600" b="1" dirty="0">
                <a:solidFill>
                  <a:srgbClr val="DC8700"/>
                </a:solidFill>
                <a:latin typeface="Consolas"/>
                <a:cs typeface="Consolas"/>
              </a:rPr>
              <a:t>        &lt;/List&gt;</a:t>
            </a:r>
          </a:p>
          <a:p>
            <a:r>
              <a:rPr lang="en-US" sz="1600" dirty="0">
                <a:latin typeface="Consolas"/>
                <a:cs typeface="Consolas"/>
              </a:rPr>
              <a:t>     &lt;/</a:t>
            </a:r>
            <a:r>
              <a:rPr lang="en-US" sz="1600" dirty="0" err="1">
                <a:latin typeface="Consolas"/>
                <a:cs typeface="Consolas"/>
              </a:rPr>
              <a:t>HBox</a:t>
            </a:r>
            <a:r>
              <a:rPr lang="en-US" sz="1600" dirty="0">
                <a:latin typeface="Consolas"/>
                <a:cs typeface="Consolas"/>
              </a:rPr>
              <a:t>&gt;</a:t>
            </a:r>
          </a:p>
          <a:p>
            <a:r>
              <a:rPr lang="en-US" sz="1600" dirty="0">
                <a:latin typeface="Consolas"/>
                <a:cs typeface="Consolas"/>
              </a:rPr>
              <a:t>  &lt;/Layout</a:t>
            </a:r>
            <a:r>
              <a:rPr lang="en-US" sz="1600" dirty="0" smtClean="0">
                <a:latin typeface="Consolas"/>
                <a:cs typeface="Consolas"/>
              </a:rPr>
              <a:t>&gt;</a:t>
            </a:r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15319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BEML Component Nesting = Layout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Step 4: Identify the additional Degrees of Nesting Boxes</a:t>
            </a:r>
          </a:p>
        </p:txBody>
      </p:sp>
      <p:pic>
        <p:nvPicPr>
          <p:cNvPr id="153395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1" y="1371600"/>
            <a:ext cx="83058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3957" name="Rectangle 4"/>
          <p:cNvSpPr>
            <a:spLocks noChangeArrowheads="1"/>
          </p:cNvSpPr>
          <p:nvPr/>
        </p:nvSpPr>
        <p:spPr bwMode="auto">
          <a:xfrm>
            <a:off x="533400" y="1219200"/>
            <a:ext cx="8382000" cy="4572000"/>
          </a:xfrm>
          <a:prstGeom prst="rect">
            <a:avLst/>
          </a:prstGeom>
          <a:noFill/>
          <a:ln w="762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33958" name="Rectangle 6"/>
          <p:cNvSpPr>
            <a:spLocks noChangeArrowheads="1"/>
          </p:cNvSpPr>
          <p:nvPr/>
        </p:nvSpPr>
        <p:spPr bwMode="auto">
          <a:xfrm>
            <a:off x="685800" y="1371600"/>
            <a:ext cx="8077200" cy="4572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33959" name="Rectangle 7"/>
          <p:cNvSpPr>
            <a:spLocks noChangeArrowheads="1"/>
          </p:cNvSpPr>
          <p:nvPr/>
        </p:nvSpPr>
        <p:spPr bwMode="auto">
          <a:xfrm>
            <a:off x="685800" y="1828800"/>
            <a:ext cx="8077200" cy="3657600"/>
          </a:xfrm>
          <a:prstGeom prst="rect">
            <a:avLst/>
          </a:prstGeom>
          <a:solidFill>
            <a:srgbClr val="FFFF66">
              <a:alpha val="50000"/>
            </a:srgbClr>
          </a:solidFill>
          <a:ln w="762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33960" name="Rectangle 10"/>
          <p:cNvSpPr>
            <a:spLocks noChangeArrowheads="1"/>
          </p:cNvSpPr>
          <p:nvPr/>
        </p:nvSpPr>
        <p:spPr bwMode="auto">
          <a:xfrm>
            <a:off x="838200" y="1981200"/>
            <a:ext cx="4800600" cy="3352800"/>
          </a:xfrm>
          <a:prstGeom prst="rect">
            <a:avLst/>
          </a:prstGeom>
          <a:solidFill>
            <a:schemeClr val="bg1">
              <a:alpha val="50000"/>
            </a:schemeClr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33961" name="Rectangle 11"/>
          <p:cNvSpPr>
            <a:spLocks noChangeArrowheads="1"/>
          </p:cNvSpPr>
          <p:nvPr/>
        </p:nvSpPr>
        <p:spPr bwMode="auto">
          <a:xfrm>
            <a:off x="5791200" y="1981200"/>
            <a:ext cx="2819400" cy="3352800"/>
          </a:xfrm>
          <a:prstGeom prst="rect">
            <a:avLst/>
          </a:prstGeom>
          <a:solidFill>
            <a:schemeClr val="bg1">
              <a:alpha val="50000"/>
            </a:schemeClr>
          </a:solidFill>
          <a:ln w="76200">
            <a:solidFill>
              <a:srgbClr val="FF660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533962" name="Rectangle 11"/>
          <p:cNvSpPr>
            <a:spLocks noChangeArrowheads="1"/>
          </p:cNvSpPr>
          <p:nvPr/>
        </p:nvSpPr>
        <p:spPr bwMode="auto">
          <a:xfrm>
            <a:off x="5791200" y="3581400"/>
            <a:ext cx="2819400" cy="762000"/>
          </a:xfrm>
          <a:prstGeom prst="rect">
            <a:avLst/>
          </a:prstGeom>
          <a:solidFill>
            <a:schemeClr val="bg1">
              <a:alpha val="50000"/>
            </a:schemeClr>
          </a:solidFill>
          <a:ln w="76200">
            <a:solidFill>
              <a:srgbClr val="FFCC0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396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02" name="Text Box 9"/>
          <p:cNvSpPr txBox="1">
            <a:spLocks noChangeArrowheads="1"/>
          </p:cNvSpPr>
          <p:nvPr/>
        </p:nvSpPr>
        <p:spPr bwMode="auto">
          <a:xfrm>
            <a:off x="304800" y="978796"/>
            <a:ext cx="8683270" cy="5509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&lt;Runtime&gt;</a:t>
            </a:r>
          </a:p>
          <a:p>
            <a:r>
              <a:rPr lang="en-US" sz="1600" dirty="0"/>
              <a:t>  &lt;Theme name='Deluxe' style='Light'&gt;</a:t>
            </a:r>
          </a:p>
          <a:p>
            <a:r>
              <a:rPr lang="en-US" sz="1600" dirty="0"/>
              <a:t>    &lt;Style id='default'&gt;</a:t>
            </a:r>
          </a:p>
          <a:p>
            <a:r>
              <a:rPr lang="en-US" sz="1600" dirty="0"/>
              <a:t>       &lt;![</a:t>
            </a:r>
            <a:r>
              <a:rPr lang="en-US" sz="1600" dirty="0" err="1"/>
              <a:t>CDATA[.titleText</a:t>
            </a:r>
            <a:r>
              <a:rPr lang="en-US" sz="1600" dirty="0"/>
              <a:t> {</a:t>
            </a:r>
            <a:r>
              <a:rPr lang="en-US" sz="1600" dirty="0" err="1"/>
              <a:t>fontSize</a:t>
            </a:r>
            <a:r>
              <a:rPr lang="en-US" sz="1600" dirty="0"/>
              <a:t>: 12;}.bodyText {</a:t>
            </a:r>
            <a:r>
              <a:rPr lang="en-US" sz="1600" dirty="0" err="1"/>
              <a:t>fontSize</a:t>
            </a:r>
            <a:r>
              <a:rPr lang="en-US" sz="1600" dirty="0"/>
              <a:t>: 10;}]]&gt;</a:t>
            </a:r>
          </a:p>
          <a:p>
            <a:r>
              <a:rPr lang="en-US" sz="1600" dirty="0"/>
              <a:t>    &lt;/Style&gt;</a:t>
            </a:r>
          </a:p>
          <a:p>
            <a:r>
              <a:rPr lang="en-US" sz="1600" dirty="0"/>
              <a:t>  &lt;/Theme&gt;</a:t>
            </a:r>
          </a:p>
          <a:p>
            <a:r>
              <a:rPr lang="en-US" sz="1600" dirty="0"/>
              <a:t>  &lt;Layout id='application' width='480' height='230' </a:t>
            </a:r>
            <a:r>
              <a:rPr lang="en-US" sz="1600" dirty="0" err="1"/>
              <a:t>boxType</a:t>
            </a:r>
            <a:r>
              <a:rPr lang="en-US" sz="1600" dirty="0"/>
              <a:t>='</a:t>
            </a:r>
            <a:r>
              <a:rPr lang="en-US" sz="1600" dirty="0" err="1"/>
              <a:t>vbox</a:t>
            </a:r>
            <a:r>
              <a:rPr lang="en-US" sz="1600" dirty="0"/>
              <a:t>'&gt;</a:t>
            </a:r>
          </a:p>
          <a:p>
            <a:r>
              <a:rPr lang="en-US" sz="1600" dirty="0"/>
              <a:t>    &lt;</a:t>
            </a:r>
            <a:r>
              <a:rPr lang="en-US" sz="1600" dirty="0" err="1"/>
              <a:t>TabBar</a:t>
            </a:r>
            <a:r>
              <a:rPr lang="en-US" sz="1600" dirty="0"/>
              <a:t> id='</a:t>
            </a:r>
            <a:r>
              <a:rPr lang="en-US" sz="1600" dirty="0" err="1"/>
              <a:t>playlistTabs</a:t>
            </a:r>
            <a:r>
              <a:rPr lang="en-US" sz="1600" dirty="0"/>
              <a:t>' height='15' </a:t>
            </a:r>
            <a:r>
              <a:rPr lang="en-US" sz="1600" dirty="0" err="1"/>
              <a:t>tabAlign</a:t>
            </a:r>
            <a:r>
              <a:rPr lang="en-US" sz="1600" dirty="0"/>
              <a:t>='right' </a:t>
            </a:r>
            <a:r>
              <a:rPr lang="en-US" sz="1600" dirty="0" err="1"/>
              <a:t>hideSingleTab</a:t>
            </a:r>
            <a:r>
              <a:rPr lang="en-US" sz="1600" dirty="0"/>
              <a:t>='true' /&gt;</a:t>
            </a:r>
          </a:p>
          <a:p>
            <a:r>
              <a:rPr lang="en-US" sz="1600" dirty="0"/>
              <a:t>    &lt;</a:t>
            </a:r>
            <a:r>
              <a:rPr lang="en-US" sz="1600" dirty="0" err="1"/>
              <a:t>HBox</a:t>
            </a:r>
            <a:r>
              <a:rPr lang="en-US" sz="1600" dirty="0"/>
              <a:t> width='480' height='215'&gt;</a:t>
            </a:r>
          </a:p>
          <a:p>
            <a:r>
              <a:rPr lang="en-US" sz="1600" dirty="0"/>
              <a:t>      &lt;</a:t>
            </a:r>
            <a:r>
              <a:rPr lang="en-US" sz="1600" dirty="0" err="1"/>
              <a:t>VideoPlayer</a:t>
            </a:r>
            <a:r>
              <a:rPr lang="en-US" sz="1600" dirty="0"/>
              <a:t> id='</a:t>
            </a:r>
            <a:r>
              <a:rPr lang="en-US" sz="1600" dirty="0" err="1"/>
              <a:t>videoPlayer</a:t>
            </a:r>
            <a:r>
              <a:rPr lang="en-US" sz="1600" dirty="0"/>
              <a:t>' width='300' height="215" video='{</a:t>
            </a:r>
            <a:r>
              <a:rPr lang="en-US" sz="1600" dirty="0" err="1"/>
              <a:t>videoList.selectedItem</a:t>
            </a:r>
            <a:r>
              <a:rPr lang="en-US" sz="1600" dirty="0"/>
              <a:t>}' /&gt;</a:t>
            </a:r>
          </a:p>
          <a:p>
            <a:r>
              <a:rPr lang="en-US" sz="1600" dirty="0"/>
              <a:t>      &lt;Spacer width='1' /&gt;</a:t>
            </a:r>
          </a:p>
          <a:p>
            <a:r>
              <a:rPr lang="en-US" sz="1600" dirty="0"/>
              <a:t>        &lt;List id='</a:t>
            </a:r>
            <a:r>
              <a:rPr lang="en-US" sz="1600" dirty="0" err="1"/>
              <a:t>videoList</a:t>
            </a:r>
            <a:r>
              <a:rPr lang="en-US" sz="1600" dirty="0"/>
              <a:t>' </a:t>
            </a:r>
            <a:r>
              <a:rPr lang="en-US" sz="1600" dirty="0" err="1"/>
              <a:t>rowHeight</a:t>
            </a:r>
            <a:r>
              <a:rPr lang="en-US" sz="1600" dirty="0"/>
              <a:t>='52' </a:t>
            </a:r>
            <a:r>
              <a:rPr lang="en-US" sz="1600" dirty="0" err="1"/>
              <a:t>automaticAdvance</a:t>
            </a:r>
            <a:r>
              <a:rPr lang="en-US" sz="1600" dirty="0"/>
              <a:t>='true' </a:t>
            </a:r>
          </a:p>
          <a:p>
            <a:r>
              <a:rPr lang="en-US" sz="1600" dirty="0"/>
              <a:t>	data='{</a:t>
            </a:r>
            <a:r>
              <a:rPr lang="en-US" sz="1600" dirty="0" err="1"/>
              <a:t>playlistTabs.selectedItem.videoDTOs</a:t>
            </a:r>
            <a:r>
              <a:rPr lang="en-US" sz="1600" dirty="0"/>
              <a:t>}' </a:t>
            </a:r>
            <a:r>
              <a:rPr lang="en-US" sz="1600" dirty="0" err="1"/>
              <a:t>selectOnClick</a:t>
            </a:r>
            <a:r>
              <a:rPr lang="en-US" sz="1600" dirty="0"/>
              <a:t>='true'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itemInsetH</a:t>
            </a:r>
            <a:r>
              <a:rPr lang="en-US" sz="1600" dirty="0"/>
              <a:t>='2' </a:t>
            </a:r>
            <a:r>
              <a:rPr lang="en-US" sz="1600" dirty="0" err="1"/>
              <a:t>itemInsetV</a:t>
            </a:r>
            <a:r>
              <a:rPr lang="en-US" sz="1600" dirty="0"/>
              <a:t>='2' </a:t>
            </a:r>
            <a:r>
              <a:rPr lang="en-US" sz="1600" dirty="0" err="1"/>
              <a:t>itemLeading</a:t>
            </a:r>
            <a:r>
              <a:rPr lang="en-US" sz="1600" dirty="0"/>
              <a:t>='1'&gt;</a:t>
            </a:r>
          </a:p>
          <a:p>
            <a:r>
              <a:rPr lang="en-US" sz="1600" dirty="0"/>
              <a:t>          &lt;</a:t>
            </a:r>
            <a:r>
              <a:rPr lang="en-US" sz="1600" dirty="0" err="1"/>
              <a:t>ListItem</a:t>
            </a:r>
            <a:r>
              <a:rPr lang="en-US" sz="1600" dirty="0"/>
              <a:t> </a:t>
            </a:r>
            <a:r>
              <a:rPr lang="en-US" sz="1600" dirty="0" err="1"/>
              <a:t>boxType</a:t>
            </a:r>
            <a:r>
              <a:rPr lang="en-US" sz="1600" dirty="0"/>
              <a:t>='</a:t>
            </a:r>
            <a:r>
              <a:rPr lang="en-US" sz="1600" dirty="0" err="1"/>
              <a:t>vbox</a:t>
            </a:r>
            <a:r>
              <a:rPr lang="en-US" sz="1600" dirty="0"/>
              <a:t>' padding='2'&gt;</a:t>
            </a:r>
          </a:p>
          <a:p>
            <a:r>
              <a:rPr lang="en-US" sz="1600" dirty="0"/>
              <a:t>            &lt;</a:t>
            </a:r>
            <a:r>
              <a:rPr lang="en-US" sz="1600" dirty="0" err="1"/>
              <a:t>TitleLabel</a:t>
            </a:r>
            <a:r>
              <a:rPr lang="en-US" sz="1600" dirty="0"/>
              <a:t> height='16' text='{</a:t>
            </a:r>
            <a:r>
              <a:rPr lang="en-US" sz="1600" dirty="0" err="1"/>
              <a:t>currentItem.displayName</a:t>
            </a:r>
            <a:r>
              <a:rPr lang="en-US" sz="1600" dirty="0"/>
              <a:t>}' truncate='true' /&gt;</a:t>
            </a:r>
          </a:p>
          <a:p>
            <a:r>
              <a:rPr lang="en-US" sz="1600" dirty="0"/>
              <a:t>            &lt;Label multiline='true' text='{</a:t>
            </a:r>
            <a:r>
              <a:rPr lang="en-US" sz="1600" dirty="0" err="1"/>
              <a:t>currentItem.shortDescription</a:t>
            </a:r>
            <a:r>
              <a:rPr lang="en-US" sz="1600" dirty="0"/>
              <a:t>}' truncate='true' /&gt;</a:t>
            </a:r>
          </a:p>
          <a:p>
            <a:r>
              <a:rPr lang="en-US" sz="1600" dirty="0"/>
              <a:t>          &lt;/</a:t>
            </a:r>
            <a:r>
              <a:rPr lang="en-US" sz="1600" dirty="0" err="1"/>
              <a:t>ListItem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&lt;/List&gt;</a:t>
            </a:r>
          </a:p>
          <a:p>
            <a:r>
              <a:rPr lang="en-US" sz="1600" dirty="0"/>
              <a:t>     &lt;/</a:t>
            </a:r>
            <a:r>
              <a:rPr lang="en-US" sz="1600" dirty="0" err="1"/>
              <a:t>HBox</a:t>
            </a:r>
            <a:r>
              <a:rPr lang="en-US" sz="1600" dirty="0"/>
              <a:t>&gt;</a:t>
            </a:r>
          </a:p>
          <a:p>
            <a:r>
              <a:rPr lang="en-US" sz="1600" dirty="0"/>
              <a:t>  &lt;/Layout&gt;</a:t>
            </a:r>
          </a:p>
          <a:p>
            <a:r>
              <a:rPr lang="en-US" sz="1600" dirty="0"/>
              <a:t>&lt;/Runtime&gt;</a:t>
            </a:r>
          </a:p>
        </p:txBody>
      </p:sp>
      <p:sp>
        <p:nvSpPr>
          <p:cNvPr id="15360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BEML Component Nesting = Layout</a:t>
            </a:r>
          </a:p>
        </p:txBody>
      </p:sp>
      <p:sp>
        <p:nvSpPr>
          <p:cNvPr id="1536006" name="Rectangle 7"/>
          <p:cNvSpPr>
            <a:spLocks noChangeArrowheads="1"/>
          </p:cNvSpPr>
          <p:nvPr/>
        </p:nvSpPr>
        <p:spPr bwMode="auto">
          <a:xfrm>
            <a:off x="685800" y="3732575"/>
            <a:ext cx="8077200" cy="1929304"/>
          </a:xfrm>
          <a:prstGeom prst="rect">
            <a:avLst/>
          </a:prstGeom>
          <a:solidFill>
            <a:srgbClr val="FFCC00">
              <a:alpha val="32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Exercise 6:</a:t>
            </a:r>
            <a:r>
              <a:rPr 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Create A complex Layout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667001"/>
            <a:ext cx="6022013" cy="34702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6: Creating the Layout</a:t>
            </a:r>
            <a:endParaRPr lang="en-US" b="1" i="1">
              <a:solidFill>
                <a:srgbClr val="FF0000"/>
              </a:solidFill>
            </a:endParaRPr>
          </a:p>
        </p:txBody>
      </p:sp>
      <p:sp>
        <p:nvSpPr>
          <p:cNvPr id="1552387" name="Rectangle 3"/>
          <p:cNvSpPr>
            <a:spLocks noGrp="1" noChangeArrowheads="1"/>
          </p:cNvSpPr>
          <p:nvPr>
            <p:ph idx="1"/>
          </p:nvPr>
        </p:nvSpPr>
        <p:spPr>
          <a:xfrm>
            <a:off x="285676" y="1344611"/>
            <a:ext cx="8553524" cy="4363878"/>
          </a:xfrm>
        </p:spPr>
        <p:txBody>
          <a:bodyPr/>
          <a:lstStyle/>
          <a:p>
            <a:pPr marL="512719" indent="-512719">
              <a:lnSpc>
                <a:spcPct val="80000"/>
              </a:lnSpc>
              <a:buFontTx/>
              <a:buAutoNum type="arabicPeriod"/>
            </a:pPr>
            <a:r>
              <a:rPr lang="en-US" sz="1800" dirty="0"/>
              <a:t>Create a template with the components you’ve identified.</a:t>
            </a:r>
          </a:p>
          <a:p>
            <a:pPr marL="512719" indent="-512719">
              <a:lnSpc>
                <a:spcPct val="80000"/>
              </a:lnSpc>
              <a:buFontTx/>
              <a:buAutoNum type="arabicPeriod"/>
            </a:pPr>
            <a:r>
              <a:rPr lang="en-US" sz="1800" dirty="0"/>
              <a:t>Start with the following code. File </a:t>
            </a:r>
            <a:r>
              <a:rPr lang="en-US" sz="1800" b="1" i="1" dirty="0"/>
              <a:t>“</a:t>
            </a:r>
            <a:r>
              <a:rPr lang="en-US" sz="1800" b="1" i="1" dirty="0" smtClean="0"/>
              <a:t>Ex6BEMLTemplate.xml”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/>
              <a:t>		</a:t>
            </a:r>
            <a:r>
              <a:rPr lang="en-US" sz="1800" dirty="0">
                <a:latin typeface="Consolas"/>
                <a:cs typeface="Consolas"/>
              </a:rPr>
              <a:t>&lt;Runtime&gt;</a:t>
            </a:r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>
                <a:latin typeface="Consolas"/>
                <a:cs typeface="Consolas"/>
              </a:rPr>
              <a:t>  		&lt;Theme name="Deluxe" style="Light"/&gt;</a:t>
            </a:r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>
                <a:latin typeface="Consolas"/>
                <a:cs typeface="Consolas"/>
              </a:rPr>
              <a:t> 		 &lt;Layout </a:t>
            </a:r>
            <a:r>
              <a:rPr lang="en-US" sz="1800" dirty="0" err="1">
                <a:latin typeface="Consolas"/>
                <a:cs typeface="Consolas"/>
              </a:rPr>
              <a:t>boxType</a:t>
            </a:r>
            <a:r>
              <a:rPr lang="en-US" sz="1800" dirty="0">
                <a:latin typeface="Consolas"/>
                <a:cs typeface="Consolas"/>
              </a:rPr>
              <a:t>="</a:t>
            </a:r>
            <a:r>
              <a:rPr lang="en-US" sz="1800" dirty="0" err="1">
                <a:latin typeface="Consolas"/>
                <a:cs typeface="Consolas"/>
              </a:rPr>
              <a:t>vbox</a:t>
            </a:r>
            <a:r>
              <a:rPr lang="en-US" sz="1800" dirty="0">
                <a:latin typeface="Consolas"/>
                <a:cs typeface="Consolas"/>
              </a:rPr>
              <a:t>" width="955" height="550" padding="3"&gt;</a:t>
            </a:r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>
                <a:latin typeface="Consolas"/>
                <a:cs typeface="Consolas"/>
              </a:rPr>
              <a:t> 		 &lt;!-- YOUR CODE GOES HERE --&gt;</a:t>
            </a:r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>
                <a:latin typeface="Consolas"/>
                <a:cs typeface="Consolas"/>
              </a:rPr>
              <a:t>  		&lt;/Layout&gt;</a:t>
            </a:r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>
                <a:latin typeface="Consolas"/>
                <a:cs typeface="Consolas"/>
              </a:rPr>
              <a:t>		&lt;/Runtime&gt;</a:t>
            </a:r>
          </a:p>
          <a:p>
            <a:pPr marL="512719" indent="-512719">
              <a:lnSpc>
                <a:spcPct val="80000"/>
              </a:lnSpc>
              <a:buNone/>
            </a:pPr>
            <a:endParaRPr lang="en-US" sz="1800" dirty="0"/>
          </a:p>
          <a:p>
            <a:pPr marL="512719" indent="-512719">
              <a:lnSpc>
                <a:spcPct val="80000"/>
              </a:lnSpc>
              <a:buNone/>
            </a:pPr>
            <a:r>
              <a:rPr lang="en-US" sz="1800" dirty="0"/>
              <a:t>3.     Name your template “</a:t>
            </a:r>
            <a:r>
              <a:rPr lang="en-US" sz="1800" i="1" dirty="0"/>
              <a:t>Ex6BEMLTemplate</a:t>
            </a:r>
            <a:r>
              <a:rPr lang="en-US" sz="1800" dirty="0"/>
              <a:t>” </a:t>
            </a:r>
          </a:p>
          <a:p>
            <a:pPr marL="1084169" lvl="1" indent="-457160">
              <a:lnSpc>
                <a:spcPct val="80000"/>
              </a:lnSpc>
              <a:buNone/>
            </a:pPr>
            <a:endParaRPr lang="en-US" sz="1800" dirty="0"/>
          </a:p>
          <a:p>
            <a:pPr marL="1084169" lvl="1" indent="-457160">
              <a:lnSpc>
                <a:spcPct val="80000"/>
              </a:lnSpc>
              <a:buNone/>
            </a:pPr>
            <a:r>
              <a:rPr lang="en-US" sz="1800" dirty="0"/>
              <a:t>Note: </a:t>
            </a:r>
          </a:p>
          <a:p>
            <a:pPr marL="1084169" lvl="1" indent="-457160">
              <a:lnSpc>
                <a:spcPct val="80000"/>
              </a:lnSpc>
              <a:buFont typeface="Wingdings" charset="2"/>
              <a:buChar char="ü"/>
            </a:pPr>
            <a:r>
              <a:rPr lang="en-US" sz="1800" dirty="0"/>
              <a:t>Use </a:t>
            </a:r>
            <a:r>
              <a:rPr lang="en-US" sz="1800" dirty="0" err="1"/>
              <a:t>support.brightcove.com</a:t>
            </a:r>
            <a:endParaRPr lang="en-US" sz="1800" dirty="0"/>
          </a:p>
          <a:p>
            <a:pPr marL="1084169" lvl="1" indent="-457160">
              <a:lnSpc>
                <a:spcPct val="80000"/>
              </a:lnSpc>
              <a:buFont typeface="Wingdings" charset="2"/>
              <a:buChar char="ü"/>
            </a:pPr>
            <a:r>
              <a:rPr lang="en-US" sz="1800" dirty="0"/>
              <a:t>Use the DTD reference</a:t>
            </a:r>
            <a:r>
              <a:rPr lang="en-US" sz="1800" b="1" dirty="0"/>
              <a:t> </a:t>
            </a:r>
          </a:p>
          <a:p>
            <a:pPr marL="1084169" lvl="1" indent="-457160">
              <a:lnSpc>
                <a:spcPct val="80000"/>
              </a:lnSpc>
              <a:spcBef>
                <a:spcPct val="0"/>
              </a:spcBef>
              <a:buNone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5410200" y="4267200"/>
            <a:ext cx="3005935" cy="1569652"/>
          </a:xfrm>
          <a:prstGeom prst="rect">
            <a:avLst/>
          </a:prstGeom>
          <a:solidFill>
            <a:schemeClr val="bg2"/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1600" dirty="0" smtClean="0"/>
              <a:t>Helper files:</a:t>
            </a:r>
          </a:p>
          <a:p>
            <a:pPr>
              <a:buFont typeface="Arial"/>
              <a:buChar char="•"/>
            </a:pPr>
            <a:r>
              <a:rPr lang="en-US" sz="1600" dirty="0" smtClean="0"/>
              <a:t> BEMLTemplateLayoutEx6.pdf</a:t>
            </a:r>
          </a:p>
          <a:p>
            <a:pPr>
              <a:buFont typeface="Arial"/>
              <a:buChar char="•"/>
            </a:pPr>
            <a:r>
              <a:rPr lang="en-US" sz="1600" dirty="0" smtClean="0"/>
              <a:t> Ex6BEMLTemplate.xml</a:t>
            </a:r>
          </a:p>
          <a:p>
            <a:pPr>
              <a:buFont typeface="Arial"/>
              <a:buChar char="•"/>
            </a:pPr>
            <a:endParaRPr lang="en-US" sz="1600" dirty="0" smtClean="0"/>
          </a:p>
          <a:p>
            <a:r>
              <a:rPr lang="en-US" sz="1600" dirty="0" smtClean="0"/>
              <a:t>Solution:</a:t>
            </a:r>
          </a:p>
          <a:p>
            <a:r>
              <a:rPr lang="en-US" sz="1600" dirty="0" smtClean="0"/>
              <a:t>BEMLTemplateLayoutEx6.xml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1" name="Rectangle 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dirty="0" smtClean="0"/>
              <a:t>Data </a:t>
            </a:r>
            <a:r>
              <a:rPr lang="en-US" dirty="0"/>
              <a:t>Binding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2022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Displaying Content</a:t>
            </a:r>
          </a:p>
        </p:txBody>
      </p:sp>
      <p:pic>
        <p:nvPicPr>
          <p:cNvPr id="6" name="Picture 4" descr="ThumbnailGrid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4754" y="990601"/>
            <a:ext cx="777240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ight Arrow 4"/>
          <p:cNvSpPr/>
          <p:nvPr/>
        </p:nvSpPr>
        <p:spPr bwMode="auto">
          <a:xfrm>
            <a:off x="208954" y="4572000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7" name="Right Arrow 6"/>
          <p:cNvSpPr/>
          <p:nvPr/>
        </p:nvSpPr>
        <p:spPr bwMode="auto">
          <a:xfrm rot="10800000">
            <a:off x="4323755" y="4800601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8" name="Right Arrow 7"/>
          <p:cNvSpPr/>
          <p:nvPr/>
        </p:nvSpPr>
        <p:spPr bwMode="auto">
          <a:xfrm rot="10800000">
            <a:off x="8209954" y="1600201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9" name="Right Arrow 8"/>
          <p:cNvSpPr/>
          <p:nvPr/>
        </p:nvSpPr>
        <p:spPr bwMode="auto">
          <a:xfrm rot="10800000">
            <a:off x="7905154" y="2057401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0" name="Right Arrow 9"/>
          <p:cNvSpPr/>
          <p:nvPr/>
        </p:nvSpPr>
        <p:spPr bwMode="auto">
          <a:xfrm rot="10800000">
            <a:off x="7447954" y="1066800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1" name="TextBox 10"/>
          <p:cNvSpPr txBox="1"/>
          <p:nvPr/>
        </p:nvSpPr>
        <p:spPr>
          <a:xfrm>
            <a:off x="3333154" y="2743201"/>
            <a:ext cx="2895600" cy="1200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91432" tIns="45716" rIns="91432" bIns="45716" rtlCol="0">
            <a:spAutoFit/>
          </a:bodyPr>
          <a:lstStyle/>
          <a:p>
            <a:pPr algn="ctr"/>
            <a:r>
              <a:rPr lang="en-US" sz="2400" dirty="0" smtClean="0"/>
              <a:t>Data we can obtain dynamically through data binding</a:t>
            </a:r>
            <a:endParaRPr lang="en-US" sz="2400" dirty="0"/>
          </a:p>
        </p:txBody>
      </p:sp>
      <p:sp>
        <p:nvSpPr>
          <p:cNvPr id="12" name="Right Arrow 11"/>
          <p:cNvSpPr/>
          <p:nvPr/>
        </p:nvSpPr>
        <p:spPr bwMode="auto">
          <a:xfrm>
            <a:off x="208954" y="5181600"/>
            <a:ext cx="705446" cy="498781"/>
          </a:xfrm>
          <a:prstGeom prst="rightArrow">
            <a:avLst/>
          </a:prstGeom>
          <a:gradFill flip="none" rotWithShape="1">
            <a:gsLst>
              <a:gs pos="0">
                <a:srgbClr val="CC3352"/>
              </a:gs>
              <a:gs pos="100000">
                <a:srgbClr val="FFFFFF"/>
              </a:gs>
            </a:gsLst>
            <a:lin ang="10800000" scaled="0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Binding in Templates</a:t>
            </a:r>
          </a:p>
        </p:txBody>
      </p:sp>
      <p:sp>
        <p:nvSpPr>
          <p:cNvPr id="1091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data</a:t>
            </a:r>
            <a:r>
              <a:rPr lang="en-US" sz="2400" dirty="0"/>
              <a:t> – value of a property - can be bound to a component specific attribute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r>
              <a:rPr lang="en-US" sz="2400" dirty="0"/>
              <a:t>To set the value of an attribute, you use the ID and properties of another </a:t>
            </a:r>
            <a:r>
              <a:rPr lang="en-US" sz="2400" dirty="0" smtClean="0"/>
              <a:t>object that has video or playlist data bound to 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3" name="Footer Placeholder 3"/>
          <p:cNvSpPr txBox="1">
            <a:spLocks noGrp="1"/>
          </p:cNvSpPr>
          <p:nvPr/>
        </p:nvSpPr>
        <p:spPr bwMode="auto">
          <a:xfrm>
            <a:off x="479425" y="6483350"/>
            <a:ext cx="44958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 </a:t>
            </a:r>
          </a:p>
        </p:txBody>
      </p:sp>
      <p:sp>
        <p:nvSpPr>
          <p:cNvPr id="264194" name="Slide Number Placeholder 4"/>
          <p:cNvSpPr txBox="1">
            <a:spLocks noGrp="1"/>
          </p:cNvSpPr>
          <p:nvPr/>
        </p:nvSpPr>
        <p:spPr bwMode="auto">
          <a:xfrm>
            <a:off x="166688" y="6465888"/>
            <a:ext cx="4572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fld id="{713C89CB-9AE3-6743-A446-3594F83C317B}" type="slidenum">
              <a:rPr lang="en-US" sz="900" b="1">
                <a:solidFill>
                  <a:srgbClr val="7B7B7B"/>
                </a:solidFill>
              </a:rPr>
              <a:pPr/>
              <a:t>66</a:t>
            </a:fld>
            <a:endParaRPr lang="en-US" sz="900" b="1" dirty="0">
              <a:solidFill>
                <a:srgbClr val="7B7B7B"/>
              </a:solidFill>
            </a:endParaRPr>
          </a:p>
        </p:txBody>
      </p:sp>
      <p:sp>
        <p:nvSpPr>
          <p:cNvPr id="105165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BEML: Data Binding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The </a:t>
            </a:r>
            <a:r>
              <a:rPr lang="en-US" i="1" dirty="0"/>
              <a:t>simple</a:t>
            </a:r>
            <a:r>
              <a:rPr lang="en-US" dirty="0"/>
              <a:t> binding syntax looks like this: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			&lt;</a:t>
            </a:r>
            <a:r>
              <a:rPr lang="en-US" dirty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Element attribute="{</a:t>
            </a:r>
            <a:r>
              <a:rPr lang="en-US" dirty="0" err="1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component.object.property</a:t>
            </a:r>
            <a:r>
              <a:rPr lang="en-US" dirty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}" /&gt;</a:t>
            </a:r>
          </a:p>
        </p:txBody>
      </p:sp>
      <p:sp>
        <p:nvSpPr>
          <p:cNvPr id="1051654" name="Line 6"/>
          <p:cNvSpPr>
            <a:spLocks noChangeShapeType="1"/>
          </p:cNvSpPr>
          <p:nvPr/>
        </p:nvSpPr>
        <p:spPr bwMode="auto">
          <a:xfrm flipH="1" flipV="1">
            <a:off x="3810000" y="3657600"/>
            <a:ext cx="3810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1655" name="Text Box 7"/>
          <p:cNvSpPr txBox="1">
            <a:spLocks noChangeArrowheads="1"/>
          </p:cNvSpPr>
          <p:nvPr/>
        </p:nvSpPr>
        <p:spPr bwMode="auto">
          <a:xfrm>
            <a:off x="3586833" y="4724401"/>
            <a:ext cx="4468933" cy="400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smtClean="0"/>
              <a:t>{ the braces indicate data binding }</a:t>
            </a:r>
            <a:endParaRPr lang="en-US" sz="2000" b="1" dirty="0"/>
          </a:p>
        </p:txBody>
      </p:sp>
      <p:sp>
        <p:nvSpPr>
          <p:cNvPr id="1051656" name="Line 8"/>
          <p:cNvSpPr>
            <a:spLocks noChangeShapeType="1"/>
          </p:cNvSpPr>
          <p:nvPr/>
        </p:nvSpPr>
        <p:spPr bwMode="auto">
          <a:xfrm flipV="1">
            <a:off x="6324600" y="3657600"/>
            <a:ext cx="1219200" cy="1066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57400" y="3276600"/>
            <a:ext cx="6403374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>
                <a:latin typeface="Consolas"/>
              </a:rPr>
              <a:t>&lt;Label text="{</a:t>
            </a:r>
            <a:r>
              <a:rPr lang="en-US" dirty="0" err="1" smtClean="0">
                <a:latin typeface="Consolas"/>
              </a:rPr>
              <a:t>videoPlayer.video.displayName</a:t>
            </a:r>
            <a:r>
              <a:rPr lang="en-US" dirty="0" smtClean="0">
                <a:latin typeface="Consolas"/>
              </a:rPr>
              <a:t>}" /&gt;</a:t>
            </a:r>
            <a:r>
              <a:rPr lang="en-US" dirty="0" err="1" smtClean="0">
                <a:latin typeface="Consolas"/>
              </a:rPr>
              <a:t>ç</a:t>
            </a:r>
            <a:endParaRPr lang="en-US" dirty="0">
              <a:latin typeface="Consolas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31726" y="2772770"/>
            <a:ext cx="759274" cy="630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191000" y="2772770"/>
            <a:ext cx="1441297" cy="630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975225" y="2772770"/>
            <a:ext cx="1502027" cy="630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to Find Properties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DTO(Data</a:t>
            </a:r>
            <a:r>
              <a:rPr lang="en-US" dirty="0"/>
              <a:t> Transfer Object)</a:t>
            </a:r>
          </a:p>
          <a:p>
            <a:pPr lvl="1"/>
            <a:r>
              <a:rPr lang="en-US" dirty="0"/>
              <a:t>Player API DTO</a:t>
            </a:r>
          </a:p>
          <a:p>
            <a:pPr lvl="2">
              <a:buFontTx/>
              <a:buChar char="•"/>
            </a:pPr>
            <a:r>
              <a:rPr lang="en-US" dirty="0"/>
              <a:t>Video DTO</a:t>
            </a:r>
          </a:p>
          <a:p>
            <a:pPr lvl="2">
              <a:buFontTx/>
              <a:buChar char="•"/>
            </a:pPr>
            <a:r>
              <a:rPr lang="en-US" dirty="0"/>
              <a:t>Playlist </a:t>
            </a:r>
            <a:r>
              <a:rPr lang="en-US" dirty="0" smtClean="0"/>
              <a:t>DTO</a:t>
            </a:r>
          </a:p>
          <a:p>
            <a:pPr lvl="2">
              <a:buFontTx/>
              <a:buChar char="•"/>
            </a:pPr>
            <a:r>
              <a:rPr lang="en-US" dirty="0" smtClean="0"/>
              <a:t>These objects contain Properties and Metadata set </a:t>
            </a:r>
            <a:r>
              <a:rPr lang="en-US" dirty="0"/>
              <a:t>by end users in the Media Module</a:t>
            </a:r>
            <a:endParaRPr lang="en-US" dirty="0" smtClean="0"/>
          </a:p>
          <a:p>
            <a:pPr lvl="2">
              <a:buFontTx/>
              <a:buChar char="•"/>
            </a:pPr>
            <a:r>
              <a:rPr lang="en-US" dirty="0" smtClean="0"/>
              <a:t>Find details of the </a:t>
            </a:r>
            <a:r>
              <a:rPr lang="en-US" dirty="0" err="1" smtClean="0"/>
              <a:t>DTOs</a:t>
            </a:r>
            <a:r>
              <a:rPr lang="en-US" dirty="0" smtClean="0"/>
              <a:t> in the Player API reference: </a:t>
            </a:r>
            <a:r>
              <a:rPr lang="en-US" dirty="0" smtClean="0">
                <a:hlinkClick r:id="rId3"/>
              </a:rPr>
              <a:t>http://docs.brightcove.com/en/player/</a:t>
            </a:r>
            <a:endParaRPr lang="en-US" dirty="0" smtClean="0"/>
          </a:p>
          <a:p>
            <a:pPr lvl="1">
              <a:buFontTx/>
              <a:buNone/>
            </a:pPr>
            <a:endParaRPr lang="en-US" b="1" i="1" dirty="0"/>
          </a:p>
          <a:p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5105400"/>
            <a:ext cx="6187481" cy="923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Developers who will be creating applications with the APIs:</a:t>
            </a:r>
          </a:p>
          <a:p>
            <a:pPr marL="0" lvl="2"/>
            <a:r>
              <a:rPr lang="en-US" b="1" i="1" dirty="0" smtClean="0"/>
              <a:t>Use Player API version of the Video DTO!</a:t>
            </a:r>
          </a:p>
          <a:p>
            <a:r>
              <a:rPr lang="en-US" dirty="0" smtClean="0"/>
              <a:t>(not the Media API version)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Footer Placeholder 3"/>
          <p:cNvSpPr txBox="1">
            <a:spLocks noGrp="1"/>
          </p:cNvSpPr>
          <p:nvPr/>
        </p:nvSpPr>
        <p:spPr bwMode="auto">
          <a:xfrm>
            <a:off x="479425" y="6483350"/>
            <a:ext cx="44958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 </a:t>
            </a:r>
          </a:p>
        </p:txBody>
      </p:sp>
      <p:sp>
        <p:nvSpPr>
          <p:cNvPr id="266242" name="Slide Number Placeholder 4"/>
          <p:cNvSpPr txBox="1">
            <a:spLocks noGrp="1"/>
          </p:cNvSpPr>
          <p:nvPr/>
        </p:nvSpPr>
        <p:spPr bwMode="auto">
          <a:xfrm>
            <a:off x="166688" y="6465888"/>
            <a:ext cx="4572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fld id="{07165984-9D61-1640-A915-0CF94F8FB8FA}" type="slidenum">
              <a:rPr lang="en-US" sz="900" b="1">
                <a:solidFill>
                  <a:srgbClr val="7B7B7B"/>
                </a:solidFill>
              </a:rPr>
              <a:pPr/>
              <a:t>68</a:t>
            </a:fld>
            <a:endParaRPr lang="en-US" sz="900" b="1" dirty="0">
              <a:solidFill>
                <a:srgbClr val="7B7B7B"/>
              </a:solidFill>
            </a:endParaRPr>
          </a:p>
        </p:txBody>
      </p:sp>
      <p:sp>
        <p:nvSpPr>
          <p:cNvPr id="1142788" name="Rectangle 4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Some Useful </a:t>
            </a:r>
            <a:r>
              <a:rPr lang="en-US" dirty="0"/>
              <a:t>Video DTO Properties</a:t>
            </a:r>
          </a:p>
        </p:txBody>
      </p:sp>
      <p:graphicFrame>
        <p:nvGraphicFramePr>
          <p:cNvPr id="1142893" name="Group 109"/>
          <p:cNvGraphicFramePr>
            <a:graphicFrameLocks noGrp="1"/>
          </p:cNvGraphicFramePr>
          <p:nvPr/>
        </p:nvGraphicFramePr>
        <p:xfrm>
          <a:off x="381000" y="1147476"/>
          <a:ext cx="8458200" cy="4978609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4229100"/>
                <a:gridCol w="4229100"/>
              </a:tblGrid>
              <a:tr h="426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Video DTO Properties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displayName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video displayed in Player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linkText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Publisher-defined link text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02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linkURL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Publisher-defined URL that points to an information or containing page for this Video.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3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thumbnailURL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URL of a thumbnail image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38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shortDescription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Brief description of Video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data binding Works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2010 Brightcove, Inc. All rights reserved. </a:t>
            </a:r>
            <a:endParaRPr lang="en-US" dirty="0"/>
          </a:p>
        </p:txBody>
      </p:sp>
      <p:pic>
        <p:nvPicPr>
          <p:cNvPr id="5" name="Picture 4" descr="ThumbnailGri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657601"/>
            <a:ext cx="2360711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600200" y="5486400"/>
            <a:ext cx="838938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Player</a:t>
            </a:r>
            <a:endParaRPr lang="en-US" dirty="0"/>
          </a:p>
        </p:txBody>
      </p:sp>
      <p:sp>
        <p:nvSpPr>
          <p:cNvPr id="7" name="Frame 6"/>
          <p:cNvSpPr/>
          <p:nvPr/>
        </p:nvSpPr>
        <p:spPr>
          <a:xfrm>
            <a:off x="457200" y="1143000"/>
            <a:ext cx="8229600" cy="5029199"/>
          </a:xfrm>
          <a:prstGeom prst="frame">
            <a:avLst>
              <a:gd name="adj1" fmla="val 118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Frame 8"/>
          <p:cNvSpPr/>
          <p:nvPr/>
        </p:nvSpPr>
        <p:spPr>
          <a:xfrm>
            <a:off x="5029200" y="1446731"/>
            <a:ext cx="2547754" cy="2287069"/>
          </a:xfrm>
          <a:prstGeom prst="frame">
            <a:avLst>
              <a:gd name="adj1" fmla="val 256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5334000" y="1524000"/>
            <a:ext cx="1928967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Browser Memory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296836" y="1982804"/>
            <a:ext cx="1103964" cy="1065196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Oval 11"/>
          <p:cNvSpPr/>
          <p:nvPr/>
        </p:nvSpPr>
        <p:spPr>
          <a:xfrm>
            <a:off x="6400800" y="2514601"/>
            <a:ext cx="1066800" cy="10668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5464708" y="2173070"/>
            <a:ext cx="783684" cy="646323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algn="ctr"/>
            <a:r>
              <a:rPr lang="en-US" dirty="0" smtClean="0"/>
              <a:t>Video</a:t>
            </a:r>
          </a:p>
          <a:p>
            <a:r>
              <a:rPr lang="en-US" dirty="0" smtClean="0"/>
              <a:t>DTO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87149" y="2743201"/>
            <a:ext cx="915807" cy="646323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algn="ctr"/>
            <a:r>
              <a:rPr lang="en-US" dirty="0" smtClean="0"/>
              <a:t>Playlist</a:t>
            </a:r>
          </a:p>
          <a:p>
            <a:r>
              <a:rPr lang="en-US" dirty="0" smtClean="0"/>
              <a:t>DTO</a:t>
            </a:r>
            <a:endParaRPr lang="en-US" dirty="0"/>
          </a:p>
        </p:txBody>
      </p:sp>
      <p:cxnSp>
        <p:nvCxnSpPr>
          <p:cNvPr id="15" name="Straight Connector 14"/>
          <p:cNvCxnSpPr>
            <a:endCxn id="12" idx="2"/>
          </p:cNvCxnSpPr>
          <p:nvPr/>
        </p:nvCxnSpPr>
        <p:spPr>
          <a:xfrm flipV="1">
            <a:off x="3352800" y="3048000"/>
            <a:ext cx="3048000" cy="1143000"/>
          </a:xfrm>
          <a:prstGeom prst="line">
            <a:avLst/>
          </a:prstGeom>
          <a:ln>
            <a:headEnd type="triangle" w="lg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3"/>
          </p:cNvCxnSpPr>
          <p:nvPr/>
        </p:nvCxnSpPr>
        <p:spPr>
          <a:xfrm rot="5400000">
            <a:off x="3908557" y="2336249"/>
            <a:ext cx="994194" cy="210570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2581870"/>
            <a:ext cx="2743200" cy="92332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dirty="0" smtClean="0"/>
              <a:t>Functionality to</a:t>
            </a:r>
            <a:r>
              <a:rPr lang="en-US" dirty="0" smtClean="0"/>
              <a:t> assign data </a:t>
            </a:r>
            <a:r>
              <a:rPr lang="en-US" dirty="0" smtClean="0"/>
              <a:t>via data binding built into player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876800" y="4788836"/>
            <a:ext cx="3352800" cy="107856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4876800" y="4800600"/>
            <a:ext cx="3276600" cy="923322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dirty="0" smtClean="0"/>
              <a:t>Custom JavaScript application can retrieve the DTO data via the Brightcove Player API</a:t>
            </a:r>
            <a:endParaRPr lang="en-US" dirty="0"/>
          </a:p>
        </p:txBody>
      </p:sp>
      <p:sp>
        <p:nvSpPr>
          <p:cNvPr id="24" name="Up-Down Arrow 23"/>
          <p:cNvSpPr/>
          <p:nvPr/>
        </p:nvSpPr>
        <p:spPr>
          <a:xfrm>
            <a:off x="6155892" y="3839678"/>
            <a:ext cx="397309" cy="822960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extBox 24"/>
          <p:cNvSpPr txBox="1"/>
          <p:nvPr/>
        </p:nvSpPr>
        <p:spPr>
          <a:xfrm>
            <a:off x="1060703" y="1447800"/>
            <a:ext cx="4044681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err="1" smtClean="0"/>
              <a:t>DTOs</a:t>
            </a:r>
            <a:r>
              <a:rPr lang="en-US" dirty="0" smtClean="0"/>
              <a:t> are downloaded with the player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</a:t>
            </a:r>
            <a:r>
              <a:rPr lang="en-US" dirty="0" smtClean="0"/>
              <a:t>IDs</a:t>
            </a:r>
            <a:endParaRPr lang="en-US" dirty="0"/>
          </a:p>
        </p:txBody>
      </p:sp>
      <p:sp>
        <p:nvSpPr>
          <p:cNvPr id="1213443" name="Rectangle 3"/>
          <p:cNvSpPr>
            <a:spLocks noGrp="1" noChangeArrowheads="1"/>
          </p:cNvSpPr>
          <p:nvPr>
            <p:ph idx="1"/>
          </p:nvPr>
        </p:nvSpPr>
        <p:spPr>
          <a:xfrm>
            <a:off x="477838" y="1066800"/>
            <a:ext cx="8056562" cy="5334000"/>
          </a:xfrm>
        </p:spPr>
        <p:txBody>
          <a:bodyPr>
            <a:normAutofit/>
          </a:bodyPr>
          <a:lstStyle/>
          <a:p>
            <a:r>
              <a:rPr lang="en-US" sz="2800" dirty="0"/>
              <a:t>The majority of the component </a:t>
            </a:r>
            <a:r>
              <a:rPr lang="en-US" sz="2800" dirty="0" smtClean="0"/>
              <a:t>IDs </a:t>
            </a:r>
            <a:r>
              <a:rPr lang="en-US" sz="2800" dirty="0"/>
              <a:t>are </a:t>
            </a:r>
            <a:r>
              <a:rPr lang="en-US" sz="2800" dirty="0" smtClean="0"/>
              <a:t>variable and optional</a:t>
            </a:r>
          </a:p>
          <a:p>
            <a:pPr lvl="1"/>
            <a:r>
              <a:rPr lang="en-US" sz="2000" dirty="0"/>
              <a:t>&lt;Image id=“</a:t>
            </a:r>
            <a:r>
              <a:rPr lang="en-US" sz="2000" dirty="0" err="1"/>
              <a:t>catImage</a:t>
            </a:r>
            <a:r>
              <a:rPr lang="en-US" sz="2000" dirty="0"/>
              <a:t>” source=</a:t>
            </a:r>
            <a:r>
              <a:rPr lang="en-US" sz="2000" dirty="0">
                <a:hlinkClick r:id="rId3"/>
              </a:rPr>
              <a:t>http://url.com/cat.jpg</a:t>
            </a:r>
            <a:r>
              <a:rPr lang="en-US" sz="2000" dirty="0"/>
              <a:t>”/&gt;</a:t>
            </a:r>
            <a:r>
              <a:rPr lang="en-US" dirty="0" smtClean="0"/>
              <a:t> </a:t>
            </a:r>
          </a:p>
          <a:p>
            <a:r>
              <a:rPr lang="en-US" sz="2800" dirty="0" smtClean="0"/>
              <a:t>The following components have </a:t>
            </a:r>
            <a:r>
              <a:rPr lang="en-US" sz="2800" i="1" dirty="0" smtClean="0"/>
              <a:t>required</a:t>
            </a:r>
            <a:r>
              <a:rPr lang="en-US" sz="2800" dirty="0" smtClean="0"/>
              <a:t> ID values that enable them to have data bound to them automatically</a:t>
            </a:r>
          </a:p>
          <a:p>
            <a:pPr marL="616141" indent="-495257">
              <a:buFont typeface="Wingdings" charset="2"/>
              <a:buChar char="u"/>
            </a:pPr>
            <a:r>
              <a:rPr lang="en-US" b="1" dirty="0" err="1" smtClean="0"/>
              <a:t>VideoPlayer</a:t>
            </a:r>
            <a:r>
              <a:rPr lang="en-US" b="1" dirty="0" smtClean="0"/>
              <a:t>,</a:t>
            </a:r>
            <a:r>
              <a:rPr lang="en-US" dirty="0" smtClean="0"/>
              <a:t> </a:t>
            </a:r>
            <a:r>
              <a:rPr lang="en-US" b="1" dirty="0" err="1" smtClean="0"/>
              <a:t>VideoDisplay</a:t>
            </a:r>
            <a:r>
              <a:rPr lang="en-US" b="1" dirty="0" smtClean="0"/>
              <a:t>, </a:t>
            </a:r>
            <a:r>
              <a:rPr lang="en-US" b="1" dirty="0" err="1" smtClean="0"/>
              <a:t>ChromelessVideoPlayer</a:t>
            </a:r>
            <a:r>
              <a:rPr lang="en-US" b="1" dirty="0" smtClean="0"/>
              <a:t> </a:t>
            </a:r>
            <a:r>
              <a:rPr lang="en-US" dirty="0" smtClean="0"/>
              <a:t>components</a:t>
            </a:r>
            <a:r>
              <a:rPr lang="en-US" b="1" dirty="0" smtClean="0"/>
              <a:t>: </a:t>
            </a:r>
            <a:r>
              <a:rPr lang="en-US" dirty="0" smtClean="0"/>
              <a:t> id=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err="1" smtClean="0">
                <a:solidFill>
                  <a:srgbClr val="FF0000"/>
                </a:solidFill>
              </a:rPr>
              <a:t>videoPlayer</a:t>
            </a:r>
            <a:r>
              <a:rPr lang="en-US" dirty="0" smtClean="0">
                <a:solidFill>
                  <a:srgbClr val="FF0000"/>
                </a:solidFill>
              </a:rPr>
              <a:t>” </a:t>
            </a:r>
          </a:p>
          <a:p>
            <a:pPr marL="616141" indent="-495257">
              <a:buFont typeface="Wingdings" charset="2"/>
              <a:buChar char="u"/>
            </a:pPr>
            <a:r>
              <a:rPr lang="en-US" b="1" dirty="0" smtClean="0"/>
              <a:t>List</a:t>
            </a:r>
            <a:r>
              <a:rPr lang="en-US" dirty="0" smtClean="0"/>
              <a:t> and </a:t>
            </a:r>
            <a:r>
              <a:rPr lang="en-US" b="1" dirty="0" err="1" smtClean="0"/>
              <a:t>TileList</a:t>
            </a:r>
            <a:r>
              <a:rPr lang="en-US" b="1" dirty="0" smtClean="0"/>
              <a:t> </a:t>
            </a:r>
            <a:r>
              <a:rPr lang="en-US" dirty="0" smtClean="0"/>
              <a:t>components: id=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err="1" smtClean="0">
                <a:solidFill>
                  <a:srgbClr val="FF0000"/>
                </a:solidFill>
              </a:rPr>
              <a:t>videoList</a:t>
            </a:r>
            <a:r>
              <a:rPr lang="en-US" dirty="0" smtClean="0">
                <a:solidFill>
                  <a:srgbClr val="FF0000"/>
                </a:solidFill>
              </a:rPr>
              <a:t>" </a:t>
            </a:r>
          </a:p>
          <a:p>
            <a:pPr marL="616141" indent="-495257">
              <a:buFont typeface="Wingdings" charset="2"/>
              <a:buChar char="u"/>
            </a:pPr>
            <a:r>
              <a:rPr lang="en-US" b="1" dirty="0" err="1" smtClean="0"/>
              <a:t>TabBar</a:t>
            </a:r>
            <a:r>
              <a:rPr lang="en-US" b="1" dirty="0" smtClean="0"/>
              <a:t> </a:t>
            </a:r>
            <a:r>
              <a:rPr lang="en-US" dirty="0" smtClean="0"/>
              <a:t>component: id=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err="1" smtClean="0">
                <a:solidFill>
                  <a:srgbClr val="FF0000"/>
                </a:solidFill>
              </a:rPr>
              <a:t>playlistTabs</a:t>
            </a:r>
            <a:r>
              <a:rPr lang="en-US" dirty="0" smtClean="0">
                <a:solidFill>
                  <a:srgbClr val="FF0000"/>
                </a:solidFill>
              </a:rPr>
              <a:t>" </a:t>
            </a:r>
          </a:p>
          <a:p>
            <a:pPr marL="616141" indent="-495257">
              <a:buFont typeface="Wingdings" charset="2"/>
              <a:buChar char="u"/>
            </a:pPr>
            <a:r>
              <a:rPr lang="en-US" b="1" dirty="0" err="1" smtClean="0"/>
              <a:t>ComboBox</a:t>
            </a:r>
            <a:r>
              <a:rPr lang="en-US" b="1" dirty="0" smtClean="0"/>
              <a:t> </a:t>
            </a:r>
            <a:r>
              <a:rPr lang="en-US" dirty="0" smtClean="0"/>
              <a:t>component: id=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dirty="0" err="1" smtClean="0">
                <a:solidFill>
                  <a:srgbClr val="FF0000"/>
                </a:solidFill>
              </a:rPr>
              <a:t>videoCombo</a:t>
            </a:r>
            <a:r>
              <a:rPr lang="en-US" dirty="0" smtClean="0">
                <a:solidFill>
                  <a:srgbClr val="FF0000"/>
                </a:solidFill>
              </a:rPr>
              <a:t>” or “</a:t>
            </a:r>
            <a:r>
              <a:rPr lang="en-US" dirty="0" err="1" smtClean="0">
                <a:solidFill>
                  <a:srgbClr val="FF0000"/>
                </a:solidFill>
              </a:rPr>
              <a:t>playlistCombo</a:t>
            </a:r>
            <a:r>
              <a:rPr lang="en-US" dirty="0" smtClean="0">
                <a:solidFill>
                  <a:srgbClr val="FF0000"/>
                </a:solidFill>
              </a:rPr>
              <a:t>” </a:t>
            </a:r>
            <a:r>
              <a:rPr lang="en-US" dirty="0" smtClean="0"/>
              <a:t>depending on how used</a:t>
            </a:r>
            <a:br>
              <a:rPr lang="en-US" dirty="0" smtClean="0"/>
            </a:br>
            <a:endParaRPr lang="en-US" dirty="0" smtClean="0"/>
          </a:p>
          <a:p>
            <a:pPr marL="903208" lvl="1" indent="-495257">
              <a:buNone/>
            </a:pPr>
            <a:r>
              <a:rPr lang="en-US" i="1" dirty="0" smtClean="0"/>
              <a:t>For more, see </a:t>
            </a:r>
            <a:r>
              <a:rPr lang="en-US" i="1" dirty="0" smtClean="0">
                <a:hlinkClick r:id="rId4"/>
              </a:rPr>
              <a:t>http://support.brightcove.com/en/docs/data-binding-player-templates</a:t>
            </a:r>
            <a:endParaRPr lang="en-US" i="1" dirty="0" smtClean="0"/>
          </a:p>
          <a:p>
            <a:endParaRPr lang="en-US" sz="2800" dirty="0" smtClean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Footer Placeholder 3"/>
          <p:cNvSpPr txBox="1">
            <a:spLocks noGrp="1"/>
          </p:cNvSpPr>
          <p:nvPr/>
        </p:nvSpPr>
        <p:spPr bwMode="auto">
          <a:xfrm>
            <a:off x="479425" y="6483350"/>
            <a:ext cx="44958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 </a:t>
            </a:r>
          </a:p>
        </p:txBody>
      </p:sp>
      <p:sp>
        <p:nvSpPr>
          <p:cNvPr id="266242" name="Slide Number Placeholder 4"/>
          <p:cNvSpPr txBox="1">
            <a:spLocks noGrp="1"/>
          </p:cNvSpPr>
          <p:nvPr/>
        </p:nvSpPr>
        <p:spPr bwMode="auto">
          <a:xfrm>
            <a:off x="166688" y="6465888"/>
            <a:ext cx="4572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fld id="{AECFC22D-2778-8F4A-BD4F-B20C23D6BC9F}" type="slidenum">
              <a:rPr lang="en-US" sz="900" b="1">
                <a:solidFill>
                  <a:srgbClr val="7B7B7B"/>
                </a:solidFill>
              </a:rPr>
              <a:pPr/>
              <a:t>71</a:t>
            </a:fld>
            <a:endParaRPr lang="en-US" sz="900" b="1" dirty="0">
              <a:solidFill>
                <a:srgbClr val="7B7B7B"/>
              </a:solidFill>
            </a:endParaRPr>
          </a:p>
        </p:txBody>
      </p:sp>
      <p:sp>
        <p:nvSpPr>
          <p:cNvPr id="1130500" name="Rectangle 4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data binding </a:t>
            </a:r>
            <a:r>
              <a:rPr lang="en-US" dirty="0"/>
              <a:t>Elements – Components - Objects</a:t>
            </a:r>
          </a:p>
        </p:txBody>
      </p:sp>
      <p:graphicFrame>
        <p:nvGraphicFramePr>
          <p:cNvPr id="1130553" name="Group 57"/>
          <p:cNvGraphicFramePr>
            <a:graphicFrameLocks noGrp="1"/>
          </p:cNvGraphicFramePr>
          <p:nvPr/>
        </p:nvGraphicFramePr>
        <p:xfrm>
          <a:off x="457200" y="1143001"/>
          <a:ext cx="8077200" cy="430784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971800"/>
                <a:gridCol w="2057400"/>
                <a:gridCol w="30480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Component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Object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CC3352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310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TabBar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List and </a:t>
                      </a: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TileList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selectedItem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(Playlist DTO or Video DTO)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52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The currently selected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item (a playlist for </a:t>
                      </a: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TabBar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; a video in a playlist for List or </a:t>
                      </a: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TileList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231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VideoPlayer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0" lang="en-US" sz="20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VideoDisplay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lang="en-US" sz="2000" kern="1200" dirty="0" err="1" smtClean="0"/>
                        <a:t>ChromelessVideoPlayer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video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(Video 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DTO)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52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The video currently loaded in the 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player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231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ListItem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currentItem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(Video DTO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52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The data</a:t>
                      </a: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associated with the corresponding item in the playlist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89" name="Footer Placeholder 3"/>
          <p:cNvSpPr txBox="1">
            <a:spLocks noGrp="1"/>
          </p:cNvSpPr>
          <p:nvPr/>
        </p:nvSpPr>
        <p:spPr bwMode="auto">
          <a:xfrm>
            <a:off x="479425" y="6483350"/>
            <a:ext cx="44958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 </a:t>
            </a:r>
          </a:p>
        </p:txBody>
      </p:sp>
      <p:sp>
        <p:nvSpPr>
          <p:cNvPr id="268290" name="Slide Number Placeholder 4"/>
          <p:cNvSpPr txBox="1">
            <a:spLocks noGrp="1"/>
          </p:cNvSpPr>
          <p:nvPr/>
        </p:nvSpPr>
        <p:spPr bwMode="auto">
          <a:xfrm>
            <a:off x="166688" y="6465888"/>
            <a:ext cx="4572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fld id="{E057C9A2-FB73-BB45-8D76-726BDA41AF9B}" type="slidenum">
              <a:rPr lang="en-US" sz="900" b="1">
                <a:solidFill>
                  <a:srgbClr val="7B7B7B"/>
                </a:solidFill>
              </a:rPr>
              <a:pPr/>
              <a:t>72</a:t>
            </a:fld>
            <a:endParaRPr lang="en-US" sz="900" b="1" dirty="0">
              <a:solidFill>
                <a:srgbClr val="7B7B7B"/>
              </a:solidFill>
            </a:endParaRPr>
          </a:p>
        </p:txBody>
      </p:sp>
      <p:sp>
        <p:nvSpPr>
          <p:cNvPr id="1205252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Data Binding Example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/>
              <a:t>A Label displaying the name of the video currently loaded in the player:</a:t>
            </a:r>
            <a:r>
              <a:rPr lang="en-US" dirty="0" smtClean="0"/>
              <a:t> 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Data binding to a custom field value:</a:t>
            </a:r>
          </a:p>
          <a:p>
            <a:pPr lvl="1"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752600"/>
            <a:ext cx="7086600" cy="1477319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pPr lvl="1" eaLnBrk="1" hangingPunct="1">
              <a:buFontTx/>
              <a:buNone/>
            </a:pPr>
            <a:r>
              <a:rPr lang="en-US" dirty="0" smtClean="0">
                <a:latin typeface="Consolas"/>
                <a:cs typeface="Consolas"/>
              </a:rPr>
              <a:t>&lt;Label </a:t>
            </a:r>
          </a:p>
          <a:p>
            <a:pPr lvl="1" eaLnBrk="1" hangingPunct="1">
              <a:buFontTx/>
              <a:buNone/>
            </a:pPr>
            <a:r>
              <a:rPr lang="en-US" dirty="0" smtClean="0">
                <a:latin typeface="Consolas"/>
                <a:cs typeface="Consolas"/>
              </a:rPr>
              <a:t>	width="160" height="40"   	</a:t>
            </a:r>
            <a:r>
              <a:rPr lang="en-US" b="1" dirty="0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text="{</a:t>
            </a:r>
            <a:r>
              <a:rPr lang="en-US" b="1" dirty="0" err="1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videoPlayer.video.shortDescription</a:t>
            </a:r>
            <a:r>
              <a:rPr lang="en-US" b="1" dirty="0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}”</a:t>
            </a:r>
            <a:r>
              <a:rPr lang="en-US" dirty="0" smtClean="0">
                <a:latin typeface="Consolas"/>
                <a:cs typeface="Consolas"/>
              </a:rPr>
              <a:t> /&gt; </a:t>
            </a:r>
            <a:br>
              <a:rPr lang="en-US" dirty="0" smtClean="0">
                <a:latin typeface="Consolas"/>
                <a:cs typeface="Consolas"/>
              </a:rPr>
            </a:br>
            <a:endParaRPr lang="en-US" dirty="0" smtClean="0">
              <a:latin typeface="Consolas"/>
              <a:cs typeface="Consolas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3276600"/>
            <a:ext cx="7086600" cy="1754318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pPr lvl="1" eaLnBrk="1" hangingPunct="1">
              <a:buFontTx/>
              <a:buNone/>
            </a:pPr>
            <a:r>
              <a:rPr lang="en-US" dirty="0" smtClean="0">
                <a:latin typeface="Consolas"/>
                <a:cs typeface="Consolas"/>
              </a:rPr>
              <a:t>&lt;Label </a:t>
            </a:r>
          </a:p>
          <a:p>
            <a:pPr lvl="1" eaLnBrk="1" hangingPunct="1"/>
            <a:r>
              <a:rPr lang="en-US" dirty="0" smtClean="0">
                <a:latin typeface="Consolas"/>
                <a:cs typeface="Consolas"/>
              </a:rPr>
              <a:t>	width="160" height="40" 	</a:t>
            </a:r>
            <a:r>
              <a:rPr lang="en-US" b="1" dirty="0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text="{</a:t>
            </a:r>
            <a:r>
              <a:rPr lang="en-US" b="1" dirty="0" err="1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videoPlayer.video.customFields.location</a:t>
            </a:r>
            <a:r>
              <a:rPr lang="en-US" b="1" dirty="0" smtClean="0">
                <a:solidFill>
                  <a:srgbClr val="CC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nsolas"/>
                <a:cs typeface="Consolas"/>
              </a:rPr>
              <a:t>}”</a:t>
            </a:r>
            <a:r>
              <a:rPr lang="en-US" dirty="0" smtClean="0">
                <a:latin typeface="Consolas"/>
                <a:cs typeface="Consolas"/>
              </a:rPr>
              <a:t> /&gt; </a:t>
            </a:r>
            <a:br>
              <a:rPr lang="en-US" dirty="0" smtClean="0">
                <a:latin typeface="Consolas"/>
                <a:cs typeface="Consolas"/>
              </a:rPr>
            </a:br>
            <a:endParaRPr lang="en-US" dirty="0" smtClean="0">
              <a:latin typeface="Consolas"/>
              <a:cs typeface="Consolas"/>
            </a:endParaRP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properties for binding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21408" y="1568360"/>
            <a:ext cx="4076326" cy="2797799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Video Player</a:t>
            </a:r>
            <a:endParaRPr lang="en-US" sz="2000" dirty="0" smtClean="0"/>
          </a:p>
          <a:p>
            <a:pPr lvl="1"/>
            <a:r>
              <a:rPr lang="en-US" sz="2000" dirty="0" err="1" smtClean="0"/>
              <a:t>mediaDuration</a:t>
            </a:r>
            <a:r>
              <a:rPr lang="en-US" sz="2000" dirty="0" smtClean="0"/>
              <a:t> </a:t>
            </a:r>
            <a:r>
              <a:rPr lang="en-US" sz="2000" dirty="0" smtClean="0"/>
              <a:t>(seconds)</a:t>
            </a:r>
          </a:p>
          <a:p>
            <a:pPr lvl="1"/>
            <a:r>
              <a:rPr lang="en-US" sz="2000" dirty="0" err="1" smtClean="0"/>
              <a:t>mediaPosition</a:t>
            </a:r>
            <a:r>
              <a:rPr lang="en-US" sz="2000" dirty="0" smtClean="0"/>
              <a:t> (seconds)</a:t>
            </a:r>
          </a:p>
          <a:p>
            <a:pPr lvl="1"/>
            <a:r>
              <a:rPr lang="en-US" sz="2000" dirty="0" smtClean="0"/>
              <a:t>playing (</a:t>
            </a:r>
            <a:r>
              <a:rPr lang="en-US" sz="2000" dirty="0" err="1" smtClean="0"/>
              <a:t>boolean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err="1" smtClean="0"/>
              <a:t>timeRemaining</a:t>
            </a:r>
            <a:r>
              <a:rPr lang="en-US" sz="2000" dirty="0" smtClean="0"/>
              <a:t> (seconds)</a:t>
            </a:r>
          </a:p>
          <a:p>
            <a:pPr lvl="1"/>
            <a:r>
              <a:rPr lang="en-US" sz="2000" dirty="0" err="1" smtClean="0"/>
              <a:t>relatedMedia</a:t>
            </a:r>
            <a:r>
              <a:rPr lang="en-US" sz="2000" dirty="0" smtClean="0"/>
              <a:t> (array of Video </a:t>
            </a:r>
            <a:r>
              <a:rPr lang="en-US" sz="2000" dirty="0" err="1" smtClean="0"/>
              <a:t>DTOs</a:t>
            </a:r>
            <a:r>
              <a:rPr lang="en-US" sz="2000" dirty="0" smtClean="0"/>
              <a:t> – undocumented: use at your own risk!)</a:t>
            </a: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31564" y="1568360"/>
            <a:ext cx="3907806" cy="21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:p="http://schemas.openxmlformats.org/presentationml/2006/main" xmlns:r="http://schemas.openxmlformats.org/officeDocument/2006/relationships" xmlns:a="http://schemas.openxmlformats.org/drawingml/2006/main" xmlns="" val="1"/>
            </a:ext>
          </a:extLst>
        </p:spPr>
        <p:txBody>
          <a:bodyPr vert="horz" wrap="square" lIns="154707" tIns="77354" rIns="154707" bIns="77354" numCol="1" anchor="t" anchorCtr="0" compatLnSpc="1">
            <a:prstTxWarp prst="textNoShape">
              <a:avLst/>
            </a:prstTxWarp>
            <a:noAutofit/>
          </a:bodyPr>
          <a:lstStyle>
            <a:lvl1pPr marL="273050" indent="-273050" algn="l" defTabSz="773113" rtl="0" eaLnBrk="1" fontAlgn="base" hangingPunct="1">
              <a:spcBef>
                <a:spcPts val="600"/>
              </a:spcBef>
              <a:spcAft>
                <a:spcPct val="0"/>
              </a:spcAft>
              <a:buSzPct val="80000"/>
              <a:buBlip>
                <a:blip r:embed="rId2"/>
              </a:buBlip>
              <a:defRPr sz="2400" kern="120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1pPr>
            <a:lvl2pPr marL="758825" indent="-273050" algn="l" defTabSz="773113" rtl="0" eaLnBrk="1" fontAlgn="base" hangingPunct="1">
              <a:spcBef>
                <a:spcPct val="2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400" kern="120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2pPr>
            <a:lvl3pPr marL="1690688" indent="-273050" algn="l" defTabSz="773113" rtl="0" eaLnBrk="1" fontAlgn="base" hangingPunct="1">
              <a:spcBef>
                <a:spcPct val="20000"/>
              </a:spcBef>
              <a:spcAft>
                <a:spcPct val="0"/>
              </a:spcAft>
              <a:buSzPct val="40000"/>
              <a:buBlip>
                <a:blip r:embed="rId4"/>
              </a:buBlip>
              <a:defRPr sz="2400" kern="120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3pPr>
            <a:lvl4pPr marL="2706688" indent="-273050" algn="l" defTabSz="773113" rtl="0" eaLnBrk="1" fontAlgn="base" hangingPunct="1">
              <a:spcBef>
                <a:spcPct val="20000"/>
              </a:spcBef>
              <a:spcAft>
                <a:spcPct val="0"/>
              </a:spcAft>
              <a:buSzPct val="40000"/>
              <a:buBlip>
                <a:blip r:embed="rId4"/>
              </a:buBlip>
              <a:defRPr sz="2400" kern="120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4pPr>
            <a:lvl5pPr marL="3479800" indent="-273050" algn="l" defTabSz="773113" rtl="0" eaLnBrk="1" fontAlgn="base" hangingPunct="1">
              <a:spcBef>
                <a:spcPct val="20000"/>
              </a:spcBef>
              <a:spcAft>
                <a:spcPct val="0"/>
              </a:spcAft>
              <a:buSzPct val="40000"/>
              <a:buBlip>
                <a:blip r:embed="rId4"/>
              </a:buBlip>
              <a:defRPr sz="2400" kern="1200">
                <a:solidFill>
                  <a:srgbClr val="606163"/>
                </a:solidFill>
                <a:latin typeface="Arial"/>
                <a:ea typeface="ＭＳ Ｐゴシック" charset="-128"/>
                <a:cs typeface="Arial"/>
              </a:defRPr>
            </a:lvl5pPr>
            <a:lvl6pPr marL="4254452" indent="-386768" algn="l" defTabSz="773537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27988" indent="-386768" algn="l" defTabSz="773537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1525" indent="-386768" algn="l" defTabSz="773537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75062" indent="-386768" algn="l" defTabSz="773537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 smtClean="0"/>
              <a:t>ListItem</a:t>
            </a:r>
            <a:endParaRPr lang="en-US" sz="2000" dirty="0" smtClean="0"/>
          </a:p>
          <a:p>
            <a:pPr lvl="1"/>
            <a:r>
              <a:rPr lang="en-US" sz="2000" dirty="0" smtClean="0"/>
              <a:t>index (integer</a:t>
            </a:r>
            <a:r>
              <a:rPr lang="en-US" sz="2000" dirty="0" smtClean="0"/>
              <a:t>)</a:t>
            </a:r>
            <a:endParaRPr lang="en-US" sz="20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41301" y="4470529"/>
            <a:ext cx="84780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1A1718"/>
                </a:solidFill>
                <a:latin typeface="+mn-lt"/>
                <a:cs typeface="Consolas"/>
              </a:rPr>
              <a:t>Boolean value can be negated with a "</a:t>
            </a:r>
            <a:r>
              <a:rPr lang="en-US" b="1" dirty="0" smtClean="0">
                <a:solidFill>
                  <a:srgbClr val="1A1718"/>
                </a:solidFill>
                <a:latin typeface="+mn-lt"/>
                <a:cs typeface="Consolas"/>
              </a:rPr>
              <a:t>!</a:t>
            </a:r>
            <a:r>
              <a:rPr lang="en-US" dirty="0" smtClean="0">
                <a:solidFill>
                  <a:srgbClr val="1A1718"/>
                </a:solidFill>
                <a:latin typeface="+mn-lt"/>
                <a:cs typeface="Consolas"/>
              </a:rPr>
              <a:t>"</a:t>
            </a:r>
          </a:p>
          <a:p>
            <a:r>
              <a:rPr lang="en-US" dirty="0" smtClean="0">
                <a:solidFill>
                  <a:srgbClr val="1A1718"/>
                </a:solidFill>
                <a:latin typeface="Consolas"/>
                <a:cs typeface="Consolas"/>
              </a:rPr>
              <a:t>&lt;Image source=</a:t>
            </a:r>
            <a:r>
              <a:rPr lang="en-US" dirty="0" smtClean="0">
                <a:solidFill>
                  <a:srgbClr val="1A1718"/>
                </a:solidFill>
                <a:latin typeface="Consolas"/>
                <a:cs typeface="Consolas"/>
                <a:hlinkClick r:id="rId5"/>
              </a:rPr>
              <a:t>http</a:t>
            </a:r>
            <a:r>
              <a:rPr lang="en-US" dirty="0">
                <a:solidFill>
                  <a:srgbClr val="1A1718"/>
                </a:solidFill>
                <a:latin typeface="Consolas"/>
                <a:cs typeface="Consolas"/>
                <a:hlinkClick r:id="rId5"/>
              </a:rPr>
              <a:t>://files.brightcove.com</a:t>
            </a:r>
            <a:r>
              <a:rPr lang="en-US" dirty="0" smtClean="0">
                <a:solidFill>
                  <a:srgbClr val="1A1718"/>
                </a:solidFill>
                <a:latin typeface="Consolas"/>
                <a:cs typeface="Consolas"/>
                <a:hlinkClick r:id="rId5"/>
              </a:rPr>
              <a:t>/BCL-Training-Logo-Small.png</a:t>
            </a:r>
            <a:endParaRPr lang="en-US" dirty="0" smtClean="0">
              <a:solidFill>
                <a:srgbClr val="1A1718"/>
              </a:solidFill>
              <a:latin typeface="Consolas"/>
              <a:cs typeface="Consolas"/>
            </a:endParaRPr>
          </a:p>
          <a:p>
            <a:r>
              <a:rPr lang="en-US" dirty="0" smtClean="0">
                <a:solidFill>
                  <a:srgbClr val="1A1718"/>
                </a:solidFill>
                <a:latin typeface="Consolas"/>
                <a:cs typeface="Consolas"/>
              </a:rPr>
              <a:t> height="48" width="200" visible="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{!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videoPlayer.playing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}</a:t>
            </a:r>
            <a:r>
              <a:rPr lang="en-US" dirty="0" smtClean="0">
                <a:solidFill>
                  <a:srgbClr val="1A1718"/>
                </a:solidFill>
                <a:latin typeface="Consolas"/>
                <a:cs typeface="Consolas"/>
              </a:rPr>
              <a:t>"/&gt;</a:t>
            </a:r>
            <a:endParaRPr lang="en-US" dirty="0">
              <a:solidFill>
                <a:srgbClr val="1A1718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Adcontext</a:t>
            </a:r>
            <a:r>
              <a:rPr lang="en-US" dirty="0" smtClean="0"/>
              <a:t> properties for binding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85174" y="1568360"/>
            <a:ext cx="7389285" cy="2797799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adContext</a:t>
            </a:r>
            <a:endParaRPr lang="en-US" sz="2000" dirty="0" smtClean="0"/>
          </a:p>
          <a:p>
            <a:pPr lvl="1"/>
            <a:r>
              <a:rPr lang="en-US" sz="2000" dirty="0" err="1" smtClean="0"/>
              <a:t>playPauseVisible</a:t>
            </a:r>
            <a:r>
              <a:rPr lang="en-US" sz="2000" dirty="0" smtClean="0"/>
              <a:t> (true/false)</a:t>
            </a:r>
          </a:p>
          <a:p>
            <a:pPr lvl="1"/>
            <a:r>
              <a:rPr lang="en-US" sz="2000" dirty="0" err="1" smtClean="0"/>
              <a:t>playheadVisible(true</a:t>
            </a:r>
            <a:r>
              <a:rPr lang="en-US" sz="2000" dirty="0" smtClean="0"/>
              <a:t>/false)</a:t>
            </a:r>
          </a:p>
          <a:p>
            <a:pPr lvl="1"/>
            <a:r>
              <a:rPr lang="en-US" sz="2000" dirty="0" err="1" smtClean="0"/>
              <a:t>maximizeVisible</a:t>
            </a:r>
            <a:r>
              <a:rPr lang="en-US" sz="2000" dirty="0" smtClean="0"/>
              <a:t> (true/false)</a:t>
            </a:r>
          </a:p>
          <a:p>
            <a:pPr lvl="1"/>
            <a:r>
              <a:rPr lang="en-US" sz="2000" dirty="0" err="1" smtClean="0"/>
              <a:t>volumeVisible</a:t>
            </a:r>
            <a:r>
              <a:rPr lang="en-US" sz="2000" dirty="0" smtClean="0"/>
              <a:t> (true/false)</a:t>
            </a:r>
          </a:p>
          <a:p>
            <a:pPr lvl="1"/>
            <a:r>
              <a:rPr lang="en-US" sz="2000" dirty="0" err="1" smtClean="0"/>
              <a:t>timePositionVisible</a:t>
            </a:r>
            <a:r>
              <a:rPr lang="en-US" sz="2000" dirty="0" smtClean="0"/>
              <a:t> (true/false)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41301" y="4470529"/>
            <a:ext cx="847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1A1718"/>
                </a:solidFill>
                <a:latin typeface="+mn-lt"/>
                <a:cs typeface="Consolas"/>
              </a:rPr>
              <a:t>Primarily for use </a:t>
            </a:r>
            <a:r>
              <a:rPr lang="en-US" smtClean="0">
                <a:solidFill>
                  <a:srgbClr val="1A1718"/>
                </a:solidFill>
                <a:latin typeface="+mn-lt"/>
                <a:cs typeface="Consolas"/>
              </a:rPr>
              <a:t>with Custom Media </a:t>
            </a:r>
            <a:r>
              <a:rPr lang="en-US" dirty="0" smtClean="0">
                <a:solidFill>
                  <a:srgbClr val="1A1718"/>
                </a:solidFill>
                <a:latin typeface="+mn-lt"/>
                <a:cs typeface="Consolas"/>
              </a:rPr>
              <a:t>Controls:</a:t>
            </a:r>
          </a:p>
          <a:p>
            <a:pPr lvl="1"/>
            <a:r>
              <a:rPr lang="en-US" dirty="0" smtClean="0">
                <a:latin typeface="Consolas"/>
                <a:cs typeface="Consolas"/>
              </a:rPr>
              <a:t>&lt;</a:t>
            </a:r>
            <a:r>
              <a:rPr lang="en-US" dirty="0" err="1" smtClean="0">
                <a:latin typeface="Consolas"/>
                <a:cs typeface="Consolas"/>
              </a:rPr>
              <a:t>Playhead</a:t>
            </a:r>
            <a:r>
              <a:rPr lang="en-US" dirty="0" smtClean="0">
                <a:latin typeface="Consolas"/>
                <a:cs typeface="Consolas"/>
              </a:rPr>
              <a:t> visible="{</a:t>
            </a:r>
            <a:r>
              <a:rPr lang="en-US" dirty="0" err="1" smtClean="0">
                <a:latin typeface="Consolas"/>
                <a:cs typeface="Consolas"/>
              </a:rPr>
              <a:t>adContext.playheadVisible</a:t>
            </a:r>
            <a:r>
              <a:rPr lang="en-US" dirty="0" smtClean="0">
                <a:latin typeface="Consolas"/>
                <a:cs typeface="Consolas"/>
              </a:rPr>
              <a:t>}" </a:t>
            </a:r>
            <a:r>
              <a:rPr lang="en-US" dirty="0" err="1" smtClean="0">
                <a:latin typeface="Consolas"/>
                <a:cs typeface="Consolas"/>
              </a:rPr>
              <a:t>mediaController</a:t>
            </a:r>
            <a:r>
              <a:rPr lang="en-US" dirty="0" smtClean="0">
                <a:latin typeface="Consolas"/>
                <a:cs typeface="Consolas"/>
              </a:rPr>
              <a:t>="{</a:t>
            </a:r>
            <a:r>
              <a:rPr lang="en-US" dirty="0" err="1" smtClean="0">
                <a:latin typeface="Consolas"/>
                <a:cs typeface="Consolas"/>
              </a:rPr>
              <a:t>videoPlayer</a:t>
            </a:r>
            <a:r>
              <a:rPr lang="en-US" dirty="0" smtClean="0">
                <a:latin typeface="Consolas"/>
                <a:cs typeface="Consolas"/>
              </a:rPr>
              <a:t>}" /&gt;</a:t>
            </a:r>
            <a:endParaRPr lang="en-US" dirty="0">
              <a:solidFill>
                <a:srgbClr val="1A1718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formatters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To display a milliseconds value in </a:t>
            </a:r>
            <a:r>
              <a:rPr lang="en-US" sz="2000" dirty="0" err="1" smtClean="0"/>
              <a:t>hh:mm:ss</a:t>
            </a:r>
            <a:r>
              <a:rPr lang="en-US" sz="2000" dirty="0" smtClean="0"/>
              <a:t> format, use a format function with </a:t>
            </a:r>
            <a:r>
              <a:rPr lang="en-US" sz="2000" dirty="0" err="1" smtClean="0"/>
              <a:t>MillisecondsTimecodeFormatter</a:t>
            </a:r>
            <a:endParaRPr lang="en-US" sz="2000" dirty="0" smtClean="0"/>
          </a:p>
          <a:p>
            <a:pPr lvl="1">
              <a:buNone/>
            </a:pPr>
            <a:r>
              <a:rPr lang="en-US" sz="2000" dirty="0" smtClean="0">
                <a:latin typeface="Consolas"/>
                <a:cs typeface="Consolas"/>
              </a:rPr>
              <a:t>&lt;Label width="31" height="17" text="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{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format(videoPlayer.video.length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,        </a:t>
            </a:r>
            <a:r>
              <a:rPr lang="en-US" sz="2000" dirty="0" err="1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MillisecondsTimecodeFormatter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  <a:latin typeface="Consolas"/>
                <a:cs typeface="Consolas"/>
              </a:rPr>
              <a:t>)}</a:t>
            </a:r>
            <a:r>
              <a:rPr lang="en-US" sz="2000" dirty="0" smtClean="0">
                <a:latin typeface="Consolas"/>
                <a:cs typeface="Consolas"/>
              </a:rPr>
              <a:t>" /&gt;</a:t>
            </a:r>
          </a:p>
          <a:p>
            <a:endParaRPr lang="en-US" sz="2000" dirty="0" smtClean="0"/>
          </a:p>
          <a:p>
            <a:r>
              <a:rPr lang="en-US" sz="2000" dirty="0" smtClean="0"/>
              <a:t>To display a seconds value in </a:t>
            </a:r>
            <a:r>
              <a:rPr lang="en-US" sz="2000" dirty="0" err="1" smtClean="0"/>
              <a:t>hh:mm:ss</a:t>
            </a:r>
            <a:r>
              <a:rPr lang="en-US" sz="2000" dirty="0" smtClean="0"/>
              <a:t> format, use a format function with </a:t>
            </a:r>
            <a:r>
              <a:rPr lang="en-US" sz="2000" dirty="0" err="1" smtClean="0"/>
              <a:t>SecondsTimecodeFormatter</a:t>
            </a:r>
            <a:endParaRPr lang="en-US" sz="2000" dirty="0" smtClean="0"/>
          </a:p>
          <a:p>
            <a:pPr lvl="1">
              <a:buNone/>
            </a:pPr>
            <a:r>
              <a:rPr lang="en-US" sz="2000" dirty="0" smtClean="0">
                <a:latin typeface="Consolas"/>
                <a:cs typeface="Consolas"/>
              </a:rPr>
              <a:t>&lt;Label width="31" height="17" text="</a:t>
            </a:r>
            <a:r>
              <a:rPr lang="en-US" sz="2000" dirty="0" smtClean="0">
                <a:solidFill>
                  <a:srgbClr val="A56500"/>
                </a:solidFill>
                <a:latin typeface="Consolas"/>
                <a:cs typeface="Consolas"/>
              </a:rPr>
              <a:t>{</a:t>
            </a:r>
            <a:r>
              <a:rPr lang="en-US" sz="2000" dirty="0" err="1" smtClean="0">
                <a:solidFill>
                  <a:srgbClr val="A56500"/>
                </a:solidFill>
                <a:latin typeface="Consolas"/>
                <a:cs typeface="Consolas"/>
              </a:rPr>
              <a:t>format(videoPlayer.mediaDuration</a:t>
            </a:r>
            <a:r>
              <a:rPr lang="en-US" sz="2000" dirty="0" smtClean="0">
                <a:solidFill>
                  <a:srgbClr val="A56500"/>
                </a:solidFill>
                <a:latin typeface="Consolas"/>
                <a:cs typeface="Consolas"/>
              </a:rPr>
              <a:t>,        </a:t>
            </a:r>
            <a:r>
              <a:rPr lang="en-US" sz="2000" dirty="0" err="1" smtClean="0">
                <a:solidFill>
                  <a:srgbClr val="A56500"/>
                </a:solidFill>
                <a:latin typeface="Consolas"/>
                <a:cs typeface="Consolas"/>
              </a:rPr>
              <a:t>SecondsTimecodeFormatter</a:t>
            </a:r>
            <a:r>
              <a:rPr lang="en-US" sz="2000" dirty="0" smtClean="0">
                <a:solidFill>
                  <a:srgbClr val="A56500"/>
                </a:solidFill>
                <a:latin typeface="Consolas"/>
                <a:cs typeface="Consolas"/>
              </a:rPr>
              <a:t>)}</a:t>
            </a:r>
            <a:r>
              <a:rPr lang="en-US" sz="2000" dirty="0" smtClean="0">
                <a:latin typeface="Consolas"/>
                <a:cs typeface="Consolas"/>
              </a:rPr>
              <a:t>" /&gt;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346" name="Footer Placeholder 1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120934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Data Binding</a:t>
            </a:r>
          </a:p>
        </p:txBody>
      </p:sp>
      <p:pic>
        <p:nvPicPr>
          <p:cNvPr id="1209348" name="Picture 4" descr="ThumbnailGrid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990601"/>
            <a:ext cx="777240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9349" name="Text Box 5"/>
          <p:cNvSpPr txBox="1">
            <a:spLocks noChangeArrowheads="1"/>
          </p:cNvSpPr>
          <p:nvPr/>
        </p:nvSpPr>
        <p:spPr bwMode="auto">
          <a:xfrm>
            <a:off x="3048000" y="5043488"/>
            <a:ext cx="2057400" cy="36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3352"/>
                </a:solidFill>
              </a:rPr>
              <a:t>shortDescription</a:t>
            </a:r>
          </a:p>
        </p:txBody>
      </p:sp>
      <p:sp>
        <p:nvSpPr>
          <p:cNvPr id="1209350" name="Line 6"/>
          <p:cNvSpPr>
            <a:spLocks noChangeShapeType="1"/>
          </p:cNvSpPr>
          <p:nvPr/>
        </p:nvSpPr>
        <p:spPr bwMode="auto">
          <a:xfrm flipH="1" flipV="1">
            <a:off x="2133600" y="4876800"/>
            <a:ext cx="1600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351" name="Rectangle 7"/>
          <p:cNvSpPr>
            <a:spLocks noChangeArrowheads="1"/>
          </p:cNvSpPr>
          <p:nvPr/>
        </p:nvSpPr>
        <p:spPr bwMode="auto">
          <a:xfrm>
            <a:off x="609600" y="4724400"/>
            <a:ext cx="15240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352" name="Text Box 8"/>
          <p:cNvSpPr txBox="1">
            <a:spLocks noChangeArrowheads="1"/>
          </p:cNvSpPr>
          <p:nvPr/>
        </p:nvSpPr>
        <p:spPr bwMode="auto">
          <a:xfrm>
            <a:off x="533400" y="4678363"/>
            <a:ext cx="2514600" cy="276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solidFill>
                  <a:srgbClr val="76B2BA"/>
                </a:solidFill>
              </a:rPr>
              <a:t>This is a short description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Exercise 7: Data Binding – Adding the </a:t>
            </a:r>
            <a:r>
              <a:rPr lang="en-US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displayName</a:t>
            </a:r>
            <a:endParaRPr lang="en-US" sz="2000" dirty="0">
              <a:solidFill>
                <a:schemeClr val="tx1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7: Binding the displayName</a:t>
            </a:r>
          </a:p>
        </p:txBody>
      </p:sp>
      <p:sp>
        <p:nvSpPr>
          <p:cNvPr id="1097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95257" indent="-495257">
              <a:buFontTx/>
              <a:buAutoNum type="arabicPeriod"/>
            </a:pPr>
            <a:r>
              <a:rPr lang="en-US" dirty="0"/>
              <a:t>Duplicate your Simple BEML Template from yesterday</a:t>
            </a:r>
          </a:p>
          <a:p>
            <a:pPr marL="495257" indent="-495257">
              <a:buFontTx/>
              <a:buAutoNum type="arabicPeriod"/>
            </a:pPr>
            <a:r>
              <a:rPr lang="en-US" dirty="0"/>
              <a:t>Add a title label bound to the </a:t>
            </a:r>
            <a:r>
              <a:rPr lang="en-US" dirty="0" err="1"/>
              <a:t>displayName</a:t>
            </a:r>
            <a:r>
              <a:rPr lang="en-US" dirty="0"/>
              <a:t> of the current video</a:t>
            </a:r>
          </a:p>
          <a:p>
            <a:pPr marL="495257" indent="-495257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>
              <a:solidFill>
                <a:srgbClr val="CC3366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marL="495257" indent="-495257">
              <a:buFontTx/>
              <a:buAutoNum type="arabicPeriod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1" y="5257800"/>
            <a:ext cx="3854412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</a:t>
            </a:r>
            <a:r>
              <a:rPr lang="en-US" dirty="0" err="1" smtClean="0"/>
              <a:t>BEMLdata</a:t>
            </a:r>
            <a:r>
              <a:rPr lang="en-US" dirty="0" smtClean="0"/>
              <a:t> bindingEx7.xml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Binding With the ListItem Element</a:t>
            </a:r>
          </a:p>
        </p:txBody>
      </p:sp>
      <p:sp>
        <p:nvSpPr>
          <p:cNvPr id="1061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ListItem</a:t>
            </a:r>
            <a:r>
              <a:rPr lang="en-US" dirty="0"/>
              <a:t> element has a special property:</a:t>
            </a:r>
            <a:endParaRPr lang="en-US" b="1" dirty="0"/>
          </a:p>
          <a:p>
            <a:pPr lvl="1"/>
            <a:r>
              <a:rPr lang="en-US" b="1" dirty="0" err="1"/>
              <a:t>currentItem</a:t>
            </a:r>
            <a:endParaRPr lang="en-US" b="1" dirty="0"/>
          </a:p>
          <a:p>
            <a:pPr lvl="1"/>
            <a:r>
              <a:rPr lang="en-US" dirty="0"/>
              <a:t>unique for each instance of the </a:t>
            </a:r>
            <a:r>
              <a:rPr lang="en-US" dirty="0" err="1"/>
              <a:t>ListItem</a:t>
            </a:r>
            <a:endParaRPr lang="en-US" b="1" dirty="0"/>
          </a:p>
          <a:p>
            <a:endParaRPr lang="en-US" b="1" dirty="0"/>
          </a:p>
          <a:p>
            <a:r>
              <a:rPr lang="en-US" b="1" dirty="0" err="1"/>
              <a:t>currentItem</a:t>
            </a:r>
            <a:r>
              <a:rPr lang="en-US" dirty="0"/>
              <a:t> is the information for the video</a:t>
            </a:r>
            <a:r>
              <a:rPr lang="en-US" dirty="0" smtClean="0"/>
              <a:t> at </a:t>
            </a:r>
            <a:r>
              <a:rPr lang="en-US" dirty="0"/>
              <a:t>that position</a:t>
            </a:r>
          </a:p>
          <a:p>
            <a:pPr lvl="1"/>
            <a:r>
              <a:rPr lang="en-US" dirty="0"/>
              <a:t>Use it to automatically add specific information to the </a:t>
            </a:r>
            <a:r>
              <a:rPr lang="en-US" dirty="0" err="1"/>
              <a:t>ListItem</a:t>
            </a:r>
            <a:r>
              <a:rPr lang="en-US" dirty="0"/>
              <a:t> in a </a:t>
            </a:r>
            <a:r>
              <a:rPr lang="en-US" dirty="0" smtClean="0"/>
              <a:t>list</a:t>
            </a:r>
          </a:p>
          <a:p>
            <a:pPr lvl="2">
              <a:buNone/>
            </a:pPr>
            <a:r>
              <a:rPr lang="en-US" dirty="0" smtClean="0">
                <a:latin typeface="Consolas"/>
                <a:cs typeface="Consolas"/>
              </a:rPr>
              <a:t>&lt;</a:t>
            </a:r>
            <a:r>
              <a:rPr lang="en-US" dirty="0" err="1" smtClean="0">
                <a:latin typeface="Consolas"/>
                <a:cs typeface="Consolas"/>
              </a:rPr>
              <a:t>TitleLabel</a:t>
            </a:r>
            <a:r>
              <a:rPr lang="en-US" dirty="0" smtClean="0">
                <a:latin typeface="Consolas"/>
                <a:cs typeface="Consolas"/>
              </a:rPr>
              <a:t> text="{</a:t>
            </a:r>
            <a:r>
              <a:rPr lang="en-US" dirty="0" err="1" smtClean="0">
                <a:latin typeface="Consolas"/>
                <a:cs typeface="Consolas"/>
              </a:rPr>
              <a:t>currentItem.displayName</a:t>
            </a:r>
            <a:r>
              <a:rPr lang="en-US" dirty="0" smtClean="0">
                <a:latin typeface="Consolas"/>
                <a:cs typeface="Consolas"/>
              </a:rPr>
              <a:t>}" /&gt;</a:t>
            </a:r>
            <a:endParaRPr lang="en-US" dirty="0" smtClean="0">
              <a:latin typeface="Consolas"/>
              <a:cs typeface="Consolas"/>
            </a:endParaRPr>
          </a:p>
          <a:p>
            <a:pPr lvl="1"/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Binding Objects - Playlist</a:t>
            </a:r>
          </a:p>
        </p:txBody>
      </p:sp>
      <p:sp>
        <p:nvSpPr>
          <p:cNvPr id="1071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Some useful Playlist properties:</a:t>
            </a:r>
          </a:p>
          <a:p>
            <a:pPr>
              <a:buFontTx/>
              <a:buNone/>
            </a:pPr>
            <a:endParaRPr lang="en-US" dirty="0"/>
          </a:p>
          <a:p>
            <a:r>
              <a:rPr lang="en-US" b="1" dirty="0" err="1"/>
              <a:t>displayName</a:t>
            </a:r>
            <a:r>
              <a:rPr lang="en-US" dirty="0"/>
              <a:t> - </a:t>
            </a:r>
            <a:r>
              <a:rPr lang="en-US" i="1" dirty="0"/>
              <a:t>Name of Playlist displayed in Player</a:t>
            </a:r>
            <a:r>
              <a:rPr lang="en-US" dirty="0" smtClean="0"/>
              <a:t> </a:t>
            </a:r>
          </a:p>
          <a:p>
            <a:r>
              <a:rPr lang="en-US" b="1" dirty="0" err="1"/>
              <a:t>shortDescription</a:t>
            </a:r>
            <a:r>
              <a:rPr lang="en-US" dirty="0"/>
              <a:t> - </a:t>
            </a:r>
            <a:r>
              <a:rPr lang="en-US" i="1" dirty="0"/>
              <a:t>Descriptive text</a:t>
            </a:r>
            <a:r>
              <a:rPr lang="en-US" dirty="0"/>
              <a:t> </a:t>
            </a:r>
            <a:r>
              <a:rPr lang="en-US" i="1" dirty="0"/>
              <a:t>about the </a:t>
            </a:r>
            <a:r>
              <a:rPr lang="en-US" i="1" dirty="0" smtClean="0"/>
              <a:t>playlist</a:t>
            </a:r>
          </a:p>
          <a:p>
            <a:r>
              <a:rPr lang="en-US" b="1" i="1" dirty="0" err="1"/>
              <a:t>videoDTOs</a:t>
            </a:r>
            <a:r>
              <a:rPr lang="en-US" i="1" dirty="0"/>
              <a:t> – a</a:t>
            </a:r>
            <a:r>
              <a:rPr lang="en-US" i="1" dirty="0" smtClean="0"/>
              <a:t> array of </a:t>
            </a:r>
            <a:r>
              <a:rPr lang="en-US" i="1" dirty="0" err="1"/>
              <a:t>VideoDTOs</a:t>
            </a:r>
            <a:r>
              <a:rPr lang="en-US" i="1" dirty="0"/>
              <a:t> of the videos in the playlist (use with Lists)</a:t>
            </a:r>
            <a:endParaRPr 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066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111206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Data Binding Objects - Playlist</a:t>
            </a:r>
          </a:p>
        </p:txBody>
      </p:sp>
      <p:sp>
        <p:nvSpPr>
          <p:cNvPr id="1112068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In this code example, the List component’s data attribute is bound to the playlist property of the currently selected TabBar tab</a:t>
            </a:r>
          </a:p>
          <a:p>
            <a:pPr eaLnBrk="1" hangingPunct="1"/>
            <a:r>
              <a:rPr lang="en-US"/>
              <a:t>Effect: This populates the playlist the viewer has selected (via the TabBar) in the list of videos to choose from</a:t>
            </a:r>
          </a:p>
        </p:txBody>
      </p:sp>
      <p:sp>
        <p:nvSpPr>
          <p:cNvPr id="374788" name="Text Box 4"/>
          <p:cNvSpPr txBox="1">
            <a:spLocks noChangeArrowheads="1"/>
          </p:cNvSpPr>
          <p:nvPr/>
        </p:nvSpPr>
        <p:spPr bwMode="auto">
          <a:xfrm>
            <a:off x="609600" y="4191000"/>
            <a:ext cx="7772400" cy="1034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/>
              <a:t>&lt;List id='</a:t>
            </a:r>
            <a:r>
              <a:rPr lang="en-US" dirty="0" err="1"/>
              <a:t>videoList</a:t>
            </a:r>
            <a:r>
              <a:rPr lang="en-US" dirty="0"/>
              <a:t>' </a:t>
            </a:r>
            <a:r>
              <a:rPr lang="en-US" dirty="0" err="1"/>
              <a:t>rowHeight</a:t>
            </a:r>
            <a:r>
              <a:rPr lang="en-US" dirty="0"/>
              <a:t>='78' </a:t>
            </a:r>
            <a:r>
              <a:rPr lang="en-US" dirty="0" err="1"/>
              <a:t>automaticAdvance</a:t>
            </a:r>
            <a:r>
              <a:rPr lang="en-US" dirty="0"/>
              <a:t>='true' 	data='{</a:t>
            </a:r>
            <a:r>
              <a:rPr lang="en-US" b="1" dirty="0" err="1">
                <a:effectLst>
                  <a:outerShdw blurRad="38100" dist="38100" dir="2700000" algn="tl">
                    <a:srgbClr val="DDDDDD"/>
                  </a:outerShdw>
                </a:effectLst>
              </a:rPr>
              <a:t>playlistTabs.selectedItem.videoDTOs</a:t>
            </a:r>
            <a:r>
              <a:rPr lang="en-US" dirty="0"/>
              <a:t>}' …</a:t>
            </a:r>
            <a:endParaRPr lang="en-US" dirty="0">
              <a:solidFill>
                <a:srgbClr val="3B3B3B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>
              <a:solidFill>
                <a:srgbClr val="3B3B3B"/>
              </a:solidFill>
            </a:endParaRPr>
          </a:p>
        </p:txBody>
      </p:sp>
      <p:sp>
        <p:nvSpPr>
          <p:cNvPr id="1112070" name="Text Box 7"/>
          <p:cNvSpPr txBox="1">
            <a:spLocks noChangeArrowheads="1"/>
          </p:cNvSpPr>
          <p:nvPr/>
        </p:nvSpPr>
        <p:spPr bwMode="auto">
          <a:xfrm>
            <a:off x="6019800" y="5410200"/>
            <a:ext cx="1828800" cy="64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Playlist (property)</a:t>
            </a:r>
          </a:p>
        </p:txBody>
      </p:sp>
      <p:sp>
        <p:nvSpPr>
          <p:cNvPr id="1112071" name="Line 8"/>
          <p:cNvSpPr>
            <a:spLocks noChangeShapeType="1"/>
          </p:cNvSpPr>
          <p:nvPr/>
        </p:nvSpPr>
        <p:spPr bwMode="auto">
          <a:xfrm flipV="1">
            <a:off x="6172200" y="480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2072" name="Text Box 9"/>
          <p:cNvSpPr txBox="1">
            <a:spLocks noChangeArrowheads="1"/>
          </p:cNvSpPr>
          <p:nvPr/>
        </p:nvSpPr>
        <p:spPr bwMode="auto">
          <a:xfrm>
            <a:off x="3581400" y="5410200"/>
            <a:ext cx="1828800" cy="64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Selected tab (object)</a:t>
            </a:r>
          </a:p>
        </p:txBody>
      </p:sp>
      <p:sp>
        <p:nvSpPr>
          <p:cNvPr id="1112073" name="Line 10"/>
          <p:cNvSpPr>
            <a:spLocks noChangeShapeType="1"/>
          </p:cNvSpPr>
          <p:nvPr/>
        </p:nvSpPr>
        <p:spPr bwMode="auto">
          <a:xfrm flipV="1">
            <a:off x="4267200" y="480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2074" name="Text Box 11"/>
          <p:cNvSpPr txBox="1">
            <a:spLocks noChangeArrowheads="1"/>
          </p:cNvSpPr>
          <p:nvPr/>
        </p:nvSpPr>
        <p:spPr bwMode="auto">
          <a:xfrm>
            <a:off x="1752600" y="5410200"/>
            <a:ext cx="1828800" cy="64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Tab bar </a:t>
            </a:r>
            <a:br>
              <a:rPr lang="en-US"/>
            </a:br>
            <a:r>
              <a:rPr lang="en-US"/>
              <a:t>(component)</a:t>
            </a:r>
          </a:p>
        </p:txBody>
      </p:sp>
      <p:sp>
        <p:nvSpPr>
          <p:cNvPr id="1112075" name="Line 12"/>
          <p:cNvSpPr>
            <a:spLocks noChangeShapeType="1"/>
          </p:cNvSpPr>
          <p:nvPr/>
        </p:nvSpPr>
        <p:spPr bwMode="auto">
          <a:xfrm flipV="1">
            <a:off x="2590800" y="480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7404096" cy="866225"/>
          </a:xfrm>
        </p:spPr>
        <p:txBody>
          <a:bodyPr/>
          <a:lstStyle/>
          <a:p>
            <a:r>
              <a:rPr lang="en-US" dirty="0" smtClean="0"/>
              <a:t>Exercise 8: Data Binding – </a:t>
            </a:r>
            <a:r>
              <a:rPr lang="en-US" dirty="0" err="1" smtClean="0"/>
              <a:t>ListItem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8: Binding the ListItem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95257" indent="-495257">
              <a:buFontTx/>
              <a:buAutoNum type="arabicPeriod"/>
            </a:pPr>
            <a:r>
              <a:rPr lang="en-US" dirty="0"/>
              <a:t>Duplicate your simple BEML player</a:t>
            </a:r>
          </a:p>
          <a:p>
            <a:pPr marL="495257" indent="-495257">
              <a:buFontTx/>
              <a:buAutoNum type="arabicPeriod"/>
            </a:pPr>
            <a:r>
              <a:rPr lang="en-US" dirty="0"/>
              <a:t>Add a list to the right of the </a:t>
            </a:r>
            <a:r>
              <a:rPr lang="en-US" dirty="0" err="1"/>
              <a:t>VideoPlayer</a:t>
            </a:r>
            <a:endParaRPr lang="en-US" dirty="0"/>
          </a:p>
          <a:p>
            <a:pPr marL="914320" lvl="1" indent="-457160"/>
            <a:r>
              <a:rPr lang="en-US" dirty="0"/>
              <a:t>The list should be a list of </a:t>
            </a:r>
            <a:r>
              <a:rPr lang="en-US" dirty="0" err="1"/>
              <a:t>TitleLabels</a:t>
            </a:r>
            <a:r>
              <a:rPr lang="en-US" dirty="0"/>
              <a:t>, bound to the</a:t>
            </a:r>
            <a:r>
              <a:rPr lang="en-US" dirty="0" smtClean="0"/>
              <a:t> </a:t>
            </a:r>
            <a:r>
              <a:rPr lang="en-US" dirty="0" err="1" smtClean="0"/>
              <a:t>displayName</a:t>
            </a:r>
            <a:r>
              <a:rPr lang="en-US" dirty="0" smtClean="0"/>
              <a:t> property of </a:t>
            </a:r>
            <a:r>
              <a:rPr lang="en-US" dirty="0"/>
              <a:t>the videos in the playlist</a:t>
            </a:r>
          </a:p>
          <a:p>
            <a:pPr marL="495257" indent="-495257">
              <a:buNone/>
            </a:pPr>
            <a:endParaRPr lang="en-US" dirty="0">
              <a:solidFill>
                <a:srgbClr val="CC3366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marL="495257" indent="-495257">
              <a:buFontTx/>
              <a:buChar char="•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09800" y="4648200"/>
            <a:ext cx="3854412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</a:t>
            </a:r>
            <a:r>
              <a:rPr lang="en-US" dirty="0" err="1" smtClean="0"/>
              <a:t>BEMLdata</a:t>
            </a:r>
            <a:r>
              <a:rPr lang="en-US" dirty="0" smtClean="0"/>
              <a:t> bindingEx8.xml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114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1114115" name="Rectangle 2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Getting Data from one component to another</a:t>
            </a:r>
            <a:endParaRPr lang="en-US" dirty="0"/>
          </a:p>
        </p:txBody>
      </p:sp>
      <p:graphicFrame>
        <p:nvGraphicFramePr>
          <p:cNvPr id="1114136" name="Group 24"/>
          <p:cNvGraphicFramePr>
            <a:graphicFrameLocks noGrp="1"/>
          </p:cNvGraphicFramePr>
          <p:nvPr>
            <p:ph idx="1"/>
          </p:nvPr>
        </p:nvGraphicFramePr>
        <p:xfrm>
          <a:off x="554038" y="1733036"/>
          <a:ext cx="8056562" cy="2446275"/>
        </p:xfrm>
        <a:graphic>
          <a:graphicData uri="http://schemas.openxmlformats.org/drawingml/2006/table">
            <a:tbl>
              <a:tblPr/>
              <a:tblGrid>
                <a:gridCol w="4094162"/>
                <a:gridCol w="39624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Element</a:t>
                      </a: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Corresponding data </a:t>
                      </a: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177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{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videoList.selectedItem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}</a:t>
                      </a: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The selected item in the video List.  List component must have id=“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videoList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”.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Can use with the video attribute of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VideoPlayer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B3B3B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49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{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playlistTabs.selectedItem.videoDTOs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}</a:t>
                      </a: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B3B3B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The list of videos in the playlist corresponding to the selected tab.</a:t>
                      </a:r>
                    </a:p>
                  </a:txBody>
                  <a:tcPr marL="95979" marR="95979" horzOverflow="overflow">
                    <a:lnL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Exercise 9: Wire up the Data Binding to the Objects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33600" y="4343400"/>
            <a:ext cx="4773909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</a:t>
            </a:r>
            <a:r>
              <a:rPr lang="en-US" dirty="0" err="1" smtClean="0"/>
              <a:t>BEMLTemplatedata</a:t>
            </a:r>
            <a:r>
              <a:rPr lang="en-US" dirty="0" smtClean="0"/>
              <a:t> bindingEx9.xml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8" name="Footer Placeholder 1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38659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Exercise 9: Data Bind the Components</a:t>
            </a:r>
          </a:p>
        </p:txBody>
      </p:sp>
      <p:pic>
        <p:nvPicPr>
          <p:cNvPr id="83866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990601"/>
            <a:ext cx="8534400" cy="49180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5094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/>
              <a:t>Understanding Theme and Style</a:t>
            </a:r>
            <a:endParaRPr lang="en-US" dirty="0"/>
          </a:p>
        </p:txBody>
      </p:sp>
      <p:sp>
        <p:nvSpPr>
          <p:cNvPr id="896003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&lt;Theme&gt;</a:t>
            </a:r>
            <a:r>
              <a:rPr lang="en-US" dirty="0"/>
              <a:t> is </a:t>
            </a:r>
            <a:r>
              <a:rPr lang="en-US" b="1" dirty="0"/>
              <a:t>global</a:t>
            </a:r>
            <a:r>
              <a:rPr lang="en-US" dirty="0"/>
              <a:t>: it declares the theme to use: “Deluxe”, “Flat” or </a:t>
            </a:r>
            <a:r>
              <a:rPr lang="en-US" dirty="0" smtClean="0"/>
              <a:t>“Minimal</a:t>
            </a:r>
            <a:r>
              <a:rPr lang="en-US" dirty="0"/>
              <a:t>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&lt;Theme&gt;</a:t>
            </a:r>
            <a:r>
              <a:rPr lang="en-US" dirty="0"/>
              <a:t> is required in all templates to allow styling in the </a:t>
            </a:r>
            <a:r>
              <a:rPr lang="en-US" dirty="0" smtClean="0"/>
              <a:t>UI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Theme element has a style </a:t>
            </a:r>
            <a:r>
              <a:rPr lang="en-US" b="1" dirty="0" smtClean="0"/>
              <a:t>attribute </a:t>
            </a:r>
            <a:r>
              <a:rPr lang="en-US" dirty="0" smtClean="0"/>
              <a:t>set to “Light” or “Dark”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&lt;Style&gt;</a:t>
            </a:r>
            <a:r>
              <a:rPr lang="en-US" dirty="0"/>
              <a:t> is </a:t>
            </a:r>
            <a:r>
              <a:rPr lang="en-US" b="1" dirty="0"/>
              <a:t>individual</a:t>
            </a:r>
            <a:r>
              <a:rPr lang="en-US" dirty="0"/>
              <a:t>: applies specific colors to specific component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&lt;Style&gt; is always a child of &lt;Theme&gt;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CSS must be defined within CDATA sections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You also have the option to import a CSS file (rather than include it all in the template</a:t>
            </a:r>
            <a:r>
              <a:rPr lang="en-US" dirty="0" smtClean="0"/>
              <a:t>) – set the URL for the external CSS file as the value of the Theme style attribute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Global Fonts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global fonts in the Theme tag: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&lt;Theme name="Deluxe" style="Light" 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       </a:t>
            </a:r>
            <a:r>
              <a:rPr lang="en-US" sz="2000" dirty="0" err="1" smtClean="0">
                <a:latin typeface="Monaco"/>
                <a:cs typeface="Monaco"/>
              </a:rPr>
              <a:t>bodyFont</a:t>
            </a:r>
            <a:r>
              <a:rPr lang="en-US" sz="2000" dirty="0" smtClean="0">
                <a:latin typeface="Monaco"/>
                <a:cs typeface="Monaco"/>
              </a:rPr>
              <a:t>=”Arial" 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       </a:t>
            </a:r>
            <a:r>
              <a:rPr lang="en-US" sz="2000" dirty="0" err="1" smtClean="0">
                <a:latin typeface="Monaco"/>
                <a:cs typeface="Monaco"/>
              </a:rPr>
              <a:t>titleFont</a:t>
            </a:r>
            <a:r>
              <a:rPr lang="en-US" sz="2000" dirty="0" smtClean="0">
                <a:latin typeface="Monaco"/>
                <a:cs typeface="Monaco"/>
              </a:rPr>
              <a:t>=”Arial Bold" 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       </a:t>
            </a:r>
            <a:r>
              <a:rPr lang="en-US" sz="2000" dirty="0" err="1" smtClean="0">
                <a:latin typeface="Monaco"/>
                <a:cs typeface="Monaco"/>
              </a:rPr>
              <a:t>linkFont</a:t>
            </a:r>
            <a:r>
              <a:rPr lang="en-US" sz="2000" dirty="0" smtClean="0">
                <a:latin typeface="Monaco"/>
                <a:cs typeface="Monaco"/>
              </a:rPr>
              <a:t>=”Arial Bold" /&gt;</a:t>
            </a:r>
            <a:endParaRPr lang="en-US" sz="2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2010 Brightcove, Inc. All rights reserved.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CDATA</a:t>
            </a:r>
          </a:p>
        </p:txBody>
      </p:sp>
      <p:sp>
        <p:nvSpPr>
          <p:cNvPr id="1073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&lt;</a:t>
            </a:r>
            <a:r>
              <a:rPr lang="en-US" dirty="0" smtClean="0"/>
              <a:t>Style class/id=“[Component Name/id]”&gt;</a:t>
            </a:r>
            <a:endParaRPr lang="en-US" dirty="0"/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</a:rPr>
              <a:t>  &lt;![CDATA[ </a:t>
            </a:r>
          </a:p>
          <a:p>
            <a:pPr lvl="1">
              <a:buFontTx/>
              <a:buNone/>
            </a:pPr>
            <a:r>
              <a:rPr lang="en-US" dirty="0"/>
              <a:t>  /* CSS goes here */ </a:t>
            </a:r>
          </a:p>
          <a:p>
            <a:pPr>
              <a:buFontTx/>
              <a:buNone/>
            </a:pPr>
            <a:r>
              <a:rPr lang="en-US" b="1" dirty="0">
                <a:solidFill>
                  <a:srgbClr val="FF0000"/>
                </a:solidFill>
              </a:rPr>
              <a:t>  ]]&gt; </a:t>
            </a:r>
          </a:p>
          <a:p>
            <a:pPr>
              <a:buFontTx/>
              <a:buNone/>
            </a:pPr>
            <a:r>
              <a:rPr lang="en-US" dirty="0"/>
              <a:t>&lt;/Style&gt;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5299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Setting individual styles</a:t>
            </a:r>
          </a:p>
        </p:txBody>
      </p:sp>
      <p:sp>
        <p:nvSpPr>
          <p:cNvPr id="852996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200" dirty="0"/>
              <a:t>Each component contains style classes for </a:t>
            </a:r>
            <a:r>
              <a:rPr lang="en-US" sz="2200" dirty="0" smtClean="0"/>
              <a:t>its </a:t>
            </a:r>
            <a:r>
              <a:rPr lang="en-US" sz="2200" dirty="0"/>
              <a:t>UI elements</a:t>
            </a:r>
          </a:p>
          <a:p>
            <a:pPr lvl="1" eaLnBrk="1" hangingPunct="1"/>
            <a:r>
              <a:rPr lang="en-US" sz="2000" dirty="0" err="1"/>
              <a:t>e.g</a:t>
            </a:r>
            <a:r>
              <a:rPr lang="en-US" sz="2000" dirty="0"/>
              <a:t>, for the button elements of the Video Player:</a:t>
            </a:r>
            <a:endParaRPr lang="en-US" sz="2000" dirty="0" smtClean="0"/>
          </a:p>
          <a:p>
            <a:pPr lvl="2" eaLnBrk="1" hangingPunct="1"/>
            <a:r>
              <a:rPr lang="en-US" sz="2000" dirty="0" smtClean="0"/>
              <a:t>&lt;Style id=“</a:t>
            </a:r>
            <a:r>
              <a:rPr lang="en-US" sz="2000" dirty="0" err="1" smtClean="0"/>
              <a:t>videoPlayer</a:t>
            </a:r>
            <a:r>
              <a:rPr lang="en-US" sz="2000" dirty="0" smtClean="0"/>
              <a:t>”&gt;</a:t>
            </a:r>
          </a:p>
          <a:p>
            <a:pPr lvl="2" eaLnBrk="1" hangingPunct="1"/>
            <a:r>
              <a:rPr lang="en-US" sz="2000" b="1" dirty="0" smtClean="0"/>
              <a:t>&lt;![CDATA[</a:t>
            </a:r>
          </a:p>
          <a:p>
            <a:pPr lvl="2" eaLnBrk="1" hangingPunct="1"/>
            <a:r>
              <a:rPr lang="en-US" sz="2000" dirty="0" smtClean="0"/>
              <a:t>.</a:t>
            </a:r>
            <a:r>
              <a:rPr lang="en-US" sz="2000" dirty="0"/>
              <a:t>buttons {</a:t>
            </a:r>
          </a:p>
          <a:p>
            <a:pPr lvl="2" eaLnBrk="1" hangingPunct="1"/>
            <a:r>
              <a:rPr lang="en-US" sz="2000" dirty="0"/>
              <a:t>  text: #777777;</a:t>
            </a:r>
          </a:p>
          <a:p>
            <a:pPr lvl="2" eaLnBrk="1" hangingPunct="1"/>
            <a:r>
              <a:rPr lang="en-US" sz="2000" dirty="0"/>
              <a:t>  </a:t>
            </a:r>
            <a:r>
              <a:rPr lang="en-US" sz="2000" dirty="0" err="1"/>
              <a:t>rolloverText</a:t>
            </a:r>
            <a:r>
              <a:rPr lang="en-US" sz="2000" dirty="0"/>
              <a:t>: #B0C645;</a:t>
            </a:r>
          </a:p>
          <a:p>
            <a:pPr lvl="2" eaLnBrk="1" hangingPunct="1"/>
            <a:r>
              <a:rPr lang="en-US" sz="2000" dirty="0"/>
              <a:t>  </a:t>
            </a:r>
            <a:r>
              <a:rPr lang="en-US" sz="2000" dirty="0" err="1"/>
              <a:t>disabledText</a:t>
            </a:r>
            <a:r>
              <a:rPr lang="en-US" sz="2000" dirty="0"/>
              <a:t>: #AAAAAA;</a:t>
            </a:r>
          </a:p>
          <a:p>
            <a:pPr lvl="2" eaLnBrk="1" hangingPunct="1"/>
            <a:r>
              <a:rPr lang="en-US" sz="2000" dirty="0"/>
              <a:t>  icons: #777777;</a:t>
            </a:r>
          </a:p>
          <a:p>
            <a:pPr lvl="2" eaLnBrk="1" hangingPunct="1"/>
            <a:r>
              <a:rPr lang="en-US" sz="2000" dirty="0"/>
              <a:t>  </a:t>
            </a:r>
            <a:r>
              <a:rPr lang="en-US" sz="2000" dirty="0" err="1"/>
              <a:t>rolloverIcons</a:t>
            </a:r>
            <a:r>
              <a:rPr lang="en-US" sz="2000" dirty="0"/>
              <a:t>: #B0C645;</a:t>
            </a:r>
          </a:p>
          <a:p>
            <a:pPr lvl="2" eaLnBrk="1" hangingPunct="1"/>
            <a:r>
              <a:rPr lang="en-US" sz="2000" dirty="0"/>
              <a:t>  </a:t>
            </a:r>
            <a:r>
              <a:rPr lang="en-US" sz="2000" dirty="0" err="1"/>
              <a:t>disabledIcons</a:t>
            </a:r>
            <a:r>
              <a:rPr lang="en-US" sz="2000" dirty="0"/>
              <a:t>: #AAAAAA;</a:t>
            </a:r>
          </a:p>
          <a:p>
            <a:pPr lvl="2" eaLnBrk="1" hangingPunct="1"/>
            <a:r>
              <a:rPr lang="en-US" sz="2000" dirty="0" smtClean="0"/>
              <a:t>}</a:t>
            </a:r>
          </a:p>
          <a:p>
            <a:pPr lvl="2" eaLnBrk="1" hangingPunct="1"/>
            <a:r>
              <a:rPr lang="en-US" sz="2000" b="1" dirty="0" smtClean="0"/>
              <a:t>]]&gt;</a:t>
            </a:r>
          </a:p>
          <a:p>
            <a:pPr lvl="2" eaLnBrk="1" hangingPunct="1"/>
            <a:r>
              <a:rPr lang="en-US" sz="2000" dirty="0" smtClean="0"/>
              <a:t>&lt;/Style&gt;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Fonts for Individual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Fonts can also be defined for any element that has the font attribute: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&lt;Style id="</a:t>
            </a:r>
            <a:r>
              <a:rPr lang="en-US" sz="2000" dirty="0" err="1" smtClean="0">
                <a:latin typeface="Monaco"/>
                <a:cs typeface="Monaco"/>
              </a:rPr>
              <a:t>playlistTabs</a:t>
            </a:r>
            <a:r>
              <a:rPr lang="en-US" sz="2000" dirty="0" smtClean="0">
                <a:latin typeface="Monaco"/>
                <a:cs typeface="Monaco"/>
              </a:rPr>
              <a:t>"&gt;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&lt;![CDATA[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.tabs {</a:t>
            </a:r>
            <a:r>
              <a:rPr lang="en-US" sz="2000" dirty="0" err="1" smtClean="0">
                <a:latin typeface="Monaco"/>
                <a:cs typeface="Monaco"/>
              </a:rPr>
              <a:t>fontFace</a:t>
            </a:r>
            <a:r>
              <a:rPr lang="en-US" sz="2000" dirty="0" smtClean="0">
                <a:latin typeface="Monaco"/>
                <a:cs typeface="Monaco"/>
              </a:rPr>
              <a:t>: "Arial </a:t>
            </a:r>
            <a:r>
              <a:rPr lang="en-US" sz="2000" dirty="0" err="1" smtClean="0">
                <a:latin typeface="Monaco"/>
                <a:cs typeface="Monaco"/>
              </a:rPr>
              <a:t>Bold";fontSize</a:t>
            </a:r>
            <a:r>
              <a:rPr lang="en-US" sz="2000" dirty="0" smtClean="0">
                <a:latin typeface="Monaco"/>
                <a:cs typeface="Monaco"/>
              </a:rPr>
              <a:t>: 14;}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]]&gt;</a:t>
            </a:r>
          </a:p>
          <a:p>
            <a:pPr>
              <a:buNone/>
            </a:pPr>
            <a:r>
              <a:rPr lang="en-US" sz="2000" dirty="0" smtClean="0">
                <a:latin typeface="Monaco"/>
                <a:cs typeface="Monaco"/>
              </a:rPr>
              <a:t>&lt;/Style</a:t>
            </a:r>
            <a:r>
              <a:rPr lang="en-US" sz="2000" dirty="0" smtClean="0"/>
              <a:t>&gt;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2010 Brightcove, Inc. All rights reserved.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Footer Placeholder 4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5504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Syntax</a:t>
            </a:r>
          </a:p>
        </p:txBody>
      </p:sp>
      <p:sp>
        <p:nvSpPr>
          <p:cNvPr id="855044" name="Rectangle 3"/>
          <p:cNvSpPr>
            <a:spLocks noGrp="1" noChangeArrowheads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r>
              <a:rPr lang="en-US" sz="2200" dirty="0"/>
              <a:t> Single element</a:t>
            </a:r>
          </a:p>
          <a:p>
            <a:pPr lvl="1" eaLnBrk="1" hangingPunct="1"/>
            <a:r>
              <a:rPr lang="en-US" sz="2000" dirty="0"/>
              <a:t>sets the text color for the </a:t>
            </a:r>
            <a:r>
              <a:rPr lang="en-US" sz="2000" dirty="0" err="1"/>
              <a:t>nowPlaying</a:t>
            </a:r>
            <a:r>
              <a:rPr lang="en-US" sz="2000" dirty="0"/>
              <a:t> title</a:t>
            </a:r>
          </a:p>
        </p:txBody>
      </p:sp>
      <p:sp>
        <p:nvSpPr>
          <p:cNvPr id="855045" name="Rectangle 4"/>
          <p:cNvSpPr>
            <a:spLocks noGrp="1" noChangeArrowheads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/>
            <a:r>
              <a:rPr lang="en-US" sz="2200" dirty="0"/>
              <a:t> All elements</a:t>
            </a:r>
          </a:p>
          <a:p>
            <a:pPr lvl="1" eaLnBrk="1" hangingPunct="1"/>
            <a:r>
              <a:rPr lang="en-US" sz="2000" dirty="0"/>
              <a:t>sets the background color for all labels</a:t>
            </a:r>
          </a:p>
        </p:txBody>
      </p:sp>
      <p:sp>
        <p:nvSpPr>
          <p:cNvPr id="855046" name="Text Box 5"/>
          <p:cNvSpPr txBox="1">
            <a:spLocks noChangeArrowheads="1"/>
          </p:cNvSpPr>
          <p:nvPr/>
        </p:nvSpPr>
        <p:spPr bwMode="auto">
          <a:xfrm>
            <a:off x="609600" y="3200400"/>
            <a:ext cx="3276600" cy="1892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969696"/>
                </a:solidFill>
              </a:rPr>
              <a:t>&lt;Style </a:t>
            </a:r>
            <a:r>
              <a:rPr lang="en-US" b="1"/>
              <a:t>id=“videoPlayer"</a:t>
            </a:r>
            <a:r>
              <a:rPr lang="en-US">
                <a:solidFill>
                  <a:srgbClr val="969696"/>
                </a:solidFill>
              </a:rPr>
              <a:t> &gt;</a:t>
            </a:r>
          </a:p>
          <a:p>
            <a:r>
              <a:rPr lang="en-US">
                <a:solidFill>
                  <a:srgbClr val="969696"/>
                </a:solidFill>
              </a:rPr>
              <a:t>    &lt;![CDATA[</a:t>
            </a:r>
          </a:p>
          <a:p>
            <a:r>
              <a:rPr lang="en-US">
                <a:solidFill>
                  <a:srgbClr val="969696"/>
                </a:solidFill>
              </a:rPr>
              <a:t>      .title { text: #FF0000; }</a:t>
            </a:r>
          </a:p>
          <a:p>
            <a:r>
              <a:rPr lang="en-US">
                <a:solidFill>
                  <a:srgbClr val="969696"/>
                </a:solidFill>
              </a:rPr>
              <a:t>    ]]&gt;</a:t>
            </a:r>
          </a:p>
          <a:p>
            <a:r>
              <a:rPr lang="en-US">
                <a:solidFill>
                  <a:srgbClr val="969696"/>
                </a:solidFill>
              </a:rPr>
              <a:t>  &lt;/Style&gt;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855047" name="Text Box 6"/>
          <p:cNvSpPr txBox="1">
            <a:spLocks noChangeArrowheads="1"/>
          </p:cNvSpPr>
          <p:nvPr/>
        </p:nvSpPr>
        <p:spPr bwMode="auto">
          <a:xfrm>
            <a:off x="4800600" y="3200400"/>
            <a:ext cx="3276600" cy="18928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969696"/>
                </a:solidFill>
              </a:rPr>
              <a:t>&lt;Style </a:t>
            </a:r>
            <a:r>
              <a:rPr lang="en-US" b="1"/>
              <a:t>class=“Label”</a:t>
            </a:r>
            <a:r>
              <a:rPr lang="en-US"/>
              <a:t> </a:t>
            </a:r>
            <a:r>
              <a:rPr lang="en-US">
                <a:solidFill>
                  <a:srgbClr val="969696"/>
                </a:solidFill>
              </a:rPr>
              <a:t>&gt;</a:t>
            </a:r>
          </a:p>
          <a:p>
            <a:r>
              <a:rPr lang="en-US">
                <a:solidFill>
                  <a:srgbClr val="969696"/>
                </a:solidFill>
              </a:rPr>
              <a:t>    &lt;![CDATA[</a:t>
            </a:r>
          </a:p>
          <a:p>
            <a:r>
              <a:rPr lang="en-US">
                <a:solidFill>
                  <a:srgbClr val="969696"/>
                </a:solidFill>
              </a:rPr>
              <a:t>      .body { color: #FF0000; }</a:t>
            </a:r>
          </a:p>
          <a:p>
            <a:r>
              <a:rPr lang="en-US">
                <a:solidFill>
                  <a:srgbClr val="969696"/>
                </a:solidFill>
              </a:rPr>
              <a:t>    ]]&gt;</a:t>
            </a:r>
          </a:p>
          <a:p>
            <a:r>
              <a:rPr lang="en-US">
                <a:solidFill>
                  <a:srgbClr val="969696"/>
                </a:solidFill>
              </a:rPr>
              <a:t>  &lt;/Style&gt;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BEML Styling IS NOT standard CSS</a:t>
            </a:r>
          </a:p>
        </p:txBody>
      </p:sp>
      <p:sp>
        <p:nvSpPr>
          <p:cNvPr id="857091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800" dirty="0"/>
              <a:t>BEML uses CSS</a:t>
            </a:r>
            <a:r>
              <a:rPr lang="en-US" sz="2800" dirty="0" smtClean="0"/>
              <a:t> syntax but </a:t>
            </a:r>
            <a:r>
              <a:rPr lang="en-US" sz="2800" dirty="0"/>
              <a:t>is NOT CSS</a:t>
            </a:r>
          </a:p>
          <a:p>
            <a:r>
              <a:rPr lang="en-US" sz="2800" dirty="0"/>
              <a:t>Flash</a:t>
            </a:r>
            <a:r>
              <a:rPr lang="en-US" sz="2800" dirty="0" smtClean="0"/>
              <a:t> has its own styling in CSS syntax, but that’s not BEML CSS either</a:t>
            </a:r>
          </a:p>
          <a:p>
            <a:r>
              <a:rPr lang="en-US" sz="2800" dirty="0"/>
              <a:t>BEML uses CSS for friendly interface</a:t>
            </a:r>
          </a:p>
          <a:p>
            <a:endParaRPr lang="en-US" sz="2800" dirty="0" smtClean="0"/>
          </a:p>
          <a:p>
            <a:r>
              <a:rPr lang="en-US" sz="2800" dirty="0" smtClean="0"/>
              <a:t>Look at the component-</a:t>
            </a:r>
            <a:r>
              <a:rPr lang="en-US" sz="2800" dirty="0" err="1" smtClean="0"/>
              <a:t>css.zip</a:t>
            </a:r>
            <a:r>
              <a:rPr lang="en-US" sz="2800" dirty="0" smtClean="0"/>
              <a:t> and the </a:t>
            </a:r>
            <a:r>
              <a:rPr lang="en-US" sz="2800" dirty="0" err="1" smtClean="0"/>
              <a:t>StyleGuide.css</a:t>
            </a:r>
            <a:r>
              <a:rPr lang="en-US" sz="2800" dirty="0" smtClean="0"/>
              <a:t> files in the class downloads for information on properties for different components that can be styled</a:t>
            </a:r>
          </a:p>
        </p:txBody>
      </p:sp>
      <p:sp>
        <p:nvSpPr>
          <p:cNvPr id="857092" name="Footer Placeholder 4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Custom Skins</a:t>
            </a:r>
          </a:p>
        </p:txBody>
      </p:sp>
      <p:sp>
        <p:nvSpPr>
          <p:cNvPr id="1172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Style components of custom player templates</a:t>
            </a:r>
          </a:p>
          <a:p>
            <a:pPr lvl="1">
              <a:lnSpc>
                <a:spcPct val="90000"/>
              </a:lnSpc>
            </a:pPr>
            <a:r>
              <a:rPr lang="en-US"/>
              <a:t>Gives you fine-grained control over the appearance of your player templates. </a:t>
            </a:r>
          </a:p>
          <a:p>
            <a:pPr>
              <a:lnSpc>
                <a:spcPct val="90000"/>
              </a:lnSpc>
            </a:pPr>
            <a:r>
              <a:rPr lang="en-US"/>
              <a:t>A skin</a:t>
            </a:r>
          </a:p>
          <a:p>
            <a:pPr lvl="1">
              <a:lnSpc>
                <a:spcPct val="90000"/>
              </a:lnSpc>
            </a:pPr>
            <a:r>
              <a:rPr lang="en-US"/>
              <a:t>An image file that you create and host that you can use to change the appearance of some feature of a BEML player component. </a:t>
            </a:r>
          </a:p>
          <a:p>
            <a:pPr>
              <a:lnSpc>
                <a:spcPct val="90000"/>
              </a:lnSpc>
            </a:pPr>
            <a:r>
              <a:rPr lang="en-US"/>
              <a:t>Use skins to </a:t>
            </a:r>
          </a:p>
          <a:p>
            <a:pPr lvl="1">
              <a:lnSpc>
                <a:spcPct val="90000"/>
              </a:lnSpc>
            </a:pPr>
            <a:r>
              <a:rPr lang="en-US"/>
              <a:t>Style the background of the overall player</a:t>
            </a:r>
          </a:p>
          <a:p>
            <a:pPr lvl="1">
              <a:lnSpc>
                <a:spcPct val="90000"/>
              </a:lnSpc>
            </a:pPr>
            <a:r>
              <a:rPr lang="en-US"/>
              <a:t>Change the default thumbnail image</a:t>
            </a:r>
          </a:p>
          <a:p>
            <a:pPr lvl="1">
              <a:lnSpc>
                <a:spcPct val="90000"/>
              </a:lnSpc>
            </a:pPr>
            <a:r>
              <a:rPr lang="en-US"/>
              <a:t>Change the players buttons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Default Styling</a:t>
            </a:r>
          </a:p>
        </p:txBody>
      </p:sp>
      <p:pic>
        <p:nvPicPr>
          <p:cNvPr id="1158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066801"/>
            <a:ext cx="5638800" cy="4676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Skins Applied to Several Components</a:t>
            </a:r>
          </a:p>
        </p:txBody>
      </p:sp>
      <p:pic>
        <p:nvPicPr>
          <p:cNvPr id="1160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1295401"/>
            <a:ext cx="7315200" cy="49879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Setting skins in the Theme and Style Elements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>
          <a:xfrm>
            <a:off x="477838" y="1169988"/>
            <a:ext cx="8056562" cy="286861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1800" dirty="0"/>
              <a:t>You can set skins for all components by using the Style element within the player template's Theme element 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To set a style using the Theme or Style tags in the BEML, the form would </a:t>
            </a:r>
            <a:r>
              <a:rPr lang="en-US" sz="1800" dirty="0" smtClean="0"/>
              <a:t>be</a:t>
            </a:r>
          </a:p>
          <a:p>
            <a:pPr>
              <a:lnSpc>
                <a:spcPct val="80000"/>
              </a:lnSpc>
            </a:pPr>
            <a:r>
              <a:rPr lang="en-US" sz="1800" dirty="0" smtClean="0"/>
              <a:t>Note </a:t>
            </a:r>
            <a:r>
              <a:rPr lang="en-US" sz="1800" dirty="0"/>
              <a:t>that each selector is preceded by a period (.button). The selector is what precedes the </a:t>
            </a:r>
            <a:r>
              <a:rPr lang="en-US" sz="1800" dirty="0" smtClean="0"/>
              <a:t>hyphen </a:t>
            </a:r>
            <a:r>
              <a:rPr lang="en-US" sz="1800" dirty="0"/>
              <a:t>in the key, and the property is what follows. So button-</a:t>
            </a:r>
            <a:r>
              <a:rPr lang="en-US" sz="1800" dirty="0" err="1"/>
              <a:t>skin;</a:t>
            </a:r>
            <a:r>
              <a:rPr lang="en-US" sz="1800" dirty="0" err="1" smtClean="0"/>
              <a:t>value</a:t>
            </a:r>
            <a:r>
              <a:rPr lang="en-US" sz="1800" dirty="0" smtClean="0"/>
              <a:t> in </a:t>
            </a:r>
            <a:r>
              <a:rPr lang="en-US" sz="1800" dirty="0"/>
              <a:t>becomes .button {</a:t>
            </a:r>
            <a:r>
              <a:rPr lang="en-US" sz="1800" dirty="0" err="1" smtClean="0"/>
              <a:t>skin:value</a:t>
            </a:r>
            <a:r>
              <a:rPr lang="en-US" sz="1800" dirty="0"/>
              <a:t>;</a:t>
            </a:r>
            <a:r>
              <a:rPr lang="en-US" sz="1800" dirty="0" smtClean="0"/>
              <a:t>}</a:t>
            </a:r>
            <a:r>
              <a:rPr lang="en-US" sz="1800" b="1" dirty="0" smtClean="0">
                <a:latin typeface="Consolas"/>
                <a:cs typeface="Consolas"/>
              </a:rPr>
              <a:t> </a:t>
            </a:r>
          </a:p>
          <a:p>
            <a:pPr lvl="1">
              <a:lnSpc>
                <a:spcPct val="80000"/>
              </a:lnSpc>
              <a:buNone/>
            </a:pPr>
            <a:endParaRPr lang="en-US" sz="1800" b="1" dirty="0" smtClean="0">
              <a:latin typeface="Consolas"/>
              <a:cs typeface="Consolas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sz="1800" b="1" dirty="0" smtClean="0">
                <a:latin typeface="Consolas"/>
                <a:cs typeface="Consolas"/>
              </a:rPr>
              <a:t>&lt;Style class=“List"&gt;      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b="1" dirty="0" smtClean="0">
                <a:latin typeface="Consolas"/>
                <a:cs typeface="Consolas"/>
              </a:rPr>
              <a:t>&lt;![CDATA[ .buttons { skin:http://server/skin1.png; } ]]&gt;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b="1" dirty="0" smtClean="0">
                <a:latin typeface="Consolas"/>
                <a:cs typeface="Consolas"/>
              </a:rPr>
              <a:t>&lt;/Style&gt;</a:t>
            </a:r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  <p:pic>
        <p:nvPicPr>
          <p:cNvPr id="1178629" name="Picture 5" descr="Skin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886200"/>
            <a:ext cx="8248650" cy="2609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Player Themes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Customize nearly every aspect of a player using Flash and .</a:t>
            </a:r>
            <a:r>
              <a:rPr lang="en-US" sz="2000" dirty="0" err="1" smtClean="0"/>
              <a:t>fla</a:t>
            </a:r>
            <a:r>
              <a:rPr lang="en-US" sz="2000" dirty="0" smtClean="0"/>
              <a:t> files you can download from Brightcove</a:t>
            </a:r>
          </a:p>
          <a:p>
            <a:r>
              <a:rPr lang="en-US" sz="2000" dirty="0" smtClean="0"/>
              <a:t>See </a:t>
            </a:r>
            <a:r>
              <a:rPr lang="en-US" sz="2000" dirty="0" smtClean="0">
                <a:hlinkClick r:id="rId2"/>
              </a:rPr>
              <a:t>http://support.brightcove.com/en/docs/custom-player-themes</a:t>
            </a:r>
            <a:r>
              <a:rPr lang="en-US" sz="2000" dirty="0" smtClean="0"/>
              <a:t> for details</a:t>
            </a:r>
          </a:p>
          <a:p>
            <a:r>
              <a:rPr lang="en-US" sz="2000" dirty="0" smtClean="0"/>
              <a:t>Reference the path to your custom theme </a:t>
            </a:r>
            <a:r>
              <a:rPr lang="en-US" sz="2000" dirty="0" err="1" smtClean="0"/>
              <a:t>swf</a:t>
            </a:r>
            <a:r>
              <a:rPr lang="en-US" sz="2000" dirty="0" smtClean="0"/>
              <a:t> using the name attribute of the Theme tag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2010 Brightcove, Inc. All rights reserved.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7404096" cy="866225"/>
          </a:xfrm>
        </p:spPr>
        <p:txBody>
          <a:bodyPr/>
          <a:lstStyle/>
          <a:p>
            <a:r>
              <a:rPr lang="en-US" sz="2800" dirty="0" smtClean="0"/>
              <a:t>Exercise 10: Modify the Style for a Template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Exercise 10: Styling the Design</a:t>
            </a:r>
          </a:p>
        </p:txBody>
      </p:sp>
      <p:pic>
        <p:nvPicPr>
          <p:cNvPr id="86528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990601"/>
            <a:ext cx="8534400" cy="49180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Exercise 10</a:t>
            </a:r>
          </a:p>
        </p:txBody>
      </p:sp>
      <p:sp>
        <p:nvSpPr>
          <p:cNvPr id="1074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Change the themes</a:t>
            </a:r>
          </a:p>
          <a:p>
            <a:pPr lvl="1"/>
            <a:r>
              <a:rPr lang="en-US" sz="1800" dirty="0"/>
              <a:t>Try changing the style to “dark”</a:t>
            </a:r>
          </a:p>
          <a:p>
            <a:pPr lvl="1"/>
            <a:r>
              <a:rPr lang="en-US" sz="1800" dirty="0"/>
              <a:t>Try changing the theme to “Flat” or “minimal”</a:t>
            </a:r>
          </a:p>
          <a:p>
            <a:r>
              <a:rPr lang="en-US" sz="1800" dirty="0"/>
              <a:t>Change the coloring</a:t>
            </a:r>
          </a:p>
          <a:p>
            <a:r>
              <a:rPr lang="en-US" sz="1800" dirty="0"/>
              <a:t>Style the text</a:t>
            </a:r>
          </a:p>
          <a:p>
            <a:r>
              <a:rPr lang="en-US" sz="1800" dirty="0"/>
              <a:t>Add background image </a:t>
            </a:r>
          </a:p>
          <a:p>
            <a:pPr>
              <a:buFontTx/>
              <a:buNone/>
            </a:pPr>
            <a:endParaRPr lang="en-US" sz="1800" dirty="0"/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971801" y="5410200"/>
            <a:ext cx="3473336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BEML StylingEx10.xml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1" name="Rectangle 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</a:rPr>
              <a:t>Further Customization (Bonus</a:t>
            </a:r>
            <a:r>
              <a:rPr lang="en-US" dirty="0" smtClean="0">
                <a:solidFill>
                  <a:schemeClr val="bg1"/>
                </a:solidFill>
              </a:rPr>
              <a:t> Content)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Further BEML Customization</a:t>
            </a:r>
          </a:p>
        </p:txBody>
      </p:sp>
      <p:sp>
        <p:nvSpPr>
          <p:cNvPr id="869379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dirty="0"/>
              <a:t>Localization</a:t>
            </a:r>
          </a:p>
          <a:p>
            <a:pPr eaLnBrk="1" hangingPunct="1"/>
            <a:r>
              <a:rPr lang="en-US" sz="1800" dirty="0"/>
              <a:t>Custom Modules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7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Localizing with BEML</a:t>
            </a:r>
          </a:p>
        </p:txBody>
      </p:sp>
      <p:sp>
        <p:nvSpPr>
          <p:cNvPr id="871428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dirty="0"/>
              <a:t>BEML allows you to localize</a:t>
            </a:r>
          </a:p>
          <a:p>
            <a:pPr lvl="1" eaLnBrk="1" hangingPunct="1"/>
            <a:r>
              <a:rPr lang="en-US" sz="1800" dirty="0"/>
              <a:t>individual strings within components</a:t>
            </a:r>
          </a:p>
          <a:p>
            <a:pPr lvl="2" eaLnBrk="1" hangingPunct="1"/>
            <a:r>
              <a:rPr lang="en-US" sz="1800" dirty="0"/>
              <a:t>e.g. buttons, labels, tooltips</a:t>
            </a:r>
          </a:p>
          <a:p>
            <a:pPr lvl="1" eaLnBrk="1" hangingPunct="1"/>
            <a:r>
              <a:rPr lang="en-US" sz="1800" dirty="0"/>
              <a:t>entire templates </a:t>
            </a:r>
          </a:p>
          <a:p>
            <a:pPr lvl="2" eaLnBrk="1" hangingPunct="1"/>
            <a:r>
              <a:rPr lang="en-US" sz="1800" dirty="0"/>
              <a:t>all the buttons and labels within a template</a:t>
            </a:r>
          </a:p>
          <a:p>
            <a:pPr eaLnBrk="1" hangingPunct="1"/>
            <a:r>
              <a:rPr lang="en-US" sz="1800" dirty="0"/>
              <a:t>Supported languages</a:t>
            </a:r>
          </a:p>
          <a:p>
            <a:pPr lvl="1" eaLnBrk="1" hangingPunct="1"/>
            <a:r>
              <a:rPr lang="en-US" sz="1800" dirty="0"/>
              <a:t>All, except right-to-left languages </a:t>
            </a:r>
            <a:br>
              <a:rPr lang="en-US" sz="1800" dirty="0"/>
            </a:br>
            <a:r>
              <a:rPr lang="en-US" sz="1800" dirty="0"/>
              <a:t>(e.g. Arabic and Hebrew)</a:t>
            </a:r>
          </a:p>
          <a:p>
            <a:pPr eaLnBrk="1" hangingPunct="1">
              <a:buFontTx/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5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Localizing with BEML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b="1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&lt;Labels&gt;</a:t>
            </a:r>
            <a:r>
              <a:rPr lang="en-US" sz="1800" dirty="0"/>
              <a:t> tag allows you to specify strings</a:t>
            </a:r>
          </a:p>
          <a:p>
            <a:pPr lvl="1" eaLnBrk="1" hangingPunct="1"/>
            <a:r>
              <a:rPr lang="en-US" sz="1800" dirty="0"/>
              <a:t>Override for specific components</a:t>
            </a:r>
          </a:p>
          <a:p>
            <a:pPr lvl="1" eaLnBrk="1" hangingPunct="1"/>
            <a:r>
              <a:rPr lang="en-US" sz="1800" dirty="0"/>
              <a:t>Reference an external BEML file for all labels</a:t>
            </a:r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>
              <a:buFontTx/>
              <a:buNone/>
            </a:pPr>
            <a:endParaRPr lang="en-US" sz="1800" i="1" dirty="0"/>
          </a:p>
        </p:txBody>
      </p:sp>
      <p:sp>
        <p:nvSpPr>
          <p:cNvPr id="873477" name="Text Box 4"/>
          <p:cNvSpPr txBox="1">
            <a:spLocks noChangeArrowheads="1"/>
          </p:cNvSpPr>
          <p:nvPr/>
        </p:nvSpPr>
        <p:spPr bwMode="auto">
          <a:xfrm>
            <a:off x="838200" y="3098800"/>
            <a:ext cx="6858000" cy="29454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i="1" dirty="0">
                <a:solidFill>
                  <a:srgbClr val="3B3B3B"/>
                </a:solidFill>
              </a:rPr>
              <a:t>Example Labels usage:</a:t>
            </a: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>
                <a:latin typeface="Consolas"/>
                <a:cs typeface="Consolas"/>
              </a:rPr>
              <a:t>&lt;Labels&gt; &lt;label key="controls play"&gt;GO!&lt;/label&gt; &lt;/Labels&gt;</a:t>
            </a:r>
            <a:endParaRPr lang="en-US" dirty="0">
              <a:solidFill>
                <a:srgbClr val="3B3B3B"/>
              </a:solidFill>
              <a:latin typeface="Consolas"/>
              <a:cs typeface="Consolas"/>
            </a:endParaRP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endParaRPr lang="en-US" dirty="0">
              <a:solidFill>
                <a:srgbClr val="3B3B3B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i="1" dirty="0">
                <a:solidFill>
                  <a:srgbClr val="3B3B3B"/>
                </a:solidFill>
              </a:rPr>
              <a:t>Example Labels file: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>
                <a:latin typeface="Consolas"/>
                <a:cs typeface="Consolas"/>
              </a:rPr>
              <a:t>&lt;Labels file="http://</a:t>
            </a:r>
            <a:r>
              <a:rPr lang="en-US" dirty="0" err="1">
                <a:latin typeface="Consolas"/>
                <a:cs typeface="Consolas"/>
              </a:rPr>
              <a:t>www.yourserver.com/de_player_labels.xml</a:t>
            </a:r>
            <a:r>
              <a:rPr lang="en-US" dirty="0">
                <a:latin typeface="Consolas"/>
                <a:cs typeface="Consolas"/>
              </a:rPr>
              <a:t>" /&gt;</a:t>
            </a:r>
            <a:endParaRPr lang="en-US" dirty="0">
              <a:solidFill>
                <a:srgbClr val="3B3B3B"/>
              </a:solidFill>
              <a:latin typeface="Consolas"/>
              <a:cs typeface="Consolas"/>
            </a:endParaRPr>
          </a:p>
          <a:p>
            <a:pPr>
              <a:spcBef>
                <a:spcPct val="50000"/>
              </a:spcBef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44504" y="2972519"/>
            <a:ext cx="7480296" cy="866225"/>
          </a:xfrm>
        </p:spPr>
        <p:txBody>
          <a:bodyPr/>
          <a:lstStyle/>
          <a:p>
            <a:r>
              <a:rPr lang="en-US" dirty="0" smtClean="0"/>
              <a:t>Exercise 11: Working with Labels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11: Working with Labels</a:t>
            </a:r>
          </a:p>
        </p:txBody>
      </p:sp>
      <p:sp>
        <p:nvSpPr>
          <p:cNvPr id="115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1800" dirty="0"/>
              <a:t>Duplicate your </a:t>
            </a:r>
            <a:r>
              <a:rPr lang="en-US" sz="1800" dirty="0" err="1"/>
              <a:t>SimpleBEML</a:t>
            </a:r>
            <a:r>
              <a:rPr lang="en-US" sz="1800" dirty="0"/>
              <a:t> Template</a:t>
            </a:r>
          </a:p>
          <a:p>
            <a:pPr eaLnBrk="1" hangingPunct="1"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&lt;Labels&gt;</a:t>
            </a:r>
          </a:p>
          <a:p>
            <a:pPr eaLnBrk="1" hangingPunct="1"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		 &lt;label key="controls play"&gt;GO!&lt;/label&gt;</a:t>
            </a:r>
          </a:p>
          <a:p>
            <a:pPr eaLnBrk="1" hangingPunct="1"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&lt;/Labels&gt;</a:t>
            </a:r>
            <a:endParaRPr lang="en-US" sz="1800" dirty="0"/>
          </a:p>
          <a:p>
            <a:pPr eaLnBrk="1" hangingPunct="1">
              <a:buFontTx/>
              <a:buNone/>
            </a:pPr>
            <a:endParaRPr lang="en-US" sz="1800" dirty="0"/>
          </a:p>
          <a:p>
            <a:pPr eaLnBrk="1" hangingPunct="1">
              <a:buFontTx/>
              <a:buNone/>
            </a:pPr>
            <a:r>
              <a:rPr lang="en-US" sz="1800" dirty="0"/>
              <a:t>Insert the &lt;Labels/&gt; tag after &lt;Runtime&gt; to change ‘Play’ in control bar to ‘GO!’</a:t>
            </a:r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0" y="5334000"/>
            <a:ext cx="3443580" cy="369324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dirty="0" smtClean="0"/>
              <a:t>Solution: BEML LabelsEx11.xml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Localizing A Player – External XML File Example</a:t>
            </a:r>
          </a:p>
        </p:txBody>
      </p:sp>
      <p:sp>
        <p:nvSpPr>
          <p:cNvPr id="875524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nsolas"/>
                <a:cs typeface="Consolas"/>
              </a:rPr>
              <a:t>&lt;?xml version="1.0" encoding="UTF-8" standalone="yes"?&gt; &lt;Labels </a:t>
            </a:r>
            <a:r>
              <a:rPr lang="en-US" sz="1800" b="1" dirty="0" err="1">
                <a:latin typeface="Consolas"/>
                <a:cs typeface="Consolas"/>
              </a:rPr>
              <a:t>xmlns:xsi</a:t>
            </a:r>
            <a:r>
              <a:rPr lang="en-US" sz="1800" b="1" dirty="0">
                <a:latin typeface="Consolas"/>
                <a:cs typeface="Consolas"/>
              </a:rPr>
              <a:t>="http://www.w3.org/2001/XMLSchema-instance"&gt;  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i="1" dirty="0">
                <a:latin typeface="Consolas"/>
                <a:cs typeface="Consolas"/>
              </a:rPr>
              <a:t>&lt;!-- Video player chrome controls --&gt;</a:t>
            </a:r>
            <a:r>
              <a:rPr lang="en-US" sz="1800" b="1" dirty="0">
                <a:latin typeface="Consolas"/>
                <a:cs typeface="Consolas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solidFill>
                  <a:srgbClr val="CC3366"/>
                </a:solidFill>
                <a:latin typeface="Consolas"/>
                <a:cs typeface="Consolas"/>
              </a:rPr>
              <a:t>&lt;label key="controls play"&gt;PLAY&lt;/label&gt;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solidFill>
                  <a:srgbClr val="CC3366"/>
                </a:solidFill>
                <a:latin typeface="Consolas"/>
                <a:cs typeface="Consolas"/>
              </a:rPr>
              <a:t>&lt;label key="controls pause"&gt;PAUSE&lt;/label&gt;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solidFill>
                  <a:srgbClr val="CC3366"/>
                </a:solidFill>
                <a:latin typeface="Consolas"/>
                <a:cs typeface="Consolas"/>
              </a:rPr>
              <a:t>&lt;label key="controls menu"&gt;MENU&lt;/label&gt;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solidFill>
                  <a:srgbClr val="CC3366"/>
                </a:solidFill>
                <a:latin typeface="Consolas"/>
                <a:cs typeface="Consolas"/>
              </a:rPr>
              <a:t>&lt;label key="controls play tooltip"&gt;Play&lt;/label&gt;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solidFill>
                  <a:srgbClr val="CC3366"/>
                </a:solidFill>
                <a:latin typeface="Consolas"/>
                <a:cs typeface="Consolas"/>
              </a:rPr>
              <a:t>&lt;label key="controls pause tooltip"&gt;Pause&lt;/label&gt;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b="1" dirty="0">
                <a:latin typeface="Consolas"/>
                <a:cs typeface="Consolas"/>
              </a:rPr>
              <a:t>…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Custom Modules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4138" indent="-284138">
              <a:spcBef>
                <a:spcPct val="20000"/>
              </a:spcBef>
              <a:spcAft>
                <a:spcPct val="20000"/>
              </a:spcAft>
              <a:buBlip>
                <a:blip r:embed="rId3"/>
              </a:buBlip>
            </a:pPr>
            <a:r>
              <a:rPr lang="en-US" sz="1800" b="1" dirty="0" smtClean="0">
                <a:solidFill>
                  <a:srgbClr val="3B3B3B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&lt;Modules&gt;</a:t>
            </a:r>
            <a:r>
              <a:rPr lang="en-US" sz="1800" dirty="0" smtClean="0">
                <a:solidFill>
                  <a:srgbClr val="3B3B3B"/>
                </a:solidFill>
              </a:rPr>
              <a:t> tag allows you to specify 3</a:t>
            </a:r>
            <a:r>
              <a:rPr lang="en-US" sz="1800" baseline="30000" dirty="0" smtClean="0">
                <a:solidFill>
                  <a:srgbClr val="3B3B3B"/>
                </a:solidFill>
              </a:rPr>
              <a:t>rd</a:t>
            </a:r>
            <a:r>
              <a:rPr lang="en-US" sz="1800" dirty="0" smtClean="0">
                <a:solidFill>
                  <a:srgbClr val="3B3B3B"/>
                </a:solidFill>
              </a:rPr>
              <a:t> party hosted </a:t>
            </a:r>
            <a:r>
              <a:rPr lang="en-US" sz="1800" dirty="0" err="1" smtClean="0">
                <a:solidFill>
                  <a:srgbClr val="3B3B3B"/>
                </a:solidFill>
              </a:rPr>
              <a:t>SWFs</a:t>
            </a:r>
            <a:endParaRPr lang="en-US" sz="1800" dirty="0" smtClean="0">
              <a:solidFill>
                <a:srgbClr val="3B3B3B"/>
              </a:solidFill>
            </a:endParaRPr>
          </a:p>
          <a:p>
            <a:pPr marL="692090" lvl="1" indent="-234930">
              <a:spcAft>
                <a:spcPct val="20000"/>
              </a:spcAft>
              <a:buBlip>
                <a:blip r:embed="rId4"/>
              </a:buBlip>
            </a:pPr>
            <a:r>
              <a:rPr lang="en-US" sz="1800" dirty="0" smtClean="0">
                <a:solidFill>
                  <a:srgbClr val="56595C"/>
                </a:solidFill>
              </a:rPr>
              <a:t>Can access the Player API</a:t>
            </a:r>
          </a:p>
          <a:p>
            <a:pPr marL="692090" lvl="1" indent="-234930">
              <a:spcAft>
                <a:spcPct val="20000"/>
              </a:spcAft>
              <a:buBlip>
                <a:blip r:embed="rId4"/>
              </a:buBlip>
            </a:pPr>
            <a:r>
              <a:rPr lang="en-US" sz="1800" dirty="0" smtClean="0">
                <a:solidFill>
                  <a:srgbClr val="56595C"/>
                </a:solidFill>
              </a:rPr>
              <a:t>Can access the BEML components</a:t>
            </a:r>
          </a:p>
          <a:p>
            <a:pPr marL="692090" lvl="1" indent="-234930">
              <a:spcAft>
                <a:spcPct val="20000"/>
              </a:spcAft>
              <a:buBlip>
                <a:blip r:embed="rId4"/>
              </a:buBlip>
            </a:pPr>
            <a:r>
              <a:rPr lang="en-US" sz="1800" dirty="0" smtClean="0">
                <a:solidFill>
                  <a:srgbClr val="56595C"/>
                </a:solidFill>
              </a:rPr>
              <a:t>Example could be a Web Analytics SWF</a:t>
            </a:r>
          </a:p>
          <a:p>
            <a:pPr marL="692090" lvl="1" indent="-234930">
              <a:spcAft>
                <a:spcPct val="20000"/>
              </a:spcAft>
              <a:buBlip>
                <a:blip r:embed="rId4"/>
              </a:buBlip>
            </a:pPr>
            <a:r>
              <a:rPr lang="en-US" sz="1800" dirty="0" smtClean="0">
                <a:solidFill>
                  <a:srgbClr val="56595C"/>
                </a:solidFill>
              </a:rPr>
              <a:t>HOSTED outside of Brightcove</a:t>
            </a:r>
          </a:p>
          <a:p>
            <a:pPr marL="692090" lvl="1" indent="-234930">
              <a:spcAft>
                <a:spcPct val="20000"/>
              </a:spcAft>
              <a:buBlip>
                <a:blip r:embed="rId4"/>
              </a:buBlip>
            </a:pPr>
            <a:r>
              <a:rPr lang="en-US" sz="1800" dirty="0" smtClean="0">
                <a:solidFill>
                  <a:srgbClr val="56595C"/>
                </a:solidFill>
              </a:rPr>
              <a:t>Use Modules for non-displaying </a:t>
            </a:r>
            <a:r>
              <a:rPr lang="en-US" sz="1800" dirty="0" err="1" smtClean="0">
                <a:solidFill>
                  <a:srgbClr val="56595C"/>
                </a:solidFill>
              </a:rPr>
              <a:t>plugins</a:t>
            </a:r>
            <a:r>
              <a:rPr lang="en-US" sz="1800" dirty="0" smtClean="0">
                <a:solidFill>
                  <a:srgbClr val="56595C"/>
                </a:solidFill>
              </a:rPr>
              <a:t>; use </a:t>
            </a:r>
            <a:r>
              <a:rPr lang="en-US" sz="1800" dirty="0" err="1" smtClean="0">
                <a:solidFill>
                  <a:srgbClr val="56595C"/>
                </a:solidFill>
              </a:rPr>
              <a:t>SWFLoader</a:t>
            </a:r>
            <a:r>
              <a:rPr lang="en-US" sz="1800" dirty="0" smtClean="0">
                <a:solidFill>
                  <a:srgbClr val="56595C"/>
                </a:solidFill>
              </a:rPr>
              <a:t> for visible custom components</a:t>
            </a:r>
          </a:p>
          <a:p>
            <a:pPr marL="284138" indent="-284138">
              <a:spcBef>
                <a:spcPct val="20000"/>
              </a:spcBef>
              <a:spcAft>
                <a:spcPct val="20000"/>
              </a:spcAft>
            </a:pPr>
            <a:endParaRPr lang="en-US" sz="1800" dirty="0" smtClean="0">
              <a:solidFill>
                <a:srgbClr val="3B3B3B"/>
              </a:solidFill>
            </a:endParaRPr>
          </a:p>
          <a:p>
            <a:pPr marL="284138" indent="-284138">
              <a:spcBef>
                <a:spcPct val="20000"/>
              </a:spcBef>
              <a:spcAft>
                <a:spcPct val="20000"/>
              </a:spcAft>
            </a:pPr>
            <a:endParaRPr lang="en-US" sz="1800" dirty="0" smtClean="0">
              <a:solidFill>
                <a:srgbClr val="3B3B3B"/>
              </a:solidFill>
            </a:endParaRPr>
          </a:p>
          <a:p>
            <a:pPr marL="284138" indent="-284138">
              <a:spcBef>
                <a:spcPct val="20000"/>
              </a:spcBef>
              <a:spcAft>
                <a:spcPct val="20000"/>
              </a:spcAft>
            </a:pPr>
            <a:endParaRPr lang="en-US" sz="1800" dirty="0" smtClean="0">
              <a:solidFill>
                <a:srgbClr val="3B3B3B"/>
              </a:solidFill>
            </a:endParaRPr>
          </a:p>
          <a:p>
            <a:pPr marL="284138" indent="-284138">
              <a:spcBef>
                <a:spcPct val="20000"/>
              </a:spcBef>
              <a:spcAft>
                <a:spcPct val="20000"/>
              </a:spcAft>
              <a:buBlip>
                <a:blip r:embed="rId3"/>
              </a:buBlip>
            </a:pPr>
            <a:endParaRPr lang="en-US" sz="1800" dirty="0" smtClean="0">
              <a:solidFill>
                <a:srgbClr val="3B3B3B"/>
              </a:solidFill>
            </a:endParaRPr>
          </a:p>
          <a:p>
            <a:pPr marL="284138" indent="-284138">
              <a:spcBef>
                <a:spcPct val="20000"/>
              </a:spcBef>
              <a:spcAft>
                <a:spcPct val="20000"/>
              </a:spcAft>
              <a:buBlip>
                <a:blip r:embed="rId3"/>
              </a:buBlip>
            </a:pPr>
            <a:endParaRPr lang="en-US" sz="1800" dirty="0" smtClean="0">
              <a:solidFill>
                <a:srgbClr val="3B3B3B"/>
              </a:solidFill>
            </a:endParaRPr>
          </a:p>
          <a:p>
            <a:endParaRPr lang="en-US" sz="1800" dirty="0"/>
          </a:p>
        </p:txBody>
      </p:sp>
      <p:sp>
        <p:nvSpPr>
          <p:cNvPr id="877573" name="Text Box 4"/>
          <p:cNvSpPr txBox="1">
            <a:spLocks noChangeArrowheads="1"/>
          </p:cNvSpPr>
          <p:nvPr/>
        </p:nvSpPr>
        <p:spPr bwMode="auto">
          <a:xfrm>
            <a:off x="838200" y="4181476"/>
            <a:ext cx="6858000" cy="21975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i="1" dirty="0">
                <a:solidFill>
                  <a:srgbClr val="3B3B3B"/>
                </a:solidFill>
              </a:rPr>
              <a:t>Example Labels usage:</a:t>
            </a:r>
            <a:endParaRPr lang="en-US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>
                <a:latin typeface="Consolas"/>
                <a:cs typeface="Consolas"/>
              </a:rPr>
              <a:t>&lt;Modules&gt;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>
                <a:latin typeface="Consolas"/>
                <a:cs typeface="Consolas"/>
              </a:rPr>
              <a:t>    &lt;Module file='http://</a:t>
            </a:r>
            <a:r>
              <a:rPr lang="en-US" dirty="0" err="1">
                <a:latin typeface="Consolas"/>
                <a:cs typeface="Consolas"/>
              </a:rPr>
              <a:t>mysite/mycomponet.swf</a:t>
            </a:r>
            <a:r>
              <a:rPr lang="en-US" dirty="0">
                <a:latin typeface="Consolas"/>
                <a:cs typeface="Consolas"/>
              </a:rPr>
              <a:t>' /&gt;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>
                <a:latin typeface="Consolas"/>
                <a:cs typeface="Consolas"/>
              </a:rPr>
              <a:t>&lt;/Modules</a:t>
            </a:r>
            <a:r>
              <a:rPr lang="en-US" dirty="0" smtClean="0">
                <a:latin typeface="Consolas"/>
                <a:cs typeface="Consolas"/>
              </a:rPr>
              <a:t>&gt;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dirty="0" smtClean="0">
                <a:solidFill>
                  <a:srgbClr val="3B3B3B"/>
                </a:solidFill>
              </a:rPr>
              <a:t>Can go anywhere inside Runtime, but not nested in another element</a:t>
            </a:r>
            <a:endParaRPr lang="en-US" dirty="0">
              <a:solidFill>
                <a:srgbClr val="3B3B3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4"/>
          <p:cNvSpPr>
            <a:spLocks noGrp="1" noChangeArrowheads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b"/>
          <a:lstStyle/>
          <a:p>
            <a:pPr algn="ctr"/>
            <a:r>
              <a:rPr lang="en-US" sz="3200" dirty="0" smtClean="0"/>
              <a:t>Summary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What did we Learn?</a:t>
            </a:r>
          </a:p>
        </p:txBody>
      </p:sp>
      <p:sp>
        <p:nvSpPr>
          <p:cNvPr id="887811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dirty="0"/>
              <a:t>BEML can be used to:</a:t>
            </a:r>
          </a:p>
          <a:p>
            <a:pPr eaLnBrk="1" hangingPunct="1">
              <a:lnSpc>
                <a:spcPct val="80000"/>
              </a:lnSpc>
            </a:pPr>
            <a:r>
              <a:rPr lang="en-US" sz="1800" dirty="0"/>
              <a:t>3 Parts to BEML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Components, Layout, Styling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Data Binding wires it all together</a:t>
            </a:r>
          </a:p>
          <a:p>
            <a:pPr eaLnBrk="1" hangingPunct="1">
              <a:lnSpc>
                <a:spcPct val="80000"/>
              </a:lnSpc>
            </a:pPr>
            <a:r>
              <a:rPr lang="en-US" sz="1800" dirty="0"/>
              <a:t>Workflow: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Design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Identify Components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Identify Layout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Merge Components and Layout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Data Bind the components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Style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/>
              <a:t>Publish!</a:t>
            </a:r>
          </a:p>
        </p:txBody>
      </p:sp>
      <p:sp>
        <p:nvSpPr>
          <p:cNvPr id="887812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4"/>
          <p:cNvSpPr>
            <a:spLocks noGrp="1" noChangeArrowheads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b"/>
          <a:lstStyle/>
          <a:p>
            <a:pPr algn="ctr" eaLnBrk="1" hangingPunct="1"/>
            <a:r>
              <a:rPr lang="en-US" sz="3200" dirty="0"/>
              <a:t>Where Next?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Footer Placeholder 3"/>
          <p:cNvSpPr txBox="1">
            <a:spLocks noGrp="1"/>
          </p:cNvSpPr>
          <p:nvPr/>
        </p:nvSpPr>
        <p:spPr bwMode="auto">
          <a:xfrm>
            <a:off x="481013" y="6483350"/>
            <a:ext cx="449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pPr eaLnBrk="1" hangingPunct="1"/>
            <a:r>
              <a:rPr lang="en-US" sz="800" dirty="0" smtClean="0">
                <a:solidFill>
                  <a:srgbClr val="7B7B7B"/>
                </a:solidFill>
              </a:rPr>
              <a:t>© 2010 Brightcove</a:t>
            </a:r>
            <a:r>
              <a:rPr lang="en-US" sz="800" dirty="0">
                <a:solidFill>
                  <a:srgbClr val="7B7B7B"/>
                </a:solidFill>
              </a:rPr>
              <a:t>, Inc. All rights reserved.</a:t>
            </a:r>
            <a:r>
              <a:rPr lang="en-US" sz="800" dirty="0" smtClean="0">
                <a:solidFill>
                  <a:srgbClr val="7B7B7B"/>
                </a:solidFill>
              </a:rPr>
              <a:t> </a:t>
            </a:r>
            <a:endParaRPr lang="en-US" sz="800" dirty="0">
              <a:solidFill>
                <a:srgbClr val="7B7B7B"/>
              </a:solidFill>
            </a:endParaRPr>
          </a:p>
        </p:txBody>
      </p:sp>
      <p:sp>
        <p:nvSpPr>
          <p:cNvPr id="891907" name="Line 2"/>
          <p:cNvSpPr>
            <a:spLocks noChangeShapeType="1"/>
          </p:cNvSpPr>
          <p:nvPr/>
        </p:nvSpPr>
        <p:spPr bwMode="auto">
          <a:xfrm flipV="1">
            <a:off x="46482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08" name="AutoShape 3"/>
          <p:cNvSpPr>
            <a:spLocks noChangeArrowheads="1"/>
          </p:cNvSpPr>
          <p:nvPr/>
        </p:nvSpPr>
        <p:spPr bwMode="auto">
          <a:xfrm>
            <a:off x="3429000" y="3048000"/>
            <a:ext cx="2514600" cy="1219200"/>
          </a:xfrm>
          <a:prstGeom prst="chevron">
            <a:avLst>
              <a:gd name="adj" fmla="val 27261"/>
            </a:avLst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891909" name="Line 4"/>
          <p:cNvSpPr>
            <a:spLocks noChangeShapeType="1"/>
          </p:cNvSpPr>
          <p:nvPr/>
        </p:nvSpPr>
        <p:spPr bwMode="auto">
          <a:xfrm flipV="1">
            <a:off x="22860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10" name="Rectangle 5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Spectrum of Visual Customization</a:t>
            </a:r>
          </a:p>
        </p:txBody>
      </p:sp>
      <p:sp>
        <p:nvSpPr>
          <p:cNvPr id="891911" name="Line 6"/>
          <p:cNvSpPr>
            <a:spLocks noChangeShapeType="1"/>
          </p:cNvSpPr>
          <p:nvPr/>
        </p:nvSpPr>
        <p:spPr bwMode="auto">
          <a:xfrm>
            <a:off x="8458200" y="2667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12" name="AutoShape 7"/>
          <p:cNvSpPr>
            <a:spLocks noChangeArrowheads="1"/>
          </p:cNvSpPr>
          <p:nvPr/>
        </p:nvSpPr>
        <p:spPr bwMode="auto">
          <a:xfrm>
            <a:off x="1066800" y="3048000"/>
            <a:ext cx="2438400" cy="1219200"/>
          </a:xfrm>
          <a:prstGeom prst="homePlate">
            <a:avLst>
              <a:gd name="adj" fmla="val 27139"/>
            </a:avLst>
          </a:prstGeom>
          <a:solidFill>
            <a:schemeClr val="hlink"/>
          </a:solidFill>
          <a:ln w="9525">
            <a:solidFill>
              <a:srgbClr val="72AFB6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891913" name="Rectangle 8"/>
          <p:cNvSpPr>
            <a:spLocks noChangeArrowheads="1"/>
          </p:cNvSpPr>
          <p:nvPr/>
        </p:nvSpPr>
        <p:spPr bwMode="auto">
          <a:xfrm>
            <a:off x="1066800" y="2133600"/>
            <a:ext cx="24384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Publishing Module</a:t>
            </a:r>
          </a:p>
        </p:txBody>
      </p:sp>
      <p:sp>
        <p:nvSpPr>
          <p:cNvPr id="891914" name="Text Box 9"/>
          <p:cNvSpPr txBox="1">
            <a:spLocks noChangeArrowheads="1"/>
          </p:cNvSpPr>
          <p:nvPr/>
        </p:nvSpPr>
        <p:spPr bwMode="auto">
          <a:xfrm>
            <a:off x="1143001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Out-of-the-Box Templates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Styling</a:t>
            </a:r>
          </a:p>
        </p:txBody>
      </p:sp>
      <p:sp>
        <p:nvSpPr>
          <p:cNvPr id="891915" name="Text Box 10"/>
          <p:cNvSpPr txBox="1">
            <a:spLocks noChangeArrowheads="1"/>
          </p:cNvSpPr>
          <p:nvPr/>
        </p:nvSpPr>
        <p:spPr bwMode="auto">
          <a:xfrm>
            <a:off x="3657600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Layout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Size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CSS</a:t>
            </a:r>
          </a:p>
        </p:txBody>
      </p:sp>
      <p:sp>
        <p:nvSpPr>
          <p:cNvPr id="891916" name="Rectangle 11"/>
          <p:cNvSpPr>
            <a:spLocks noChangeArrowheads="1"/>
          </p:cNvSpPr>
          <p:nvPr/>
        </p:nvSpPr>
        <p:spPr bwMode="auto">
          <a:xfrm>
            <a:off x="3505200" y="2133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BEML</a:t>
            </a:r>
          </a:p>
        </p:txBody>
      </p:sp>
      <p:sp>
        <p:nvSpPr>
          <p:cNvPr id="891917" name="Line 12"/>
          <p:cNvSpPr>
            <a:spLocks noChangeShapeType="1"/>
          </p:cNvSpPr>
          <p:nvPr/>
        </p:nvSpPr>
        <p:spPr bwMode="auto">
          <a:xfrm>
            <a:off x="8458200" y="533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18" name="Rectangle 13"/>
          <p:cNvSpPr>
            <a:spLocks noChangeArrowheads="1"/>
          </p:cNvSpPr>
          <p:nvPr/>
        </p:nvSpPr>
        <p:spPr bwMode="auto">
          <a:xfrm>
            <a:off x="1066800" y="4800600"/>
            <a:ext cx="24384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Basic Design</a:t>
            </a:r>
          </a:p>
        </p:txBody>
      </p:sp>
      <p:sp>
        <p:nvSpPr>
          <p:cNvPr id="891919" name="Rectangle 14"/>
          <p:cNvSpPr>
            <a:spLocks noChangeArrowheads="1"/>
          </p:cNvSpPr>
          <p:nvPr/>
        </p:nvSpPr>
        <p:spPr bwMode="auto">
          <a:xfrm>
            <a:off x="3505200" y="4800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HTML / XML</a:t>
            </a:r>
          </a:p>
        </p:txBody>
      </p:sp>
      <p:sp>
        <p:nvSpPr>
          <p:cNvPr id="891920" name="Text Box 15"/>
          <p:cNvSpPr txBox="1">
            <a:spLocks noChangeArrowheads="1"/>
          </p:cNvSpPr>
          <p:nvPr/>
        </p:nvSpPr>
        <p:spPr bwMode="auto">
          <a:xfrm>
            <a:off x="733425" y="5257801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Skills</a:t>
            </a:r>
          </a:p>
        </p:txBody>
      </p:sp>
      <p:sp>
        <p:nvSpPr>
          <p:cNvPr id="891921" name="Line 16"/>
          <p:cNvSpPr>
            <a:spLocks noChangeShapeType="1"/>
          </p:cNvSpPr>
          <p:nvPr/>
        </p:nvSpPr>
        <p:spPr bwMode="auto">
          <a:xfrm>
            <a:off x="914400" y="5654675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22" name="Text Box 17"/>
          <p:cNvSpPr txBox="1">
            <a:spLocks noChangeArrowheads="1"/>
          </p:cNvSpPr>
          <p:nvPr/>
        </p:nvSpPr>
        <p:spPr bwMode="auto">
          <a:xfrm>
            <a:off x="733425" y="1420813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Methods</a:t>
            </a:r>
          </a:p>
        </p:txBody>
      </p:sp>
      <p:sp>
        <p:nvSpPr>
          <p:cNvPr id="891923" name="Line 18"/>
          <p:cNvSpPr>
            <a:spLocks noChangeShapeType="1"/>
          </p:cNvSpPr>
          <p:nvPr/>
        </p:nvSpPr>
        <p:spPr bwMode="auto">
          <a:xfrm>
            <a:off x="914400" y="1828800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1924" name="Text Box 19"/>
          <p:cNvSpPr txBox="1">
            <a:spLocks noChangeArrowheads="1"/>
          </p:cNvSpPr>
          <p:nvPr/>
        </p:nvSpPr>
        <p:spPr bwMode="auto">
          <a:xfrm>
            <a:off x="228601" y="2711451"/>
            <a:ext cx="2314575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Design Capabilities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Line 2"/>
          <p:cNvSpPr>
            <a:spLocks noChangeShapeType="1"/>
          </p:cNvSpPr>
          <p:nvPr/>
        </p:nvSpPr>
        <p:spPr bwMode="auto">
          <a:xfrm flipV="1">
            <a:off x="7162800" y="2514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55" name="AutoShape 3"/>
          <p:cNvSpPr>
            <a:spLocks noChangeArrowheads="1"/>
          </p:cNvSpPr>
          <p:nvPr/>
        </p:nvSpPr>
        <p:spPr bwMode="auto">
          <a:xfrm>
            <a:off x="5943600" y="3048000"/>
            <a:ext cx="2514600" cy="1219200"/>
          </a:xfrm>
          <a:prstGeom prst="chevron">
            <a:avLst>
              <a:gd name="adj" fmla="val 27261"/>
            </a:avLst>
          </a:prstGeom>
          <a:solidFill>
            <a:srgbClr val="B94670"/>
          </a:solidFill>
          <a:ln w="9525">
            <a:solidFill>
              <a:srgbClr val="B9467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893956" name="Line 4"/>
          <p:cNvSpPr>
            <a:spLocks noChangeShapeType="1"/>
          </p:cNvSpPr>
          <p:nvPr/>
        </p:nvSpPr>
        <p:spPr bwMode="auto">
          <a:xfrm flipV="1">
            <a:off x="46482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57" name="AutoShape 5"/>
          <p:cNvSpPr>
            <a:spLocks noChangeArrowheads="1"/>
          </p:cNvSpPr>
          <p:nvPr/>
        </p:nvSpPr>
        <p:spPr bwMode="auto">
          <a:xfrm>
            <a:off x="3429000" y="3048000"/>
            <a:ext cx="2514600" cy="1219200"/>
          </a:xfrm>
          <a:prstGeom prst="chevron">
            <a:avLst>
              <a:gd name="adj" fmla="val 27261"/>
            </a:avLst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893958" name="Line 6"/>
          <p:cNvSpPr>
            <a:spLocks noChangeShapeType="1"/>
          </p:cNvSpPr>
          <p:nvPr/>
        </p:nvSpPr>
        <p:spPr bwMode="auto">
          <a:xfrm flipV="1">
            <a:off x="2286000" y="2514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59" name="Rectangle 7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Spectrum of Visual Customization</a:t>
            </a:r>
          </a:p>
        </p:txBody>
      </p:sp>
      <p:sp>
        <p:nvSpPr>
          <p:cNvPr id="893960" name="Line 8"/>
          <p:cNvSpPr>
            <a:spLocks noChangeShapeType="1"/>
          </p:cNvSpPr>
          <p:nvPr/>
        </p:nvSpPr>
        <p:spPr bwMode="auto">
          <a:xfrm>
            <a:off x="8458200" y="2667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61" name="AutoShape 9"/>
          <p:cNvSpPr>
            <a:spLocks noChangeArrowheads="1"/>
          </p:cNvSpPr>
          <p:nvPr/>
        </p:nvSpPr>
        <p:spPr bwMode="auto">
          <a:xfrm>
            <a:off x="1066800" y="3048000"/>
            <a:ext cx="2438400" cy="1219200"/>
          </a:xfrm>
          <a:prstGeom prst="homePlate">
            <a:avLst>
              <a:gd name="adj" fmla="val 27139"/>
            </a:avLst>
          </a:prstGeom>
          <a:solidFill>
            <a:schemeClr val="hlink"/>
          </a:solidFill>
          <a:ln w="9525">
            <a:solidFill>
              <a:srgbClr val="72AFB6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893962" name="Rectangle 10"/>
          <p:cNvSpPr>
            <a:spLocks noChangeArrowheads="1"/>
          </p:cNvSpPr>
          <p:nvPr/>
        </p:nvSpPr>
        <p:spPr bwMode="auto">
          <a:xfrm>
            <a:off x="1066800" y="2133600"/>
            <a:ext cx="24384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Publishing Module</a:t>
            </a:r>
          </a:p>
        </p:txBody>
      </p:sp>
      <p:sp>
        <p:nvSpPr>
          <p:cNvPr id="893963" name="Text Box 11"/>
          <p:cNvSpPr txBox="1">
            <a:spLocks noChangeArrowheads="1"/>
          </p:cNvSpPr>
          <p:nvPr/>
        </p:nvSpPr>
        <p:spPr bwMode="auto">
          <a:xfrm>
            <a:off x="1143001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Out-of-the-Box Templates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Styling</a:t>
            </a:r>
          </a:p>
        </p:txBody>
      </p:sp>
      <p:sp>
        <p:nvSpPr>
          <p:cNvPr id="893964" name="Text Box 12"/>
          <p:cNvSpPr txBox="1">
            <a:spLocks noChangeArrowheads="1"/>
          </p:cNvSpPr>
          <p:nvPr/>
        </p:nvSpPr>
        <p:spPr bwMode="auto">
          <a:xfrm>
            <a:off x="3657600" y="3243263"/>
            <a:ext cx="1981200" cy="83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Layout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Size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CSS</a:t>
            </a:r>
          </a:p>
        </p:txBody>
      </p:sp>
      <p:sp>
        <p:nvSpPr>
          <p:cNvPr id="893965" name="Text Box 13"/>
          <p:cNvSpPr txBox="1">
            <a:spLocks noChangeArrowheads="1"/>
          </p:cNvSpPr>
          <p:nvPr/>
        </p:nvSpPr>
        <p:spPr bwMode="auto">
          <a:xfrm>
            <a:off x="6096001" y="3121026"/>
            <a:ext cx="2286000" cy="1077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Custom controls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Comments/Ratings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Non-Standard UI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Custom </a:t>
            </a:r>
            <a:r>
              <a:rPr lang="en-US" sz="1600" dirty="0" err="1">
                <a:solidFill>
                  <a:schemeClr val="bg1"/>
                </a:solidFill>
              </a:rPr>
              <a:t>SWFs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93966" name="Rectangle 14"/>
          <p:cNvSpPr>
            <a:spLocks noChangeArrowheads="1"/>
          </p:cNvSpPr>
          <p:nvPr/>
        </p:nvSpPr>
        <p:spPr bwMode="auto">
          <a:xfrm>
            <a:off x="3505200" y="2133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BEML</a:t>
            </a:r>
          </a:p>
        </p:txBody>
      </p:sp>
      <p:sp>
        <p:nvSpPr>
          <p:cNvPr id="893967" name="Rectangle 15"/>
          <p:cNvSpPr>
            <a:spLocks noChangeArrowheads="1"/>
          </p:cNvSpPr>
          <p:nvPr/>
        </p:nvSpPr>
        <p:spPr bwMode="auto">
          <a:xfrm>
            <a:off x="5943600" y="2133600"/>
            <a:ext cx="2438400" cy="381000"/>
          </a:xfrm>
          <a:prstGeom prst="rect">
            <a:avLst/>
          </a:prstGeom>
          <a:solidFill>
            <a:srgbClr val="B94670"/>
          </a:solidFill>
          <a:ln w="9525">
            <a:solidFill>
              <a:srgbClr val="B9467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Player APIs</a:t>
            </a:r>
          </a:p>
        </p:txBody>
      </p:sp>
      <p:sp>
        <p:nvSpPr>
          <p:cNvPr id="893968" name="Line 16"/>
          <p:cNvSpPr>
            <a:spLocks noChangeShapeType="1"/>
          </p:cNvSpPr>
          <p:nvPr/>
        </p:nvSpPr>
        <p:spPr bwMode="auto">
          <a:xfrm>
            <a:off x="8458200" y="533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69" name="Rectangle 17"/>
          <p:cNvSpPr>
            <a:spLocks noChangeArrowheads="1"/>
          </p:cNvSpPr>
          <p:nvPr/>
        </p:nvSpPr>
        <p:spPr bwMode="auto">
          <a:xfrm>
            <a:off x="1066800" y="4800600"/>
            <a:ext cx="24384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Basic Design</a:t>
            </a:r>
          </a:p>
        </p:txBody>
      </p:sp>
      <p:sp>
        <p:nvSpPr>
          <p:cNvPr id="893970" name="Rectangle 18"/>
          <p:cNvSpPr>
            <a:spLocks noChangeArrowheads="1"/>
          </p:cNvSpPr>
          <p:nvPr/>
        </p:nvSpPr>
        <p:spPr bwMode="auto">
          <a:xfrm>
            <a:off x="3505200" y="4800600"/>
            <a:ext cx="2438400" cy="381000"/>
          </a:xfrm>
          <a:prstGeom prst="rect">
            <a:avLst/>
          </a:prstGeom>
          <a:solidFill>
            <a:srgbClr val="AFBD21"/>
          </a:solidFill>
          <a:ln w="9525">
            <a:solidFill>
              <a:srgbClr val="AFBD21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HTML / XML</a:t>
            </a:r>
          </a:p>
        </p:txBody>
      </p:sp>
      <p:sp>
        <p:nvSpPr>
          <p:cNvPr id="893971" name="Rectangle 19"/>
          <p:cNvSpPr>
            <a:spLocks noChangeArrowheads="1"/>
          </p:cNvSpPr>
          <p:nvPr/>
        </p:nvSpPr>
        <p:spPr bwMode="auto">
          <a:xfrm>
            <a:off x="5943600" y="4800600"/>
            <a:ext cx="2438400" cy="381000"/>
          </a:xfrm>
          <a:prstGeom prst="rect">
            <a:avLst/>
          </a:prstGeom>
          <a:solidFill>
            <a:srgbClr val="B94670"/>
          </a:solidFill>
          <a:ln w="9525">
            <a:solidFill>
              <a:srgbClr val="B94670"/>
            </a:solidFill>
            <a:miter lim="800000"/>
            <a:headEnd/>
            <a:tailEnd/>
          </a:ln>
        </p:spPr>
        <p:txBody>
          <a:bodyPr wrap="none" lIns="91432" tIns="45716" rIns="91432" bIns="45716" anchor="ctr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ActionScript/JavaScript</a:t>
            </a:r>
          </a:p>
        </p:txBody>
      </p:sp>
      <p:sp>
        <p:nvSpPr>
          <p:cNvPr id="893972" name="Text Box 20"/>
          <p:cNvSpPr txBox="1">
            <a:spLocks noChangeArrowheads="1"/>
          </p:cNvSpPr>
          <p:nvPr/>
        </p:nvSpPr>
        <p:spPr bwMode="auto">
          <a:xfrm>
            <a:off x="733425" y="5257801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Skills</a:t>
            </a:r>
          </a:p>
        </p:txBody>
      </p:sp>
      <p:sp>
        <p:nvSpPr>
          <p:cNvPr id="893973" name="Line 21"/>
          <p:cNvSpPr>
            <a:spLocks noChangeShapeType="1"/>
          </p:cNvSpPr>
          <p:nvPr/>
        </p:nvSpPr>
        <p:spPr bwMode="auto">
          <a:xfrm>
            <a:off x="914400" y="5654675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74" name="Text Box 22"/>
          <p:cNvSpPr txBox="1">
            <a:spLocks noChangeArrowheads="1"/>
          </p:cNvSpPr>
          <p:nvPr/>
        </p:nvSpPr>
        <p:spPr bwMode="auto">
          <a:xfrm>
            <a:off x="733425" y="1420813"/>
            <a:ext cx="1447800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Methods</a:t>
            </a:r>
          </a:p>
        </p:txBody>
      </p:sp>
      <p:sp>
        <p:nvSpPr>
          <p:cNvPr id="893975" name="Line 23"/>
          <p:cNvSpPr>
            <a:spLocks noChangeShapeType="1"/>
          </p:cNvSpPr>
          <p:nvPr/>
        </p:nvSpPr>
        <p:spPr bwMode="auto">
          <a:xfrm>
            <a:off x="914400" y="1828800"/>
            <a:ext cx="7467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 lIns="91432" tIns="45716" rIns="91432" bIns="45716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3976" name="Text Box 24"/>
          <p:cNvSpPr txBox="1">
            <a:spLocks noChangeArrowheads="1"/>
          </p:cNvSpPr>
          <p:nvPr/>
        </p:nvSpPr>
        <p:spPr bwMode="auto">
          <a:xfrm>
            <a:off x="228601" y="2711451"/>
            <a:ext cx="2314575" cy="338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/>
              <a:t>Design Capabilities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/>
              <a:t>Developer Training</a:t>
            </a:r>
          </a:p>
        </p:txBody>
      </p:sp>
      <p:sp>
        <p:nvSpPr>
          <p:cNvPr id="89600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1800" dirty="0"/>
              <a:t>Developer is a one day training session session designed for developers with JavaScript or ActionScript experience</a:t>
            </a:r>
          </a:p>
          <a:p>
            <a:pPr eaLnBrk="1" hangingPunct="1"/>
            <a:r>
              <a:rPr lang="en-US" sz="1800" dirty="0"/>
              <a:t>This course will give you a comprehensive overview of the extensive programming capabilities of the Brightcove platform and how to use them in creating customized solutions</a:t>
            </a:r>
          </a:p>
          <a:p>
            <a:pPr eaLnBrk="1" hangingPunct="1"/>
            <a:r>
              <a:rPr lang="en-US" sz="1800" dirty="0"/>
              <a:t>Capabilities such as BEML, the Media API, the Player API and the Ad API will be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Brightcove Forums</a:t>
            </a:r>
          </a:p>
        </p:txBody>
      </p:sp>
      <p:sp>
        <p:nvSpPr>
          <p:cNvPr id="1068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hlinkClick r:id="rId3"/>
              </a:rPr>
              <a:t>http://forum.brightcove.com/</a:t>
            </a:r>
            <a:endParaRPr lang="en-US" sz="1800" b="1" dirty="0"/>
          </a:p>
          <a:p>
            <a:endParaRPr lang="en-US" sz="1800" b="1" dirty="0"/>
          </a:p>
          <a:p>
            <a:r>
              <a:rPr lang="en-US" sz="1800" b="1" dirty="0"/>
              <a:t>Post questions and receive help from Brightcove developers and other users</a:t>
            </a:r>
          </a:p>
          <a:p>
            <a:endParaRPr lang="en-US" sz="1800" b="1" dirty="0"/>
          </a:p>
          <a:p>
            <a:r>
              <a:rPr lang="en-US" sz="1800" b="1" dirty="0"/>
              <a:t>Get help with BEML, data binding, player </a:t>
            </a:r>
            <a:r>
              <a:rPr lang="en-US" sz="1800" b="1" dirty="0" err="1"/>
              <a:t>api</a:t>
            </a:r>
            <a:r>
              <a:rPr lang="en-US" sz="1800" b="1" dirty="0"/>
              <a:t> and more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Brightcove Corporate">
      <a:dk1>
        <a:srgbClr val="535353"/>
      </a:dk1>
      <a:lt1>
        <a:srgbClr val="FFFFFF"/>
      </a:lt1>
      <a:dk2>
        <a:srgbClr val="868685"/>
      </a:dk2>
      <a:lt2>
        <a:srgbClr val="E6E6E6"/>
      </a:lt2>
      <a:accent1>
        <a:srgbClr val="DC8700"/>
      </a:accent1>
      <a:accent2>
        <a:srgbClr val="B1CE00"/>
      </a:accent2>
      <a:accent3>
        <a:srgbClr val="D40F7F"/>
      </a:accent3>
      <a:accent4>
        <a:srgbClr val="609CA7"/>
      </a:accent4>
      <a:accent5>
        <a:srgbClr val="999999"/>
      </a:accent5>
      <a:accent6>
        <a:srgbClr val="999999"/>
      </a:accent6>
      <a:hlink>
        <a:srgbClr val="67A5AE"/>
      </a:hlink>
      <a:folHlink>
        <a:srgbClr val="0B636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Default.thmx</Template>
  <TotalTime>1752</TotalTime>
  <Words>6791</Words>
  <Application>Microsoft Macintosh PowerPoint</Application>
  <PresentationFormat>On-screen Show (4:3)</PresentationFormat>
  <Paragraphs>1005</Paragraphs>
  <Slides>118</Slides>
  <Notes>108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19" baseType="lpstr">
      <vt:lpstr>Default</vt:lpstr>
      <vt:lpstr>Creating Custom Players with BEML</vt:lpstr>
      <vt:lpstr>Slide 2</vt:lpstr>
      <vt:lpstr>Player Customization with BEML</vt:lpstr>
      <vt:lpstr>Agenda</vt:lpstr>
      <vt:lpstr>Spectrum of Visual Customization</vt:lpstr>
      <vt:lpstr>Player Creation Process</vt:lpstr>
      <vt:lpstr>Customizing Out of the Box Templates</vt:lpstr>
      <vt:lpstr>Spectrum of Visual Customization</vt:lpstr>
      <vt:lpstr>Player Creation Process</vt:lpstr>
      <vt:lpstr>BEML = XML!</vt:lpstr>
      <vt:lpstr>Basic Structure of BEML Code</vt:lpstr>
      <vt:lpstr>Creating a template – demonstration </vt:lpstr>
      <vt:lpstr>HELP </vt:lpstr>
      <vt:lpstr>The DTD -  Document Type Definition </vt:lpstr>
      <vt:lpstr>BEML DTD Reference</vt:lpstr>
      <vt:lpstr>Exercise 1: Creating a Simple BEML Template</vt:lpstr>
      <vt:lpstr>Exercise 1: Creating a Simple BEML Templates </vt:lpstr>
      <vt:lpstr>Slide 18</vt:lpstr>
      <vt:lpstr>BEML Visual Component Tags</vt:lpstr>
      <vt:lpstr>BEML Visual Components in a Player</vt:lpstr>
      <vt:lpstr>Video Player Component</vt:lpstr>
      <vt:lpstr>The Image Component</vt:lpstr>
      <vt:lpstr>Link Component</vt:lpstr>
      <vt:lpstr>Label Component</vt:lpstr>
      <vt:lpstr>Spacer Component</vt:lpstr>
      <vt:lpstr>Component Attributes</vt:lpstr>
      <vt:lpstr>Components</vt:lpstr>
      <vt:lpstr>TabBar Component</vt:lpstr>
      <vt:lpstr>List and ListItem component</vt:lpstr>
      <vt:lpstr>ListItem Component Example</vt:lpstr>
      <vt:lpstr>Slide 31</vt:lpstr>
      <vt:lpstr>Exercise 2: Modifying your Simple BEML Template </vt:lpstr>
      <vt:lpstr>Slide 33</vt:lpstr>
      <vt:lpstr>Layout </vt:lpstr>
      <vt:lpstr>Parent Layout Elements: Containers</vt:lpstr>
      <vt:lpstr>Layout box attributes </vt:lpstr>
      <vt:lpstr>HBox</vt:lpstr>
      <vt:lpstr>VBox</vt:lpstr>
      <vt:lpstr>Exercise 3: Changing Layout to HBox</vt:lpstr>
      <vt:lpstr>Exercise 3: Changing Layout to HBox/VBox </vt:lpstr>
      <vt:lpstr>Canvas</vt:lpstr>
      <vt:lpstr>Slide 42</vt:lpstr>
      <vt:lpstr>Exercise 4: Changing Layout to Canvas </vt:lpstr>
      <vt:lpstr>Slide 44</vt:lpstr>
      <vt:lpstr>TitleLabel Component</vt:lpstr>
      <vt:lpstr>TitleLabel Component Example</vt:lpstr>
      <vt:lpstr>TileList Component Example </vt:lpstr>
      <vt:lpstr> Video Player with Horizontal List </vt:lpstr>
      <vt:lpstr>Thumbnail Button </vt:lpstr>
      <vt:lpstr>Components</vt:lpstr>
      <vt:lpstr>Banners</vt:lpstr>
      <vt:lpstr>Sample design</vt:lpstr>
      <vt:lpstr>Step 1: Identify the Components </vt:lpstr>
      <vt:lpstr>Step 2: Identify the Container – Layout Node</vt:lpstr>
      <vt:lpstr>Step 3: Identify the 1st Degree of Nesting Boxes</vt:lpstr>
      <vt:lpstr>Container and 1st Level of Nesting</vt:lpstr>
      <vt:lpstr>Step 4: Identify the additional Degrees of Nesting Boxes</vt:lpstr>
      <vt:lpstr>BEML Component Nesting = Layout</vt:lpstr>
      <vt:lpstr>Step 4: Identify the additional Degrees of Nesting Boxes</vt:lpstr>
      <vt:lpstr>BEML Component Nesting = Layout</vt:lpstr>
      <vt:lpstr>Exercise 6: Create A complex Layout</vt:lpstr>
      <vt:lpstr>Exercise 6: Creating the Layout</vt:lpstr>
      <vt:lpstr>Data Binding</vt:lpstr>
      <vt:lpstr>Displaying Content</vt:lpstr>
      <vt:lpstr>Data Binding in Templates</vt:lpstr>
      <vt:lpstr>BEML: Data Binding</vt:lpstr>
      <vt:lpstr>Where to Find Properties</vt:lpstr>
      <vt:lpstr>Some Useful Video DTO Properties</vt:lpstr>
      <vt:lpstr>How data binding Works</vt:lpstr>
      <vt:lpstr>Component IDs</vt:lpstr>
      <vt:lpstr>data binding Elements – Components - Objects</vt:lpstr>
      <vt:lpstr>Data Binding Example</vt:lpstr>
      <vt:lpstr>Special properties for binding</vt:lpstr>
      <vt:lpstr>Adcontext properties for binding</vt:lpstr>
      <vt:lpstr>time formatters</vt:lpstr>
      <vt:lpstr>Data Binding</vt:lpstr>
      <vt:lpstr>Exercise 7: Data Binding – Adding the displayName</vt:lpstr>
      <vt:lpstr>Exercise 7: Binding the displayName</vt:lpstr>
      <vt:lpstr>Binding With the ListItem Element</vt:lpstr>
      <vt:lpstr>Data Binding Objects - Playlist</vt:lpstr>
      <vt:lpstr>Data Binding Objects - Playlist</vt:lpstr>
      <vt:lpstr>Slide 82</vt:lpstr>
      <vt:lpstr>Exercise 8: Binding the ListItem</vt:lpstr>
      <vt:lpstr>Getting Data from one component to another</vt:lpstr>
      <vt:lpstr>Slide 85</vt:lpstr>
      <vt:lpstr>Exercise 9: Data Bind the Components</vt:lpstr>
      <vt:lpstr>Style</vt:lpstr>
      <vt:lpstr>Understanding Theme and Style</vt:lpstr>
      <vt:lpstr>Defining Global Fonts</vt:lpstr>
      <vt:lpstr>CDATA</vt:lpstr>
      <vt:lpstr>Setting individual styles</vt:lpstr>
      <vt:lpstr>Setting Fonts for Individual Components</vt:lpstr>
      <vt:lpstr>Syntax</vt:lpstr>
      <vt:lpstr>BEML Styling IS NOT standard CSS</vt:lpstr>
      <vt:lpstr>Custom Skins</vt:lpstr>
      <vt:lpstr>Default Styling</vt:lpstr>
      <vt:lpstr>Skins Applied to Several Components</vt:lpstr>
      <vt:lpstr>Setting skins in the Theme and Style Elements</vt:lpstr>
      <vt:lpstr>Custom Player Themes</vt:lpstr>
      <vt:lpstr>Slide 100</vt:lpstr>
      <vt:lpstr>Exercise 10: Styling the Design</vt:lpstr>
      <vt:lpstr>Exercise 10</vt:lpstr>
      <vt:lpstr>Further Customization (Bonus Content)</vt:lpstr>
      <vt:lpstr>Further BEML Customization</vt:lpstr>
      <vt:lpstr>Localizing with BEML</vt:lpstr>
      <vt:lpstr>Localizing with BEML</vt:lpstr>
      <vt:lpstr>Slide 107</vt:lpstr>
      <vt:lpstr>Exercise 11: Working with Labels</vt:lpstr>
      <vt:lpstr>Localizing A Player – External XML File Example</vt:lpstr>
      <vt:lpstr>Custom Modules</vt:lpstr>
      <vt:lpstr>Summary</vt:lpstr>
      <vt:lpstr>What did we Learn?</vt:lpstr>
      <vt:lpstr>Where Next?</vt:lpstr>
      <vt:lpstr>Spectrum of Visual Customization</vt:lpstr>
      <vt:lpstr>Spectrum of Visual Customization</vt:lpstr>
      <vt:lpstr>Developer Training</vt:lpstr>
      <vt:lpstr>Brightcove Forums</vt:lpstr>
      <vt:lpstr>Slide 118</vt:lpstr>
    </vt:vector>
  </TitlesOfParts>
  <Company>Brightcove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Custom Players with BEML</dc:title>
  <dc:creator>Robert Crooks</dc:creator>
  <cp:lastModifiedBy>Robert Crooks</cp:lastModifiedBy>
  <cp:revision>14</cp:revision>
  <dcterms:created xsi:type="dcterms:W3CDTF">2011-11-14T15:30:49Z</dcterms:created>
  <dcterms:modified xsi:type="dcterms:W3CDTF">2011-11-14T16:00:42Z</dcterms:modified>
</cp:coreProperties>
</file>